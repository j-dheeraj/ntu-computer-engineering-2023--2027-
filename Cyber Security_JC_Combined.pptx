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338" r:id="rId23"/>
    <p:sldId id="339" r:id="rId24"/>
    <p:sldId id="340" r:id="rId25"/>
    <p:sldId id="341" r:id="rId26"/>
    <p:sldId id="343" r:id="rId27"/>
    <p:sldId id="344" r:id="rId28"/>
    <p:sldId id="286" r:id="rId29"/>
    <p:sldId id="345" r:id="rId30"/>
    <p:sldId id="346" r:id="rId31"/>
    <p:sldId id="347" r:id="rId32"/>
    <p:sldId id="277" r:id="rId33"/>
    <p:sldId id="278" r:id="rId34"/>
    <p:sldId id="279" r:id="rId35"/>
    <p:sldId id="285" r:id="rId36"/>
    <p:sldId id="337" r:id="rId37"/>
    <p:sldId id="280" r:id="rId38"/>
    <p:sldId id="298" r:id="rId39"/>
    <p:sldId id="299" r:id="rId40"/>
    <p:sldId id="300" r:id="rId41"/>
    <p:sldId id="301" r:id="rId42"/>
    <p:sldId id="302" r:id="rId43"/>
    <p:sldId id="303" r:id="rId44"/>
    <p:sldId id="304" r:id="rId45"/>
    <p:sldId id="305" r:id="rId46"/>
    <p:sldId id="306" r:id="rId47"/>
    <p:sldId id="307" r:id="rId48"/>
    <p:sldId id="348" r:id="rId49"/>
    <p:sldId id="349" r:id="rId50"/>
    <p:sldId id="350" r:id="rId51"/>
    <p:sldId id="351" r:id="rId52"/>
    <p:sldId id="352" r:id="rId53"/>
    <p:sldId id="353" r:id="rId54"/>
    <p:sldId id="354" r:id="rId55"/>
    <p:sldId id="355" r:id="rId56"/>
    <p:sldId id="356" r:id="rId57"/>
    <p:sldId id="357" r:id="rId58"/>
    <p:sldId id="358" r:id="rId59"/>
    <p:sldId id="359" r:id="rId60"/>
    <p:sldId id="360" r:id="rId61"/>
    <p:sldId id="361" r:id="rId62"/>
    <p:sldId id="290" r:id="rId63"/>
    <p:sldId id="364" r:id="rId64"/>
    <p:sldId id="365" r:id="rId65"/>
    <p:sldId id="367" r:id="rId66"/>
    <p:sldId id="368" r:id="rId67"/>
    <p:sldId id="369" r:id="rId68"/>
    <p:sldId id="370" r:id="rId69"/>
    <p:sldId id="371" r:id="rId70"/>
    <p:sldId id="372" r:id="rId71"/>
    <p:sldId id="373" r:id="rId72"/>
    <p:sldId id="374" r:id="rId73"/>
    <p:sldId id="375" r:id="rId74"/>
    <p:sldId id="376" r:id="rId75"/>
    <p:sldId id="377" r:id="rId76"/>
    <p:sldId id="378" r:id="rId77"/>
    <p:sldId id="379" r:id="rId78"/>
    <p:sldId id="308" r:id="rId79"/>
    <p:sldId id="309" r:id="rId80"/>
    <p:sldId id="363" r:id="rId81"/>
    <p:sldId id="311" r:id="rId82"/>
    <p:sldId id="312" r:id="rId83"/>
    <p:sldId id="313" r:id="rId84"/>
    <p:sldId id="314" r:id="rId85"/>
    <p:sldId id="315" r:id="rId86"/>
    <p:sldId id="316" r:id="rId87"/>
    <p:sldId id="380" r:id="rId88"/>
    <p:sldId id="317" r:id="rId89"/>
    <p:sldId id="318" r:id="rId90"/>
    <p:sldId id="319" r:id="rId91"/>
    <p:sldId id="320" r:id="rId92"/>
    <p:sldId id="321" r:id="rId93"/>
    <p:sldId id="322" r:id="rId94"/>
    <p:sldId id="323" r:id="rId95"/>
    <p:sldId id="324" r:id="rId96"/>
    <p:sldId id="325" r:id="rId97"/>
    <p:sldId id="326" r:id="rId98"/>
    <p:sldId id="327" r:id="rId99"/>
    <p:sldId id="328" r:id="rId100"/>
    <p:sldId id="329" r:id="rId101"/>
    <p:sldId id="330" r:id="rId102"/>
    <p:sldId id="331" r:id="rId103"/>
    <p:sldId id="332" r:id="rId104"/>
    <p:sldId id="333" r:id="rId105"/>
    <p:sldId id="334" r:id="rId106"/>
    <p:sldId id="335" r:id="rId107"/>
    <p:sldId id="336" r:id="rId108"/>
    <p:sldId id="292" r:id="rId109"/>
  </p:sldIdLst>
  <p:sldSz cx="12192000" cy="6858000"/>
  <p:notesSz cx="6858000" cy="9144000"/>
  <p:embeddedFontLst>
    <p:embeddedFont>
      <p:font typeface="Calibri" panose="020F0502020204030204" pitchFamily="34" charset="0"/>
      <p:regular r:id="rId111"/>
      <p:bold r:id="rId112"/>
      <p:italic r:id="rId113"/>
      <p:boldItalic r:id="rId114"/>
    </p:embeddedFont>
    <p:embeddedFont>
      <p:font typeface="Consolas" panose="020B0609020204030204" pitchFamily="49" charset="0"/>
      <p:regular r:id="rId115"/>
      <p:bold r:id="rId116"/>
      <p:italic r:id="rId117"/>
      <p:boldItalic r:id="rId118"/>
    </p:embeddedFont>
    <p:embeddedFont>
      <p:font typeface="Lato Light" panose="020B0604020202020204" charset="0"/>
      <p:regular r:id="rId119"/>
      <p:bold r:id="rId120"/>
      <p:italic r:id="rId121"/>
      <p:boldItalic r:id="rId122"/>
    </p:embeddedFont>
    <p:embeddedFont>
      <p:font typeface="Nunito Light" panose="020B0604020202020204" charset="0"/>
      <p:regular r:id="rId123"/>
      <p:bold r:id="rId124"/>
      <p:italic r:id="rId125"/>
      <p:boldItalic r:id="rId126"/>
    </p:embeddedFont>
    <p:embeddedFont>
      <p:font typeface="Quattrocento Sans" panose="020B0604020202020204" charset="0"/>
      <p:regular r:id="rId127"/>
      <p:bold r:id="rId128"/>
      <p:italic r:id="rId129"/>
      <p:boldItalic r:id="rId1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31" roundtripDataSignature="AMtx7miz2LTHntHJpzZNxkH4KuM/9pEIs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 WEI XUAN EDDIE#" initials="#WXE" lastIdx="1" clrIdx="0">
    <p:extLst>
      <p:ext uri="{19B8F6BF-5375-455C-9EA6-DF929625EA0E}">
        <p15:presenceInfo xmlns:p15="http://schemas.microsoft.com/office/powerpoint/2012/main" userId="S::WNG041@e.ntu.edu.sg::5d863a0b-6dd8-46db-9d92-5f056cdf32f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61C70D6-4475-436F-AB0F-9BE605A6DA2A}">
  <a:tblStyle styleId="{561C70D6-4475-436F-AB0F-9BE605A6DA2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957" autoAdjust="0"/>
  </p:normalViewPr>
  <p:slideViewPr>
    <p:cSldViewPr snapToGrid="0">
      <p:cViewPr varScale="1">
        <p:scale>
          <a:sx n="99" d="100"/>
          <a:sy n="99" d="100"/>
        </p:scale>
        <p:origin x="99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font" Target="fonts/font7.fntdata"/><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font" Target="fonts/font13.fntdata"/><Relationship Id="rId128" Type="http://schemas.openxmlformats.org/officeDocument/2006/relationships/font" Target="fonts/font18.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3.fntdata"/><Relationship Id="rId118" Type="http://schemas.openxmlformats.org/officeDocument/2006/relationships/font" Target="fonts/font8.fntdata"/><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14.fntdata"/><Relationship Id="rId129" Type="http://schemas.openxmlformats.org/officeDocument/2006/relationships/font" Target="fonts/font19.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4.fntdata"/><Relationship Id="rId119" Type="http://schemas.openxmlformats.org/officeDocument/2006/relationships/font" Target="fonts/font9.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20.fntdata"/><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font" Target="fonts/font10.fntdata"/><Relationship Id="rId125"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openxmlformats.org/officeDocument/2006/relationships/font" Target="fonts/font5.fntdata"/><Relationship Id="rId131" Type="http://customschemas.google.com/relationships/presentationmetadata" Target="metadata"/><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1.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1.fntdata"/><Relationship Id="rId132" Type="http://schemas.openxmlformats.org/officeDocument/2006/relationships/commentAuthors" Target="commentAuthor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17.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font" Target="fonts/font2.fntdata"/><Relationship Id="rId13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12" name="Google Shape;112;p1: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dirty="0">
                <a:latin typeface="Arial"/>
                <a:ea typeface="Arial"/>
                <a:cs typeface="Arial"/>
                <a:sym typeface="Arial"/>
              </a:rPr>
              <a:t>15mins + 15mins + 15mins + 25 mins</a:t>
            </a:r>
          </a:p>
          <a:p>
            <a:pPr marL="0" lvl="0" indent="0" algn="l" rtl="0">
              <a:lnSpc>
                <a:spcPct val="100000"/>
              </a:lnSpc>
              <a:spcBef>
                <a:spcPts val="0"/>
              </a:spcBef>
              <a:spcAft>
                <a:spcPts val="0"/>
              </a:spcAft>
              <a:buClr>
                <a:schemeClr val="dk1"/>
              </a:buClr>
              <a:buSzPts val="1200"/>
              <a:buFont typeface="Calibri"/>
              <a:buNone/>
            </a:pPr>
            <a:r>
              <a:rPr lang="en-US" dirty="0">
                <a:latin typeface="Arial"/>
                <a:ea typeface="Arial"/>
                <a:cs typeface="Arial"/>
                <a:sym typeface="Arial"/>
              </a:rPr>
              <a:t>60mins + 60 mins </a:t>
            </a:r>
            <a:endParaRPr dirty="0">
              <a:latin typeface="Arial"/>
              <a:ea typeface="Arial"/>
              <a:cs typeface="Arial"/>
              <a:sym typeface="Arial"/>
            </a:endParaRPr>
          </a:p>
        </p:txBody>
      </p:sp>
      <p:sp>
        <p:nvSpPr>
          <p:cNvPr id="146" name="Google Shape;14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3: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53" name="Google Shape;153;p3: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64" name="Google Shape;164;p4: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180" name="Google Shape;18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6: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99" name="Google Shape;199;p6: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7: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09" name="Google Shape;209;p7: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r>
              <a:rPr lang="en-US" u="sng">
                <a:latin typeface="Arial"/>
                <a:ea typeface="Arial"/>
                <a:cs typeface="Arial"/>
                <a:sym typeface="Arial"/>
              </a:rPr>
              <a:t>Brief</a:t>
            </a:r>
            <a:endParaRPr/>
          </a:p>
          <a:p>
            <a:pPr marL="171450" lvl="0" indent="-171450" algn="l" rtl="0">
              <a:lnSpc>
                <a:spcPct val="100000"/>
              </a:lnSpc>
              <a:spcBef>
                <a:spcPts val="0"/>
              </a:spcBef>
              <a:spcAft>
                <a:spcPts val="0"/>
              </a:spcAft>
              <a:buClr>
                <a:schemeClr val="dk1"/>
              </a:buClr>
              <a:buSzPts val="1200"/>
              <a:buFont typeface="Arial"/>
              <a:buChar char="•"/>
            </a:pPr>
            <a:r>
              <a:rPr lang="en-US">
                <a:latin typeface="Arial"/>
                <a:ea typeface="Arial"/>
                <a:cs typeface="Arial"/>
                <a:sym typeface="Arial"/>
              </a:rPr>
              <a:t>A software and human error.</a:t>
            </a:r>
            <a:endParaRPr/>
          </a:p>
          <a:p>
            <a:pPr marL="171450" lvl="0" indent="-171450" algn="l" rtl="0">
              <a:lnSpc>
                <a:spcPct val="100000"/>
              </a:lnSpc>
              <a:spcBef>
                <a:spcPts val="0"/>
              </a:spcBef>
              <a:spcAft>
                <a:spcPts val="0"/>
              </a:spcAft>
              <a:buClr>
                <a:schemeClr val="dk1"/>
              </a:buClr>
              <a:buSzPts val="1200"/>
              <a:buFont typeface="Arial"/>
              <a:buChar char="•"/>
            </a:pPr>
            <a:r>
              <a:rPr lang="en-US">
                <a:latin typeface="Arial"/>
                <a:ea typeface="Arial"/>
                <a:cs typeface="Arial"/>
                <a:sym typeface="Arial"/>
              </a:rPr>
              <a:t>Vulnerabilities, weaknesses, and misconfiguration in SingHealth's network, data and Management Application. </a:t>
            </a:r>
            <a:endParaRPr/>
          </a:p>
          <a:p>
            <a:pPr marL="171450" lvl="0" indent="-171450" algn="l" rtl="0">
              <a:lnSpc>
                <a:spcPct val="100000"/>
              </a:lnSpc>
              <a:spcBef>
                <a:spcPts val="0"/>
              </a:spcBef>
              <a:spcAft>
                <a:spcPts val="0"/>
              </a:spcAft>
              <a:buClr>
                <a:schemeClr val="dk1"/>
              </a:buClr>
              <a:buSzPts val="1200"/>
              <a:buFont typeface="Arial"/>
              <a:buChar char="•"/>
            </a:pPr>
            <a:r>
              <a:rPr lang="en-US">
                <a:latin typeface="Arial"/>
                <a:ea typeface="Arial"/>
                <a:cs typeface="Arial"/>
                <a:sym typeface="Arial"/>
              </a:rPr>
              <a:t>Staff lacked adequate levels of cybersecurity awareness, training, and resources to understand the implications of the attack and respond effectively. </a:t>
            </a:r>
            <a:endParaRPr/>
          </a:p>
          <a:p>
            <a:pPr marL="171450" lvl="0" indent="-171450" algn="l" rtl="0">
              <a:lnSpc>
                <a:spcPct val="100000"/>
              </a:lnSpc>
              <a:spcBef>
                <a:spcPts val="0"/>
              </a:spcBef>
              <a:spcAft>
                <a:spcPts val="0"/>
              </a:spcAft>
              <a:buClr>
                <a:schemeClr val="dk1"/>
              </a:buClr>
              <a:buSzPts val="1200"/>
              <a:buFont typeface="Arial"/>
              <a:buChar char="•"/>
            </a:pPr>
            <a:r>
              <a:rPr lang="en-US">
                <a:latin typeface="Arial"/>
                <a:ea typeface="Arial"/>
                <a:cs typeface="Arial"/>
                <a:sym typeface="Arial"/>
              </a:rPr>
              <a:t>While its IT administrators were able to identify suspicious attempts to log into the database, the same staff failed to correlate these findings with the tactics and procedures of an advanced cyberattack.</a:t>
            </a:r>
            <a:endParaRPr/>
          </a:p>
          <a:p>
            <a:pPr marL="171450" marR="0" lvl="0" indent="-171450" algn="l" rtl="0">
              <a:lnSpc>
                <a:spcPct val="100000"/>
              </a:lnSpc>
              <a:spcBef>
                <a:spcPts val="0"/>
              </a:spcBef>
              <a:spcAft>
                <a:spcPts val="0"/>
              </a:spcAft>
              <a:buClr>
                <a:schemeClr val="dk1"/>
              </a:buClr>
              <a:buSzPts val="1200"/>
              <a:buFont typeface="Arial"/>
              <a:buChar char="•"/>
            </a:pPr>
            <a:r>
              <a:rPr lang="en-US">
                <a:latin typeface="Arial"/>
                <a:ea typeface="Arial"/>
                <a:cs typeface="Arial"/>
                <a:sym typeface="Arial"/>
              </a:rPr>
              <a:t>&lt;A01.html&gt;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8: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21" name="Google Shape;221;p8: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50000"/>
              </a:lnSpc>
              <a:spcBef>
                <a:spcPts val="0"/>
              </a:spcBef>
              <a:spcAft>
                <a:spcPts val="0"/>
              </a:spcAft>
              <a:buClr>
                <a:schemeClr val="dk2"/>
              </a:buClr>
              <a:buSzPts val="3600"/>
              <a:buFont typeface="Arial"/>
              <a:buNone/>
            </a:pPr>
            <a:r>
              <a:rPr lang="en-US" u="sng" dirty="0">
                <a:solidFill>
                  <a:schemeClr val="dk2"/>
                </a:solidFill>
                <a:latin typeface="Arial"/>
                <a:ea typeface="Arial"/>
                <a:cs typeface="Arial"/>
                <a:sym typeface="Arial"/>
              </a:rPr>
              <a:t>Briefs</a:t>
            </a:r>
            <a:endParaRPr dirty="0"/>
          </a:p>
          <a:p>
            <a:pPr marL="228600" lvl="0" indent="-228600" algn="l" rtl="0">
              <a:lnSpc>
                <a:spcPct val="150000"/>
              </a:lnSpc>
              <a:spcBef>
                <a:spcPts val="0"/>
              </a:spcBef>
              <a:spcAft>
                <a:spcPts val="0"/>
              </a:spcAft>
              <a:buClr>
                <a:schemeClr val="dk2"/>
              </a:buClr>
              <a:buSzPts val="3600"/>
              <a:buFont typeface="Arial"/>
              <a:buChar char="•"/>
            </a:pPr>
            <a:r>
              <a:rPr lang="en-US" dirty="0">
                <a:solidFill>
                  <a:schemeClr val="dk2"/>
                </a:solidFill>
                <a:latin typeface="Arial"/>
                <a:ea typeface="Arial"/>
                <a:cs typeface="Arial"/>
                <a:sym typeface="Arial"/>
              </a:rPr>
              <a:t>The Messiah: 2013 Singapore Cyber Attacks (October – December 2013)</a:t>
            </a:r>
            <a:endParaRPr dirty="0"/>
          </a:p>
          <a:p>
            <a:pPr marL="685800" lvl="1" indent="-228600" algn="l" rtl="0">
              <a:lnSpc>
                <a:spcPct val="150000"/>
              </a:lnSpc>
              <a:spcBef>
                <a:spcPts val="0"/>
              </a:spcBef>
              <a:spcAft>
                <a:spcPts val="0"/>
              </a:spcAft>
              <a:buClr>
                <a:schemeClr val="dk2"/>
              </a:buClr>
              <a:buSzPts val="3600"/>
              <a:buFont typeface="Arial"/>
              <a:buChar char="•"/>
            </a:pPr>
            <a:r>
              <a:rPr lang="en-US" sz="800" dirty="0">
                <a:solidFill>
                  <a:schemeClr val="dk2"/>
                </a:solidFill>
                <a:latin typeface="Arial"/>
                <a:ea typeface="Arial"/>
                <a:cs typeface="Arial"/>
                <a:sym typeface="Arial"/>
              </a:rPr>
              <a:t>Defaced with taunts and threats on websites such as PAP Community Foundation, AMK Town Council, City Harvest Church</a:t>
            </a:r>
            <a:endParaRPr dirty="0"/>
          </a:p>
          <a:p>
            <a:pPr marL="685800" lvl="1" indent="-228600" algn="l" rtl="0">
              <a:lnSpc>
                <a:spcPct val="150000"/>
              </a:lnSpc>
              <a:spcBef>
                <a:spcPts val="0"/>
              </a:spcBef>
              <a:spcAft>
                <a:spcPts val="0"/>
              </a:spcAft>
              <a:buClr>
                <a:schemeClr val="dk2"/>
              </a:buClr>
              <a:buSzPts val="3600"/>
              <a:buFont typeface="Arial"/>
              <a:buChar char="•"/>
            </a:pPr>
            <a:r>
              <a:rPr lang="en-US" sz="800" dirty="0">
                <a:solidFill>
                  <a:schemeClr val="dk2"/>
                </a:solidFill>
                <a:latin typeface="Arial"/>
                <a:ea typeface="Arial"/>
                <a:cs typeface="Arial"/>
                <a:sym typeface="Arial"/>
              </a:rPr>
              <a:t>&lt;A02.html&gt;</a:t>
            </a:r>
            <a:endParaRPr dirty="0"/>
          </a:p>
          <a:p>
            <a:pPr marL="228600" lvl="0" indent="-228600" algn="l" rtl="0">
              <a:lnSpc>
                <a:spcPct val="150000"/>
              </a:lnSpc>
              <a:spcBef>
                <a:spcPts val="0"/>
              </a:spcBef>
              <a:spcAft>
                <a:spcPts val="0"/>
              </a:spcAft>
              <a:buClr>
                <a:schemeClr val="dk2"/>
              </a:buClr>
              <a:buSzPts val="3600"/>
              <a:buFont typeface="Arial"/>
              <a:buChar char="•"/>
            </a:pPr>
            <a:r>
              <a:rPr lang="en-US" dirty="0">
                <a:solidFill>
                  <a:schemeClr val="dk2"/>
                </a:solidFill>
                <a:latin typeface="Arial"/>
                <a:ea typeface="Arial"/>
                <a:cs typeface="Arial"/>
                <a:sym typeface="Arial"/>
              </a:rPr>
              <a:t>MINDEF Cyber Breach (February 2017)</a:t>
            </a:r>
            <a:r>
              <a:rPr lang="en-US" dirty="0">
                <a:solidFill>
                  <a:schemeClr val="dk1"/>
                </a:solidFill>
                <a:latin typeface="Arial"/>
                <a:ea typeface="Arial"/>
                <a:cs typeface="Arial"/>
                <a:sym typeface="Arial"/>
              </a:rPr>
              <a:t> </a:t>
            </a:r>
            <a:endParaRPr dirty="0"/>
          </a:p>
          <a:p>
            <a:pPr marL="685800" lvl="1" indent="-228600" algn="l" rtl="0">
              <a:lnSpc>
                <a:spcPct val="150000"/>
              </a:lnSpc>
              <a:spcBef>
                <a:spcPts val="0"/>
              </a:spcBef>
              <a:spcAft>
                <a:spcPts val="0"/>
              </a:spcAft>
              <a:buClr>
                <a:schemeClr val="dk2"/>
              </a:buClr>
              <a:buSzPts val="3600"/>
              <a:buFont typeface="Arial"/>
              <a:buChar char="•"/>
            </a:pPr>
            <a:r>
              <a:rPr lang="en-US" sz="800" dirty="0">
                <a:solidFill>
                  <a:schemeClr val="dk1"/>
                </a:solidFill>
                <a:latin typeface="Arial"/>
                <a:ea typeface="Arial"/>
                <a:cs typeface="Arial"/>
                <a:sym typeface="Arial"/>
              </a:rPr>
              <a:t>I-Net breached resulted in 850 army personnel’s NRIC, contact numbers and birth dates leaked</a:t>
            </a:r>
            <a:endParaRPr dirty="0"/>
          </a:p>
          <a:p>
            <a:pPr marL="685800" lvl="1" indent="-228600" algn="l" rtl="0">
              <a:lnSpc>
                <a:spcPct val="150000"/>
              </a:lnSpc>
              <a:spcBef>
                <a:spcPts val="0"/>
              </a:spcBef>
              <a:spcAft>
                <a:spcPts val="0"/>
              </a:spcAft>
              <a:buClr>
                <a:schemeClr val="dk2"/>
              </a:buClr>
              <a:buSzPts val="3600"/>
              <a:buFont typeface="Arial"/>
              <a:buChar char="•"/>
            </a:pPr>
            <a:r>
              <a:rPr lang="en-US" sz="800" dirty="0">
                <a:solidFill>
                  <a:schemeClr val="dk1"/>
                </a:solidFill>
                <a:latin typeface="Arial"/>
                <a:ea typeface="Arial"/>
                <a:cs typeface="Arial"/>
                <a:sym typeface="Arial"/>
              </a:rPr>
              <a:t>Attack done remotely over internet</a:t>
            </a:r>
            <a:endParaRPr dirty="0"/>
          </a:p>
          <a:p>
            <a:pPr marL="685800" lvl="1" indent="-228600" algn="l" rtl="0">
              <a:lnSpc>
                <a:spcPct val="150000"/>
              </a:lnSpc>
              <a:spcBef>
                <a:spcPts val="0"/>
              </a:spcBef>
              <a:spcAft>
                <a:spcPts val="0"/>
              </a:spcAft>
              <a:buClr>
                <a:schemeClr val="dk2"/>
              </a:buClr>
              <a:buSzPts val="3600"/>
              <a:buFont typeface="Arial"/>
              <a:buChar char="•"/>
            </a:pPr>
            <a:r>
              <a:rPr lang="en-US" sz="800" dirty="0">
                <a:solidFill>
                  <a:schemeClr val="dk1"/>
                </a:solidFill>
                <a:latin typeface="Arial"/>
                <a:ea typeface="Arial"/>
                <a:cs typeface="Arial"/>
                <a:sym typeface="Arial"/>
              </a:rPr>
              <a:t>&lt;A03.html&gt;</a:t>
            </a:r>
            <a:endParaRPr sz="800" dirty="0">
              <a:latin typeface="Arial"/>
              <a:ea typeface="Arial"/>
              <a:cs typeface="Arial"/>
              <a:sym typeface="Arial"/>
            </a:endParaRPr>
          </a:p>
          <a:p>
            <a:pPr marL="228600" lvl="0" indent="-228600" algn="l" rtl="0">
              <a:lnSpc>
                <a:spcPct val="150000"/>
              </a:lnSpc>
              <a:spcBef>
                <a:spcPts val="0"/>
              </a:spcBef>
              <a:spcAft>
                <a:spcPts val="0"/>
              </a:spcAft>
              <a:buClr>
                <a:schemeClr val="dk1"/>
              </a:buClr>
              <a:buSzPts val="3600"/>
              <a:buFont typeface="Arial"/>
              <a:buChar char="•"/>
            </a:pPr>
            <a:r>
              <a:rPr lang="en-US" dirty="0">
                <a:solidFill>
                  <a:schemeClr val="dk1"/>
                </a:solidFill>
                <a:latin typeface="Arial"/>
                <a:ea typeface="Arial"/>
                <a:cs typeface="Arial"/>
                <a:sym typeface="Arial"/>
              </a:rPr>
              <a:t>K Box Data Breach (September 2014)</a:t>
            </a:r>
            <a:endParaRPr dirty="0"/>
          </a:p>
          <a:p>
            <a:pPr marL="685800" lvl="1" indent="-228600" algn="l" rtl="0">
              <a:lnSpc>
                <a:spcPct val="150000"/>
              </a:lnSpc>
              <a:spcBef>
                <a:spcPts val="0"/>
              </a:spcBef>
              <a:spcAft>
                <a:spcPts val="0"/>
              </a:spcAft>
              <a:buClr>
                <a:schemeClr val="dk1"/>
              </a:buClr>
              <a:buSzPts val="3600"/>
              <a:buFont typeface="Arial"/>
              <a:buChar char="•"/>
            </a:pPr>
            <a:r>
              <a:rPr lang="en-US" dirty="0">
                <a:solidFill>
                  <a:schemeClr val="dk1"/>
                </a:solidFill>
                <a:latin typeface="Arial"/>
                <a:ea typeface="Arial"/>
                <a:cs typeface="Arial"/>
                <a:sym typeface="Arial"/>
              </a:rPr>
              <a:t>Personal data of their customers were leaked (Identity card numbers, mailing addresses, contact numbers)</a:t>
            </a:r>
            <a:endParaRPr dirty="0"/>
          </a:p>
          <a:p>
            <a:pPr marL="685800" lvl="1" indent="-228600" algn="l" rtl="0">
              <a:lnSpc>
                <a:spcPct val="150000"/>
              </a:lnSpc>
              <a:spcBef>
                <a:spcPts val="0"/>
              </a:spcBef>
              <a:spcAft>
                <a:spcPts val="0"/>
              </a:spcAft>
              <a:buClr>
                <a:schemeClr val="dk1"/>
              </a:buClr>
              <a:buSzPts val="3600"/>
              <a:buFont typeface="Arial"/>
              <a:buChar char="•"/>
            </a:pPr>
            <a:r>
              <a:rPr lang="en-US" dirty="0">
                <a:solidFill>
                  <a:schemeClr val="dk1"/>
                </a:solidFill>
                <a:latin typeface="Arial"/>
                <a:ea typeface="Arial"/>
                <a:cs typeface="Arial"/>
                <a:sym typeface="Arial"/>
              </a:rPr>
              <a:t>Weak password to access company system</a:t>
            </a:r>
            <a:endParaRPr dirty="0"/>
          </a:p>
          <a:p>
            <a:pPr marL="685800" lvl="1" indent="-228600" algn="l" rtl="0">
              <a:lnSpc>
                <a:spcPct val="150000"/>
              </a:lnSpc>
              <a:spcBef>
                <a:spcPts val="0"/>
              </a:spcBef>
              <a:spcAft>
                <a:spcPts val="0"/>
              </a:spcAft>
              <a:buClr>
                <a:schemeClr val="dk1"/>
              </a:buClr>
              <a:buSzPts val="3600"/>
              <a:buFont typeface="Arial"/>
              <a:buChar char="•"/>
            </a:pPr>
            <a:r>
              <a:rPr lang="en-US" dirty="0">
                <a:solidFill>
                  <a:schemeClr val="dk1"/>
                </a:solidFill>
                <a:latin typeface="Arial"/>
                <a:ea typeface="Arial"/>
                <a:cs typeface="Arial"/>
                <a:sym typeface="Arial"/>
              </a:rPr>
              <a:t>Customer’s data sent over plaintext using Gmail from its IT Vendor</a:t>
            </a:r>
            <a:endParaRPr dirty="0"/>
          </a:p>
          <a:p>
            <a:pPr marL="685800" lvl="1" indent="-228600" algn="l" rtl="0">
              <a:lnSpc>
                <a:spcPct val="150000"/>
              </a:lnSpc>
              <a:spcBef>
                <a:spcPts val="0"/>
              </a:spcBef>
              <a:spcAft>
                <a:spcPts val="0"/>
              </a:spcAft>
              <a:buClr>
                <a:schemeClr val="dk1"/>
              </a:buClr>
              <a:buSzPts val="3600"/>
              <a:buFont typeface="Arial"/>
              <a:buChar char="•"/>
            </a:pPr>
            <a:r>
              <a:rPr lang="en-US" dirty="0">
                <a:solidFill>
                  <a:schemeClr val="dk2"/>
                </a:solidFill>
                <a:latin typeface="Arial"/>
                <a:ea typeface="Arial"/>
                <a:cs typeface="Arial"/>
                <a:sym typeface="Arial"/>
              </a:rPr>
              <a:t>Malware were found on their Content Management System</a:t>
            </a:r>
            <a:endParaRPr dirty="0"/>
          </a:p>
          <a:p>
            <a:pPr marL="685800" lvl="1" indent="-228600" algn="l" rtl="0">
              <a:lnSpc>
                <a:spcPct val="150000"/>
              </a:lnSpc>
              <a:spcBef>
                <a:spcPts val="0"/>
              </a:spcBef>
              <a:spcAft>
                <a:spcPts val="0"/>
              </a:spcAft>
              <a:buClr>
                <a:schemeClr val="dk1"/>
              </a:buClr>
              <a:buSzPts val="3600"/>
              <a:buFont typeface="Arial"/>
              <a:buChar char="•"/>
            </a:pPr>
            <a:r>
              <a:rPr lang="en-US" dirty="0">
                <a:solidFill>
                  <a:schemeClr val="dk2"/>
                </a:solidFill>
                <a:latin typeface="Arial"/>
                <a:ea typeface="Arial"/>
                <a:cs typeface="Arial"/>
                <a:sym typeface="Arial"/>
              </a:rPr>
              <a:t>&lt;A04.html&gt;</a:t>
            </a:r>
            <a:endParaRPr dirty="0">
              <a:solidFill>
                <a:schemeClr val="dk2"/>
              </a:solidFill>
              <a:latin typeface="Arial"/>
              <a:ea typeface="Arial"/>
              <a:cs typeface="Arial"/>
              <a:sym typeface="Arial"/>
            </a:endParaRPr>
          </a:p>
          <a:p>
            <a:pPr marL="228600" lvl="0" indent="-228600" algn="l" rtl="0">
              <a:lnSpc>
                <a:spcPct val="150000"/>
              </a:lnSpc>
              <a:spcBef>
                <a:spcPts val="0"/>
              </a:spcBef>
              <a:spcAft>
                <a:spcPts val="0"/>
              </a:spcAft>
              <a:buClr>
                <a:schemeClr val="dk1"/>
              </a:buClr>
              <a:buSzPts val="3600"/>
              <a:buFont typeface="Arial"/>
              <a:buChar char="•"/>
            </a:pPr>
            <a:r>
              <a:rPr lang="en-US" dirty="0">
                <a:solidFill>
                  <a:schemeClr val="dk1"/>
                </a:solidFill>
                <a:latin typeface="Arial"/>
                <a:ea typeface="Arial"/>
                <a:cs typeface="Arial"/>
                <a:sym typeface="Arial"/>
              </a:rPr>
              <a:t>Petya Ransomware (June 2017)</a:t>
            </a:r>
            <a:endParaRPr dirty="0"/>
          </a:p>
          <a:p>
            <a:pPr marL="685800" lvl="1" indent="-228600" algn="l" rtl="0">
              <a:lnSpc>
                <a:spcPct val="150000"/>
              </a:lnSpc>
              <a:spcBef>
                <a:spcPts val="0"/>
              </a:spcBef>
              <a:spcAft>
                <a:spcPts val="0"/>
              </a:spcAft>
              <a:buClr>
                <a:schemeClr val="dk1"/>
              </a:buClr>
              <a:buSzPts val="3600"/>
              <a:buFont typeface="Arial"/>
              <a:buChar char="•"/>
            </a:pPr>
            <a:r>
              <a:rPr lang="en-US" sz="800" dirty="0">
                <a:solidFill>
                  <a:schemeClr val="dk1"/>
                </a:solidFill>
                <a:latin typeface="Arial"/>
                <a:ea typeface="Arial"/>
                <a:cs typeface="Arial"/>
                <a:sym typeface="Arial"/>
              </a:rPr>
              <a:t>&lt;A05.html&gt;</a:t>
            </a:r>
            <a:endParaRPr sz="800" dirty="0">
              <a:latin typeface="Arial"/>
              <a:ea typeface="Arial"/>
              <a:cs typeface="Arial"/>
              <a:sym typeface="Arial"/>
            </a:endParaRPr>
          </a:p>
          <a:p>
            <a:pPr marL="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9: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30" name="Google Shape;230;p9: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0: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8" name="Google Shape;248;p10: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257" name="Google Shape;25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2: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73" name="Google Shape;273;p12: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3: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89" name="Google Shape;289;p13: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4: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99" name="Google Shape;299;p14: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5: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06" name="Google Shape;306;p15: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321" name="Google Shape;32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326" name="Google Shape;32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8: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32" name="Google Shape;332;p18: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9: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349" name="Google Shape;349;p19: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367" name="Google Shape;36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379" name="Google Shape;37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379" name="Google Shape;37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049029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379" name="Google Shape;37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929245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3: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53" name="Google Shape;153;p3: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extLst>
      <p:ext uri="{BB962C8B-B14F-4D97-AF65-F5344CB8AC3E}">
        <p14:creationId xmlns:p14="http://schemas.microsoft.com/office/powerpoint/2010/main" val="26821692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385" name="Google Shape;38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395" name="Google Shape;39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403" name="Google Shape;40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latin typeface="Arial"/>
                <a:ea typeface="Arial"/>
                <a:cs typeface="Arial"/>
                <a:sym typeface="Arial"/>
              </a:rPr>
              <a:t>\</a:t>
            </a:r>
            <a:endParaRPr>
              <a:latin typeface="Arial"/>
              <a:ea typeface="Arial"/>
              <a:cs typeface="Arial"/>
              <a:sym typeface="Arial"/>
            </a:endParaRPr>
          </a:p>
        </p:txBody>
      </p:sp>
      <p:sp>
        <p:nvSpPr>
          <p:cNvPr id="459" name="Google Shape;45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latin typeface="Arial"/>
                <a:ea typeface="Arial"/>
                <a:cs typeface="Arial"/>
                <a:sym typeface="Arial"/>
              </a:rPr>
              <a:t>\</a:t>
            </a:r>
            <a:endParaRPr>
              <a:latin typeface="Arial"/>
              <a:ea typeface="Arial"/>
              <a:cs typeface="Arial"/>
              <a:sym typeface="Arial"/>
            </a:endParaRPr>
          </a:p>
        </p:txBody>
      </p:sp>
      <p:sp>
        <p:nvSpPr>
          <p:cNvPr id="459" name="Google Shape;45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11539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25: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426" name="Google Shape;426;p25: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43: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48" name="Google Shape;548;p43: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559" name="Google Shape;559;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564" name="Google Shape;564;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570" name="Google Shape;570;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577" name="Google Shape;577;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584" name="Google Shape;584;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latin typeface="Arial"/>
                <a:ea typeface="Arial"/>
                <a:cs typeface="Arial"/>
                <a:sym typeface="Arial"/>
              </a:rPr>
              <a:t>ToDo: Give a more layman representation in terms of gate security, reorganize IP Addresses and protocol</a:t>
            </a:r>
            <a:endParaRPr/>
          </a:p>
        </p:txBody>
      </p:sp>
      <p:sp>
        <p:nvSpPr>
          <p:cNvPr id="590" name="Google Shape;590;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7" name="Google Shape;597;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latin typeface="Arial"/>
                <a:ea typeface="Arial"/>
                <a:cs typeface="Arial"/>
                <a:sym typeface="Arial"/>
              </a:rPr>
              <a:t>Idea: Numbering of packets </a:t>
            </a:r>
            <a:endParaRPr>
              <a:latin typeface="Arial"/>
              <a:ea typeface="Arial"/>
              <a:cs typeface="Arial"/>
              <a:sym typeface="Arial"/>
            </a:endParaRPr>
          </a:p>
        </p:txBody>
      </p:sp>
      <p:sp>
        <p:nvSpPr>
          <p:cNvPr id="604" name="Google Shape;604;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latin typeface="Arial"/>
                <a:ea typeface="Arial"/>
                <a:cs typeface="Arial"/>
                <a:sym typeface="Arial"/>
              </a:rPr>
              <a:t>Todo: Read up more on this</a:t>
            </a:r>
            <a:endParaRPr>
              <a:latin typeface="Arial"/>
              <a:ea typeface="Arial"/>
              <a:cs typeface="Arial"/>
              <a:sym typeface="Arial"/>
            </a:endParaRPr>
          </a:p>
        </p:txBody>
      </p:sp>
      <p:sp>
        <p:nvSpPr>
          <p:cNvPr id="610" name="Google Shape;610;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69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223750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70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332969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71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281962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72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409761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73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921658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74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234949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75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251390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76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142378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Arial"/>
                <a:ea typeface="Arial"/>
                <a:cs typeface="Arial"/>
                <a:sym typeface="Arial"/>
              </a:rPr>
              <a:t>77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60509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53: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16" name="Google Shape;616;p53: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623" name="Google Shape;623;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635" name="Google Shape;635;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641" name="Google Shape;641;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647" name="Google Shape;647;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3" name="Google Shape;653;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654" name="Google Shape;654;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800"/>
              <a:buFont typeface="Arial"/>
              <a:buNone/>
            </a:pPr>
            <a:fld id="{00000000-1234-1234-1234-123412341234}" type="slidenum">
              <a:rPr lang="en-US"/>
              <a:t>84</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664" name="Google Shape;664;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669" name="Google Shape;669;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63: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75" name="Google Shape;675;p63: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682" name="Google Shape;682;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688" name="Google Shape;688;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694" name="Google Shape;694;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700" name="Google Shape;700;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706" name="Google Shape;706;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712" name="Google Shape;712;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753" name="Google Shape;753;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76: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759" name="Google Shape;759;p76: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dirty="0">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766" name="Google Shape;766;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771" name="Google Shape;771;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777" name="Google Shape;777;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p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789" name="Google Shape;789;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p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latin typeface="Arial"/>
                <a:ea typeface="Arial"/>
                <a:cs typeface="Arial"/>
                <a:sym typeface="Arial"/>
              </a:rPr>
              <a:t>TKIP: Generate unique encryption keys for each data packet</a:t>
            </a:r>
            <a:endParaRPr/>
          </a:p>
          <a:p>
            <a:pPr marL="0" lvl="0" indent="0" algn="l" rtl="0">
              <a:lnSpc>
                <a:spcPct val="100000"/>
              </a:lnSpc>
              <a:spcBef>
                <a:spcPts val="0"/>
              </a:spcBef>
              <a:spcAft>
                <a:spcPts val="0"/>
              </a:spcAft>
              <a:buSzPts val="1400"/>
              <a:buNone/>
            </a:pPr>
            <a:r>
              <a:rPr lang="en-US">
                <a:latin typeface="Arial"/>
                <a:ea typeface="Arial"/>
                <a:cs typeface="Arial"/>
                <a:sym typeface="Arial"/>
              </a:rPr>
              <a:t>AES: Better encryption algorithm</a:t>
            </a:r>
            <a:endParaRPr>
              <a:latin typeface="Arial"/>
              <a:ea typeface="Arial"/>
              <a:cs typeface="Arial"/>
              <a:sym typeface="Arial"/>
            </a:endParaRPr>
          </a:p>
        </p:txBody>
      </p:sp>
      <p:sp>
        <p:nvSpPr>
          <p:cNvPr id="796" name="Google Shape;796;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802" name="Google Shape;802;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808" name="Google Shape;808;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latin typeface="Arial"/>
                <a:ea typeface="Arial"/>
                <a:cs typeface="Arial"/>
                <a:sym typeface="Arial"/>
              </a:rPr>
              <a:t>SSID: The Access Point’s Name (for example: NTUWL, NTUSECURE)</a:t>
            </a:r>
            <a:endParaRPr>
              <a:latin typeface="Arial"/>
              <a:ea typeface="Arial"/>
              <a:cs typeface="Arial"/>
              <a:sym typeface="Arial"/>
            </a:endParaRPr>
          </a:p>
        </p:txBody>
      </p:sp>
      <p:sp>
        <p:nvSpPr>
          <p:cNvPr id="817" name="Google Shape;817;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823" name="Google Shape;823;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Arial"/>
              <a:ea typeface="Arial"/>
              <a:cs typeface="Arial"/>
              <a:sym typeface="Arial"/>
            </a:endParaRPr>
          </a:p>
        </p:txBody>
      </p:sp>
      <p:sp>
        <p:nvSpPr>
          <p:cNvPr id="829" name="Google Shape;829;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p88: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835" name="Google Shape;835;p88: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1:notes"/>
          <p:cNvSpPr>
            <a:spLocks noGrp="1" noRot="1" noChangeAspect="1"/>
          </p:cNvSpPr>
          <p:nvPr>
            <p:ph type="sldImg" idx="2"/>
          </p:nvPr>
        </p:nvSpPr>
        <p:spPr>
          <a:xfrm>
            <a:off x="-16992600" y="-11796713"/>
            <a:ext cx="22159913" cy="12465051"/>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12" name="Google Shape;112;p1:notes"/>
          <p:cNvSpPr txBox="1">
            <a:spLocks noGrp="1"/>
          </p:cNvSpPr>
          <p:nvPr>
            <p:ph type="body" idx="1"/>
          </p:nvPr>
        </p:nvSpPr>
        <p:spPr>
          <a:xfrm>
            <a:off x="685800" y="4343400"/>
            <a:ext cx="5457825" cy="40862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1200"/>
              <a:buFont typeface="Calibri"/>
              <a:buNone/>
            </a:pPr>
            <a:endParaRPr>
              <a:latin typeface="Arial"/>
              <a:ea typeface="Arial"/>
              <a:cs typeface="Arial"/>
              <a:sym typeface="Arial"/>
            </a:endParaRPr>
          </a:p>
        </p:txBody>
      </p:sp>
    </p:spTree>
    <p:extLst>
      <p:ext uri="{BB962C8B-B14F-4D97-AF65-F5344CB8AC3E}">
        <p14:creationId xmlns:p14="http://schemas.microsoft.com/office/powerpoint/2010/main" val="41074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Picture">
  <p:cSld name="Big Picture">
    <p:spTree>
      <p:nvGrpSpPr>
        <p:cNvPr id="1" name="Shape 18"/>
        <p:cNvGrpSpPr/>
        <p:nvPr/>
      </p:nvGrpSpPr>
      <p:grpSpPr>
        <a:xfrm>
          <a:off x="0" y="0"/>
          <a:ext cx="0" cy="0"/>
          <a:chOff x="0" y="0"/>
          <a:chExt cx="0" cy="0"/>
        </a:xfrm>
      </p:grpSpPr>
      <p:sp>
        <p:nvSpPr>
          <p:cNvPr id="19" name="Google Shape;19;p91"/>
          <p:cNvSpPr>
            <a:spLocks noGrp="1"/>
          </p:cNvSpPr>
          <p:nvPr>
            <p:ph type="pic" idx="2"/>
          </p:nvPr>
        </p:nvSpPr>
        <p:spPr>
          <a:xfrm>
            <a:off x="2" y="0"/>
            <a:ext cx="12191999" cy="6858000"/>
          </a:xfrm>
          <a:prstGeom prst="rect">
            <a:avLst/>
          </a:prstGeom>
          <a:solidFill>
            <a:srgbClr val="F2F2F2"/>
          </a:solid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2"/>
              </a:buClr>
              <a:buSzPts val="2400"/>
              <a:buFont typeface="Arial"/>
              <a:buNone/>
              <a:defRPr sz="1200" b="0" i="0" u="none" strike="noStrike" cap="none">
                <a:solidFill>
                  <a:schemeClr val="dk2"/>
                </a:solidFill>
                <a:latin typeface="Nunito Light"/>
                <a:ea typeface="Nunito Light"/>
                <a:cs typeface="Nunito Light"/>
                <a:sym typeface="Nunito Light"/>
              </a:defRPr>
            </a:lvl1pPr>
            <a:lvl2pPr marR="0" lvl="1" algn="l" rtl="0">
              <a:lnSpc>
                <a:spcPct val="90000"/>
              </a:lnSpc>
              <a:spcBef>
                <a:spcPts val="500"/>
              </a:spcBef>
              <a:spcAft>
                <a:spcPts val="0"/>
              </a:spcAft>
              <a:buClr>
                <a:schemeClr val="dk1"/>
              </a:buClr>
              <a:buSzPts val="4000"/>
              <a:buFont typeface="Arial"/>
              <a:buChar char="•"/>
              <a:defRPr sz="2000" b="0" i="0" u="none" strike="noStrike" cap="none">
                <a:solidFill>
                  <a:schemeClr val="dk1"/>
                </a:solidFill>
                <a:latin typeface="Lato Light"/>
                <a:ea typeface="Lato Light"/>
                <a:cs typeface="Lato Light"/>
                <a:sym typeface="Lato Light"/>
              </a:defRPr>
            </a:lvl2pPr>
            <a:lvl3pPr marR="0" lvl="2" algn="l" rtl="0">
              <a:lnSpc>
                <a:spcPct val="90000"/>
              </a:lnSpc>
              <a:spcBef>
                <a:spcPts val="500"/>
              </a:spcBef>
              <a:spcAft>
                <a:spcPts val="0"/>
              </a:spcAft>
              <a:buClr>
                <a:schemeClr val="dk1"/>
              </a:buClr>
              <a:buSzPts val="3600"/>
              <a:buFont typeface="Arial"/>
              <a:buChar char="•"/>
              <a:defRPr sz="1800" b="0" i="0" u="none" strike="noStrike" cap="none">
                <a:solidFill>
                  <a:schemeClr val="dk1"/>
                </a:solidFill>
                <a:latin typeface="Lato Light"/>
                <a:ea typeface="Lato Light"/>
                <a:cs typeface="Lato Light"/>
                <a:sym typeface="Lato Light"/>
              </a:defRPr>
            </a:lvl3pPr>
            <a:lvl4pPr marR="0" lvl="3" algn="l" rtl="0">
              <a:lnSpc>
                <a:spcPct val="90000"/>
              </a:lnSpc>
              <a:spcBef>
                <a:spcPts val="500"/>
              </a:spcBef>
              <a:spcAft>
                <a:spcPts val="0"/>
              </a:spcAft>
              <a:buClr>
                <a:schemeClr val="dk1"/>
              </a:buClr>
              <a:buSzPts val="3200"/>
              <a:buFont typeface="Arial"/>
              <a:buChar char="•"/>
              <a:defRPr sz="1600" b="0" i="0" u="none" strike="noStrike" cap="none">
                <a:solidFill>
                  <a:schemeClr val="dk1"/>
                </a:solidFill>
                <a:latin typeface="Lato Light"/>
                <a:ea typeface="Lato Light"/>
                <a:cs typeface="Lato Light"/>
                <a:sym typeface="Lato Light"/>
              </a:defRPr>
            </a:lvl4pPr>
            <a:lvl5pPr marR="0" lvl="4" algn="l" rtl="0">
              <a:lnSpc>
                <a:spcPct val="90000"/>
              </a:lnSpc>
              <a:spcBef>
                <a:spcPts val="500"/>
              </a:spcBef>
              <a:spcAft>
                <a:spcPts val="0"/>
              </a:spcAft>
              <a:buClr>
                <a:schemeClr val="dk1"/>
              </a:buClr>
              <a:buSzPts val="3200"/>
              <a:buFont typeface="Arial"/>
              <a:buChar char="•"/>
              <a:defRPr sz="1600" b="0" i="0" u="none" strike="noStrike" cap="none">
                <a:solidFill>
                  <a:schemeClr val="dk1"/>
                </a:solidFill>
                <a:latin typeface="Lato Light"/>
                <a:ea typeface="Lato Light"/>
                <a:cs typeface="Lato Light"/>
                <a:sym typeface="Lato Light"/>
              </a:defRPr>
            </a:lvl5pPr>
            <a:lvl6pPr marR="0" lvl="5" algn="l" rtl="0">
              <a:lnSpc>
                <a:spcPct val="90000"/>
              </a:lnSpc>
              <a:spcBef>
                <a:spcPts val="500"/>
              </a:spcBef>
              <a:spcAft>
                <a:spcPts val="0"/>
              </a:spcAft>
              <a:buClr>
                <a:schemeClr val="dk1"/>
              </a:buClr>
              <a:buSzPts val="3600"/>
              <a:buFont typeface="Arial"/>
              <a:buChar char="•"/>
              <a:defRPr sz="1800" b="0" i="0" u="none" strike="noStrike" cap="none">
                <a:solidFill>
                  <a:schemeClr val="dk1"/>
                </a:solidFill>
                <a:latin typeface="Lato Light"/>
                <a:ea typeface="Lato Light"/>
                <a:cs typeface="Lato Light"/>
                <a:sym typeface="Lato Light"/>
              </a:defRPr>
            </a:lvl6pPr>
            <a:lvl7pPr marR="0" lvl="6" algn="l" rtl="0">
              <a:lnSpc>
                <a:spcPct val="90000"/>
              </a:lnSpc>
              <a:spcBef>
                <a:spcPts val="500"/>
              </a:spcBef>
              <a:spcAft>
                <a:spcPts val="0"/>
              </a:spcAft>
              <a:buClr>
                <a:schemeClr val="dk1"/>
              </a:buClr>
              <a:buSzPts val="3600"/>
              <a:buFont typeface="Arial"/>
              <a:buChar char="•"/>
              <a:defRPr sz="1800" b="0" i="0" u="none" strike="noStrike" cap="none">
                <a:solidFill>
                  <a:schemeClr val="dk1"/>
                </a:solidFill>
                <a:latin typeface="Lato Light"/>
                <a:ea typeface="Lato Light"/>
                <a:cs typeface="Lato Light"/>
                <a:sym typeface="Lato Light"/>
              </a:defRPr>
            </a:lvl7pPr>
            <a:lvl8pPr marR="0" lvl="7" algn="l" rtl="0">
              <a:lnSpc>
                <a:spcPct val="90000"/>
              </a:lnSpc>
              <a:spcBef>
                <a:spcPts val="500"/>
              </a:spcBef>
              <a:spcAft>
                <a:spcPts val="0"/>
              </a:spcAft>
              <a:buClr>
                <a:schemeClr val="dk1"/>
              </a:buClr>
              <a:buSzPts val="3600"/>
              <a:buFont typeface="Arial"/>
              <a:buChar char="•"/>
              <a:defRPr sz="1800" b="0" i="0" u="none" strike="noStrike" cap="none">
                <a:solidFill>
                  <a:schemeClr val="dk1"/>
                </a:solidFill>
                <a:latin typeface="Lato Light"/>
                <a:ea typeface="Lato Light"/>
                <a:cs typeface="Lato Light"/>
                <a:sym typeface="Lato Light"/>
              </a:defRPr>
            </a:lvl8pPr>
            <a:lvl9pPr marR="0" lvl="8" algn="l" rtl="0">
              <a:lnSpc>
                <a:spcPct val="90000"/>
              </a:lnSpc>
              <a:spcBef>
                <a:spcPts val="500"/>
              </a:spcBef>
              <a:spcAft>
                <a:spcPts val="0"/>
              </a:spcAft>
              <a:buClr>
                <a:schemeClr val="dk1"/>
              </a:buClr>
              <a:buSzPts val="3600"/>
              <a:buFont typeface="Arial"/>
              <a:buChar char="•"/>
              <a:defRPr sz="1800" b="0" i="0" u="none" strike="noStrike" cap="none">
                <a:solidFill>
                  <a:schemeClr val="dk1"/>
                </a:solidFill>
                <a:latin typeface="Lato Light"/>
                <a:ea typeface="Lato Light"/>
                <a:cs typeface="Lato Light"/>
                <a:sym typeface="Lato Ligh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20"/>
        <p:cNvGrpSpPr/>
        <p:nvPr/>
      </p:nvGrpSpPr>
      <p:grpSpPr>
        <a:xfrm>
          <a:off x="0" y="0"/>
          <a:ext cx="0" cy="0"/>
          <a:chOff x="0" y="0"/>
          <a:chExt cx="0" cy="0"/>
        </a:xfrm>
      </p:grpSpPr>
      <p:sp>
        <p:nvSpPr>
          <p:cNvPr id="21" name="Google Shape;21;p9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9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9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9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Default">
  <p:cSld name="1_Default">
    <p:spTree>
      <p:nvGrpSpPr>
        <p:cNvPr id="1"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9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0" name="Google Shape;30;p9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33"/>
        <p:cNvGrpSpPr/>
        <p:nvPr/>
      </p:nvGrpSpPr>
      <p:grpSpPr>
        <a:xfrm>
          <a:off x="0" y="0"/>
          <a:ext cx="0" cy="0"/>
          <a:chOff x="0" y="0"/>
          <a:chExt cx="0" cy="0"/>
        </a:xfrm>
      </p:grpSpPr>
      <p:sp>
        <p:nvSpPr>
          <p:cNvPr id="34" name="Google Shape;34;p95"/>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95"/>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95"/>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Arial"/>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95"/>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8" name="Google Shape;38;p95"/>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39" name="Google Shape;39;p95"/>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95"/>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9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42"/>
        <p:cNvGrpSpPr/>
        <p:nvPr/>
      </p:nvGrpSpPr>
      <p:grpSpPr>
        <a:xfrm>
          <a:off x="0" y="0"/>
          <a:ext cx="0" cy="0"/>
          <a:chOff x="0" y="0"/>
          <a:chExt cx="0" cy="0"/>
        </a:xfrm>
      </p:grpSpPr>
      <p:sp>
        <p:nvSpPr>
          <p:cNvPr id="43" name="Google Shape;43;p96"/>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 name="Google Shape;44;p96"/>
          <p:cNvSpPr/>
          <p:nvPr/>
        </p:nvSpPr>
        <p:spPr>
          <a:xfrm>
            <a:off x="1" y="6334316"/>
            <a:ext cx="12192000" cy="66484"/>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96"/>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Arial"/>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6"/>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Arial"/>
                <a:ea typeface="Arial"/>
                <a:cs typeface="Arial"/>
                <a:sym typeface="Arial"/>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47" name="Google Shape;47;p9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9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9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0" name="Google Shape;50;p96"/>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6"/>
        <p:cNvGrpSpPr/>
        <p:nvPr/>
      </p:nvGrpSpPr>
      <p:grpSpPr>
        <a:xfrm>
          <a:off x="0" y="0"/>
          <a:ext cx="0" cy="0"/>
          <a:chOff x="0" y="0"/>
          <a:chExt cx="0" cy="0"/>
        </a:xfrm>
      </p:grpSpPr>
      <p:sp>
        <p:nvSpPr>
          <p:cNvPr id="67" name="Google Shape;67;p9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99"/>
          <p:cNvSpPr txBox="1">
            <a:spLocks noGrp="1"/>
          </p:cNvSpPr>
          <p:nvPr>
            <p:ph type="body" idx="1"/>
          </p:nvPr>
        </p:nvSpPr>
        <p:spPr>
          <a:xfrm>
            <a:off x="1097280" y="1845734"/>
            <a:ext cx="4937760" cy="4023359"/>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9" name="Google Shape;69;p99"/>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0" name="Google Shape;70;p9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9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9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3"/>
        <p:cNvGrpSpPr/>
        <p:nvPr/>
      </p:nvGrpSpPr>
      <p:grpSpPr>
        <a:xfrm>
          <a:off x="0" y="0"/>
          <a:ext cx="0" cy="0"/>
          <a:chOff x="0" y="0"/>
          <a:chExt cx="0" cy="0"/>
        </a:xfrm>
      </p:grpSpPr>
      <p:sp>
        <p:nvSpPr>
          <p:cNvPr id="74" name="Google Shape;74;p10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00"/>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76" name="Google Shape;76;p100"/>
          <p:cNvSpPr txBox="1">
            <a:spLocks noGrp="1"/>
          </p:cNvSpPr>
          <p:nvPr>
            <p:ph type="body" idx="2"/>
          </p:nvPr>
        </p:nvSpPr>
        <p:spPr>
          <a:xfrm>
            <a:off x="1097280" y="2582335"/>
            <a:ext cx="4937760" cy="32867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7" name="Google Shape;77;p100"/>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78" name="Google Shape;78;p100"/>
          <p:cNvSpPr txBox="1">
            <a:spLocks noGrp="1"/>
          </p:cNvSpPr>
          <p:nvPr>
            <p:ph type="body" idx="4"/>
          </p:nvPr>
        </p:nvSpPr>
        <p:spPr>
          <a:xfrm>
            <a:off x="6217920" y="2582334"/>
            <a:ext cx="4937760" cy="32867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9" name="Google Shape;79;p10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0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0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2"/>
        <p:cNvGrpSpPr/>
        <p:nvPr/>
      </p:nvGrpSpPr>
      <p:grpSpPr>
        <a:xfrm>
          <a:off x="0" y="0"/>
          <a:ext cx="0" cy="0"/>
          <a:chOff x="0" y="0"/>
          <a:chExt cx="0" cy="0"/>
        </a:xfrm>
      </p:grpSpPr>
      <p:sp>
        <p:nvSpPr>
          <p:cNvPr id="83" name="Google Shape;83;p10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0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0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0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7"/>
        <p:cNvGrpSpPr/>
        <p:nvPr/>
      </p:nvGrpSpPr>
      <p:grpSpPr>
        <a:xfrm>
          <a:off x="0" y="0"/>
          <a:ext cx="0" cy="0"/>
          <a:chOff x="0" y="0"/>
          <a:chExt cx="0" cy="0"/>
        </a:xfrm>
      </p:grpSpPr>
      <p:sp>
        <p:nvSpPr>
          <p:cNvPr id="88" name="Google Shape;88;p102"/>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02"/>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102"/>
          <p:cNvSpPr txBox="1">
            <a:spLocks noGrp="1"/>
          </p:cNvSpPr>
          <p:nvPr>
            <p:ph type="title"/>
          </p:nvPr>
        </p:nvSpPr>
        <p:spPr>
          <a:xfrm>
            <a:off x="1097280" y="5074920"/>
            <a:ext cx="10113645"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Arial"/>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02"/>
          <p:cNvSpPr>
            <a:spLocks noGrp="1"/>
          </p:cNvSpPr>
          <p:nvPr>
            <p:ph type="pic" idx="2"/>
          </p:nvPr>
        </p:nvSpPr>
        <p:spPr>
          <a:xfrm>
            <a:off x="15" y="0"/>
            <a:ext cx="12191985" cy="4915076"/>
          </a:xfrm>
          <a:prstGeom prst="rect">
            <a:avLst/>
          </a:prstGeom>
          <a:solidFill>
            <a:srgbClr val="BECAD4"/>
          </a:solidFill>
          <a:ln>
            <a:noFill/>
          </a:ln>
        </p:spPr>
        <p:txBody>
          <a:bodyPr spcFirstLastPara="1" wrap="square" lIns="457200" tIns="457200" rIns="0" bIns="45700" anchor="t" anchorCtr="0">
            <a:normAutofit/>
          </a:bodyPr>
          <a:lstStyle>
            <a:lvl1pPr marR="0" lvl="0" algn="l" rtl="0">
              <a:lnSpc>
                <a:spcPct val="90000"/>
              </a:lnSpc>
              <a:spcBef>
                <a:spcPts val="1200"/>
              </a:spcBef>
              <a:spcAft>
                <a:spcPts val="0"/>
              </a:spcAft>
              <a:buClr>
                <a:schemeClr val="accent1"/>
              </a:buClr>
              <a:buSzPts val="3200"/>
              <a:buFont typeface="Calibri"/>
              <a:buNone/>
              <a:defRPr sz="3200" b="0" i="0" u="none" strike="noStrike" cap="none">
                <a:solidFill>
                  <a:srgbClr val="3F3F3F"/>
                </a:solidFill>
                <a:latin typeface="Arial"/>
                <a:ea typeface="Arial"/>
                <a:cs typeface="Arial"/>
                <a:sym typeface="Arial"/>
              </a:defRPr>
            </a:lvl1pPr>
            <a:lvl2pPr marR="0" lvl="1" algn="l" rtl="0">
              <a:lnSpc>
                <a:spcPct val="90000"/>
              </a:lnSpc>
              <a:spcBef>
                <a:spcPts val="200"/>
              </a:spcBef>
              <a:spcAft>
                <a:spcPts val="0"/>
              </a:spcAft>
              <a:buClr>
                <a:schemeClr val="accent1"/>
              </a:buClr>
              <a:buSzPts val="2800"/>
              <a:buFont typeface="Calibri"/>
              <a:buNone/>
              <a:defRPr sz="2800" b="0" i="0" u="none" strike="noStrike" cap="none">
                <a:solidFill>
                  <a:srgbClr val="3F3F3F"/>
                </a:solidFill>
                <a:latin typeface="Arial"/>
                <a:ea typeface="Arial"/>
                <a:cs typeface="Arial"/>
                <a:sym typeface="Arial"/>
              </a:defRPr>
            </a:lvl2pPr>
            <a:lvl3pPr marR="0" lvl="2" algn="l" rtl="0">
              <a:lnSpc>
                <a:spcPct val="90000"/>
              </a:lnSpc>
              <a:spcBef>
                <a:spcPts val="400"/>
              </a:spcBef>
              <a:spcAft>
                <a:spcPts val="0"/>
              </a:spcAft>
              <a:buClr>
                <a:schemeClr val="accent1"/>
              </a:buClr>
              <a:buSzPts val="2400"/>
              <a:buFont typeface="Calibri"/>
              <a:buNone/>
              <a:defRPr sz="2400" b="0" i="0" u="none" strike="noStrike" cap="none">
                <a:solidFill>
                  <a:srgbClr val="3F3F3F"/>
                </a:solidFill>
                <a:latin typeface="Arial"/>
                <a:ea typeface="Arial"/>
                <a:cs typeface="Arial"/>
                <a:sym typeface="Arial"/>
              </a:defRPr>
            </a:lvl3pPr>
            <a:lvl4pPr marR="0" lvl="3" algn="l" rtl="0">
              <a:lnSpc>
                <a:spcPct val="90000"/>
              </a:lnSpc>
              <a:spcBef>
                <a:spcPts val="400"/>
              </a:spcBef>
              <a:spcAft>
                <a:spcPts val="0"/>
              </a:spcAft>
              <a:buClr>
                <a:schemeClr val="accent1"/>
              </a:buClr>
              <a:buSzPts val="2000"/>
              <a:buFont typeface="Calibri"/>
              <a:buNone/>
              <a:defRPr sz="2000" b="0" i="0" u="none" strike="noStrike" cap="none">
                <a:solidFill>
                  <a:srgbClr val="3F3F3F"/>
                </a:solidFill>
                <a:latin typeface="Arial"/>
                <a:ea typeface="Arial"/>
                <a:cs typeface="Arial"/>
                <a:sym typeface="Arial"/>
              </a:defRPr>
            </a:lvl4pPr>
            <a:lvl5pPr marR="0" lvl="4" algn="l" rtl="0">
              <a:lnSpc>
                <a:spcPct val="90000"/>
              </a:lnSpc>
              <a:spcBef>
                <a:spcPts val="400"/>
              </a:spcBef>
              <a:spcAft>
                <a:spcPts val="0"/>
              </a:spcAft>
              <a:buClr>
                <a:schemeClr val="accent1"/>
              </a:buClr>
              <a:buSzPts val="2000"/>
              <a:buFont typeface="Calibri"/>
              <a:buNone/>
              <a:defRPr sz="2000" b="0" i="0" u="none" strike="noStrike" cap="none">
                <a:solidFill>
                  <a:srgbClr val="3F3F3F"/>
                </a:solidFill>
                <a:latin typeface="Arial"/>
                <a:ea typeface="Arial"/>
                <a:cs typeface="Arial"/>
                <a:sym typeface="Arial"/>
              </a:defRPr>
            </a:lvl5pPr>
            <a:lvl6pPr marR="0" lvl="5" algn="l" rtl="0">
              <a:lnSpc>
                <a:spcPct val="90000"/>
              </a:lnSpc>
              <a:spcBef>
                <a:spcPts val="400"/>
              </a:spcBef>
              <a:spcAft>
                <a:spcPts val="0"/>
              </a:spcAft>
              <a:buClr>
                <a:schemeClr val="accent1"/>
              </a:buClr>
              <a:buSzPts val="2000"/>
              <a:buFont typeface="Calibri"/>
              <a:buNone/>
              <a:defRPr sz="2000" b="0" i="0" u="none" strike="noStrike" cap="none">
                <a:solidFill>
                  <a:srgbClr val="3F3F3F"/>
                </a:solidFill>
                <a:latin typeface="Calibri"/>
                <a:ea typeface="Calibri"/>
                <a:cs typeface="Calibri"/>
                <a:sym typeface="Calibri"/>
              </a:defRPr>
            </a:lvl6pPr>
            <a:lvl7pPr marR="0" lvl="6" algn="l" rtl="0">
              <a:lnSpc>
                <a:spcPct val="90000"/>
              </a:lnSpc>
              <a:spcBef>
                <a:spcPts val="400"/>
              </a:spcBef>
              <a:spcAft>
                <a:spcPts val="0"/>
              </a:spcAft>
              <a:buClr>
                <a:schemeClr val="accent1"/>
              </a:buClr>
              <a:buSzPts val="2000"/>
              <a:buFont typeface="Calibri"/>
              <a:buNone/>
              <a:defRPr sz="2000" b="0" i="0" u="none" strike="noStrike" cap="none">
                <a:solidFill>
                  <a:srgbClr val="3F3F3F"/>
                </a:solidFill>
                <a:latin typeface="Calibri"/>
                <a:ea typeface="Calibri"/>
                <a:cs typeface="Calibri"/>
                <a:sym typeface="Calibri"/>
              </a:defRPr>
            </a:lvl7pPr>
            <a:lvl8pPr marR="0" lvl="7" algn="l" rtl="0">
              <a:lnSpc>
                <a:spcPct val="90000"/>
              </a:lnSpc>
              <a:spcBef>
                <a:spcPts val="400"/>
              </a:spcBef>
              <a:spcAft>
                <a:spcPts val="0"/>
              </a:spcAft>
              <a:buClr>
                <a:schemeClr val="accent1"/>
              </a:buClr>
              <a:buSzPts val="2000"/>
              <a:buFont typeface="Calibri"/>
              <a:buNone/>
              <a:defRPr sz="2000" b="0" i="0" u="none" strike="noStrike" cap="none">
                <a:solidFill>
                  <a:srgbClr val="3F3F3F"/>
                </a:solidFill>
                <a:latin typeface="Calibri"/>
                <a:ea typeface="Calibri"/>
                <a:cs typeface="Calibri"/>
                <a:sym typeface="Calibri"/>
              </a:defRPr>
            </a:lvl8pPr>
            <a:lvl9pPr marR="0" lvl="8" algn="l" rtl="0">
              <a:lnSpc>
                <a:spcPct val="90000"/>
              </a:lnSpc>
              <a:spcBef>
                <a:spcPts val="400"/>
              </a:spcBef>
              <a:spcAft>
                <a:spcPts val="400"/>
              </a:spcAft>
              <a:buClr>
                <a:schemeClr val="accent1"/>
              </a:buClr>
              <a:buSzPts val="2000"/>
              <a:buFont typeface="Calibri"/>
              <a:buNone/>
              <a:defRPr sz="2000" b="0" i="0" u="none" strike="noStrike" cap="none">
                <a:solidFill>
                  <a:srgbClr val="3F3F3F"/>
                </a:solidFill>
                <a:latin typeface="Calibri"/>
                <a:ea typeface="Calibri"/>
                <a:cs typeface="Calibri"/>
                <a:sym typeface="Calibri"/>
              </a:defRPr>
            </a:lvl9pPr>
          </a:lstStyle>
          <a:p>
            <a:endParaRPr/>
          </a:p>
        </p:txBody>
      </p:sp>
      <p:sp>
        <p:nvSpPr>
          <p:cNvPr id="92" name="Google Shape;92;p102"/>
          <p:cNvSpPr txBox="1">
            <a:spLocks noGrp="1"/>
          </p:cNvSpPr>
          <p:nvPr>
            <p:ph type="body" idx="1"/>
          </p:nvPr>
        </p:nvSpPr>
        <p:spPr>
          <a:xfrm>
            <a:off x="1097280" y="5907024"/>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93" name="Google Shape;93;p10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0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0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6"/>
        <p:cNvGrpSpPr/>
        <p:nvPr/>
      </p:nvGrpSpPr>
      <p:grpSpPr>
        <a:xfrm>
          <a:off x="0" y="0"/>
          <a:ext cx="0" cy="0"/>
          <a:chOff x="0" y="0"/>
          <a:chExt cx="0" cy="0"/>
        </a:xfrm>
      </p:grpSpPr>
      <p:sp>
        <p:nvSpPr>
          <p:cNvPr id="97" name="Google Shape;97;p10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103"/>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9" name="Google Shape;99;p10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0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10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02"/>
        <p:cNvGrpSpPr/>
        <p:nvPr/>
      </p:nvGrpSpPr>
      <p:grpSpPr>
        <a:xfrm>
          <a:off x="0" y="0"/>
          <a:ext cx="0" cy="0"/>
          <a:chOff x="0" y="0"/>
          <a:chExt cx="0" cy="0"/>
        </a:xfrm>
      </p:grpSpPr>
      <p:sp>
        <p:nvSpPr>
          <p:cNvPr id="103" name="Google Shape;103;p10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0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104"/>
          <p:cNvSpPr txBox="1">
            <a:spLocks noGrp="1"/>
          </p:cNvSpPr>
          <p:nvPr>
            <p:ph type="title"/>
          </p:nvPr>
        </p:nvSpPr>
        <p:spPr>
          <a:xfrm rot="5400000">
            <a:off x="7159401" y="1977801"/>
            <a:ext cx="5759898"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104"/>
          <p:cNvSpPr txBox="1">
            <a:spLocks noGrp="1"/>
          </p:cNvSpPr>
          <p:nvPr>
            <p:ph type="body" idx="1"/>
          </p:nvPr>
        </p:nvSpPr>
        <p:spPr>
          <a:xfrm rot="5400000">
            <a:off x="1825401" y="-574899"/>
            <a:ext cx="5759898"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07" name="Google Shape;107;p10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8" name="Google Shape;108;p10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10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0"/>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90"/>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9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90"/>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Arial"/>
                <a:ea typeface="Arial"/>
                <a:cs typeface="Arial"/>
                <a:sym typeface="Arial"/>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Arial"/>
                <a:ea typeface="Arial"/>
                <a:cs typeface="Arial"/>
                <a:sym typeface="Arial"/>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Arial"/>
                <a:ea typeface="Arial"/>
                <a:cs typeface="Arial"/>
                <a:sym typeface="Arial"/>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Arial"/>
                <a:ea typeface="Arial"/>
                <a:cs typeface="Arial"/>
                <a:sym typeface="Arial"/>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Arial"/>
                <a:ea typeface="Arial"/>
                <a:cs typeface="Arial"/>
                <a:sym typeface="Arial"/>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9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9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9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90"/>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hyperlink" Target="https://www.channelnewsasia.com/news/singapore/singhealth-health-system-hit-serious-cyberattack-pm-lee-target-10548318"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www.straitstimes.com/singapore/courts-crime/hacker-who-called-himself-the-messiah-jailed-4-years-and-8-months" TargetMode="External"/><Relationship Id="rId7" Type="http://schemas.openxmlformats.org/officeDocument/2006/relationships/hyperlink" Target="https://www.straitstimes.com/singapore/personal-data-of-300000-k-box-singapore-clients-surfaces-online" TargetMode="External"/><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hyperlink" Target="https://www.straitstimes.com/singapore/personal-data-of-850-mindef-servicemen-and-staff-leaked-due-targeted-planned-cyber-attack" TargetMode="External"/><Relationship Id="rId10" Type="http://schemas.openxmlformats.org/officeDocument/2006/relationships/image" Target="../media/image22.png"/><Relationship Id="rId4" Type="http://schemas.openxmlformats.org/officeDocument/2006/relationships/image" Target="../media/image19.png"/><Relationship Id="rId9" Type="http://schemas.openxmlformats.org/officeDocument/2006/relationships/hyperlink" Target="https://www.theverge.com/2017/6/27/15879480/petrwrap-virus-ukraine-ransomware-attack-europe-wannacry"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jp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35.xml.rels><?xml version="1.0" encoding="UTF-8" standalone="yes"?>
<Relationships xmlns="http://schemas.openxmlformats.org/package/2006/relationships"><Relationship Id="rId3" Type="http://schemas.openxmlformats.org/officeDocument/2006/relationships/hyperlink" Target="https://sso.agc.gov.sg/Act/CMA1993" TargetMode="External"/><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hyperlink" Target="https://sso.agc.gov.sg/Act/CMA1993"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74.JP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80.jpe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image" Target="../media/image81.gif"/><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5.xml"/><Relationship Id="rId1" Type="http://schemas.openxmlformats.org/officeDocument/2006/relationships/slideLayout" Target="../slideLayouts/slideLayout4.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8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9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64.xml"/><Relationship Id="rId1" Type="http://schemas.openxmlformats.org/officeDocument/2006/relationships/slideLayout" Target="../slideLayouts/slideLayout5.xml"/><Relationship Id="rId5" Type="http://schemas.openxmlformats.org/officeDocument/2006/relationships/image" Target="../media/image92.png"/><Relationship Id="rId4" Type="http://schemas.openxmlformats.org/officeDocument/2006/relationships/image" Target="../media/image91.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hyperlink" Target="https://www.wi-fi.org/" TargetMode="External"/><Relationship Id="rId2" Type="http://schemas.openxmlformats.org/officeDocument/2006/relationships/notesSlide" Target="../notesSlides/notesSlide69.xml"/><Relationship Id="rId1" Type="http://schemas.openxmlformats.org/officeDocument/2006/relationships/slideLayout" Target="../slideLayouts/slideLayout4.xml"/><Relationship Id="rId5" Type="http://schemas.openxmlformats.org/officeDocument/2006/relationships/image" Target="../media/image95.png"/><Relationship Id="rId4" Type="http://schemas.openxmlformats.org/officeDocument/2006/relationships/image" Target="../media/image94.png"/></Relationships>
</file>

<file path=ppt/slides/_rels/slide100.xml.rels><?xml version="1.0" encoding="UTF-8" standalone="yes"?>
<Relationships xmlns="http://schemas.openxmlformats.org/package/2006/relationships"><Relationship Id="rId3" Type="http://schemas.openxmlformats.org/officeDocument/2006/relationships/hyperlink" Target="https://en.wikipedia.org/wiki/Fluhrer,_Mantin_and_Shamir_attack" TargetMode="External"/><Relationship Id="rId2" Type="http://schemas.openxmlformats.org/officeDocument/2006/relationships/notesSlide" Target="../notesSlides/notesSlide70.xml"/><Relationship Id="rId1" Type="http://schemas.openxmlformats.org/officeDocument/2006/relationships/slideLayout" Target="../slideLayouts/slideLayout4.xml"/><Relationship Id="rId4" Type="http://schemas.openxmlformats.org/officeDocument/2006/relationships/image" Target="../media/image96.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73.xml"/><Relationship Id="rId1" Type="http://schemas.openxmlformats.org/officeDocument/2006/relationships/slideLayout" Target="../slideLayouts/slideLayout4.xml"/><Relationship Id="rId5" Type="http://schemas.openxmlformats.org/officeDocument/2006/relationships/image" Target="../media/image98.png"/><Relationship Id="rId4" Type="http://schemas.openxmlformats.org/officeDocument/2006/relationships/image" Target="../media/image95.png"/></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1.xml"/><Relationship Id="rId4" Type="http://schemas.openxmlformats.org/officeDocument/2006/relationships/hyperlink" Target="http://www3.ntu.edu.sg/scse/wk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pic>
        <p:nvPicPr>
          <p:cNvPr id="142" name="Google Shape;142;p1" descr="Related image"/>
          <p:cNvPicPr preferRelativeResize="0"/>
          <p:nvPr/>
        </p:nvPicPr>
        <p:blipFill rotWithShape="1">
          <a:blip r:embed="rId3">
            <a:alphaModFix/>
          </a:blip>
          <a:srcRect/>
          <a:stretch/>
        </p:blipFill>
        <p:spPr>
          <a:xfrm>
            <a:off x="323196" y="5504900"/>
            <a:ext cx="2167520" cy="775972"/>
          </a:xfrm>
          <a:prstGeom prst="rect">
            <a:avLst/>
          </a:prstGeom>
          <a:noFill/>
          <a:ln>
            <a:noFill/>
          </a:ln>
        </p:spPr>
      </p:pic>
      <p:grpSp>
        <p:nvGrpSpPr>
          <p:cNvPr id="32" name="Google Shape;116;p1">
            <a:extLst>
              <a:ext uri="{FF2B5EF4-FFF2-40B4-BE49-F238E27FC236}">
                <a16:creationId xmlns:a16="http://schemas.microsoft.com/office/drawing/2014/main" id="{65B2058C-550A-442D-A9EB-8A038E05FFC3}"/>
              </a:ext>
            </a:extLst>
          </p:cNvPr>
          <p:cNvGrpSpPr/>
          <p:nvPr/>
        </p:nvGrpSpPr>
        <p:grpSpPr>
          <a:xfrm>
            <a:off x="-58723" y="-41945"/>
            <a:ext cx="12250723" cy="2152185"/>
            <a:chOff x="0" y="-156114"/>
            <a:chExt cx="24535151" cy="4304369"/>
          </a:xfrm>
        </p:grpSpPr>
        <p:sp>
          <p:nvSpPr>
            <p:cNvPr id="33" name="Google Shape;117;p1">
              <a:extLst>
                <a:ext uri="{FF2B5EF4-FFF2-40B4-BE49-F238E27FC236}">
                  <a16:creationId xmlns:a16="http://schemas.microsoft.com/office/drawing/2014/main" id="{96F4ED88-1D69-4942-9BA3-B0AA398A13E0}"/>
                </a:ext>
              </a:extLst>
            </p:cNvPr>
            <p:cNvSpPr/>
            <p:nvPr/>
          </p:nvSpPr>
          <p:spPr>
            <a:xfrm>
              <a:off x="23378291" y="2431564"/>
              <a:ext cx="1134322" cy="1716691"/>
            </a:xfrm>
            <a:custGeom>
              <a:avLst/>
              <a:gdLst/>
              <a:ahLst/>
              <a:cxnLst/>
              <a:rect l="l" t="t" r="r" b="b"/>
              <a:pathLst>
                <a:path w="1152" h="1740" extrusionOk="0">
                  <a:moveTo>
                    <a:pt x="0" y="1739"/>
                  </a:moveTo>
                  <a:lnTo>
                    <a:pt x="1151" y="918"/>
                  </a:lnTo>
                  <a:lnTo>
                    <a:pt x="1151" y="0"/>
                  </a:lnTo>
                  <a:lnTo>
                    <a:pt x="0" y="1739"/>
                  </a:lnTo>
                </a:path>
              </a:pathLst>
            </a:custGeom>
            <a:solidFill>
              <a:schemeClr val="accent3"/>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34" name="Google Shape;118;p1">
              <a:extLst>
                <a:ext uri="{FF2B5EF4-FFF2-40B4-BE49-F238E27FC236}">
                  <a16:creationId xmlns:a16="http://schemas.microsoft.com/office/drawing/2014/main" id="{AE8BD477-CF43-4AB3-B4EF-5B87AAF095ED}"/>
                </a:ext>
              </a:extLst>
            </p:cNvPr>
            <p:cNvSpPr/>
            <p:nvPr/>
          </p:nvSpPr>
          <p:spPr>
            <a:xfrm>
              <a:off x="23079220" y="-88970"/>
              <a:ext cx="1455931" cy="4233061"/>
            </a:xfrm>
            <a:custGeom>
              <a:avLst/>
              <a:gdLst/>
              <a:ahLst/>
              <a:cxnLst/>
              <a:rect l="l" t="t" r="r" b="b"/>
              <a:pathLst>
                <a:path w="1479" h="4296" extrusionOk="0">
                  <a:moveTo>
                    <a:pt x="0" y="0"/>
                  </a:moveTo>
                  <a:lnTo>
                    <a:pt x="327" y="4295"/>
                  </a:lnTo>
                  <a:lnTo>
                    <a:pt x="1478" y="2556"/>
                  </a:lnTo>
                  <a:lnTo>
                    <a:pt x="1478" y="0"/>
                  </a:lnTo>
                  <a:lnTo>
                    <a:pt x="0" y="0"/>
                  </a:lnTo>
                </a:path>
              </a:pathLst>
            </a:custGeom>
            <a:solidFill>
              <a:srgbClr val="78E0E6"/>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35" name="Google Shape;119;p1">
              <a:extLst>
                <a:ext uri="{FF2B5EF4-FFF2-40B4-BE49-F238E27FC236}">
                  <a16:creationId xmlns:a16="http://schemas.microsoft.com/office/drawing/2014/main" id="{D1A8D1BC-C051-4D42-BCBE-9E2AA7E6F3DF}"/>
                </a:ext>
              </a:extLst>
            </p:cNvPr>
            <p:cNvSpPr/>
            <p:nvPr/>
          </p:nvSpPr>
          <p:spPr>
            <a:xfrm>
              <a:off x="20776620" y="-88970"/>
              <a:ext cx="2646748" cy="4233061"/>
            </a:xfrm>
            <a:custGeom>
              <a:avLst/>
              <a:gdLst/>
              <a:ahLst/>
              <a:cxnLst/>
              <a:rect l="l" t="t" r="r" b="b"/>
              <a:pathLst>
                <a:path w="2687" h="4296" extrusionOk="0">
                  <a:moveTo>
                    <a:pt x="0" y="0"/>
                  </a:moveTo>
                  <a:lnTo>
                    <a:pt x="2686" y="4295"/>
                  </a:lnTo>
                  <a:lnTo>
                    <a:pt x="2359" y="0"/>
                  </a:lnTo>
                  <a:lnTo>
                    <a:pt x="0" y="0"/>
                  </a:lnTo>
                </a:path>
              </a:pathLst>
            </a:custGeom>
            <a:solidFill>
              <a:schemeClr val="accent3"/>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36" name="Google Shape;120;p1">
              <a:extLst>
                <a:ext uri="{FF2B5EF4-FFF2-40B4-BE49-F238E27FC236}">
                  <a16:creationId xmlns:a16="http://schemas.microsoft.com/office/drawing/2014/main" id="{3BFD5BBD-0F22-4137-A6A8-6F7EF35D7302}"/>
                </a:ext>
              </a:extLst>
            </p:cNvPr>
            <p:cNvSpPr/>
            <p:nvPr/>
          </p:nvSpPr>
          <p:spPr>
            <a:xfrm>
              <a:off x="20420244" y="-88970"/>
              <a:ext cx="3003125" cy="4233061"/>
            </a:xfrm>
            <a:custGeom>
              <a:avLst/>
              <a:gdLst/>
              <a:ahLst/>
              <a:cxnLst/>
              <a:rect l="l" t="t" r="r" b="b"/>
              <a:pathLst>
                <a:path w="3049" h="4296" extrusionOk="0">
                  <a:moveTo>
                    <a:pt x="0" y="0"/>
                  </a:moveTo>
                  <a:lnTo>
                    <a:pt x="43" y="3187"/>
                  </a:lnTo>
                  <a:lnTo>
                    <a:pt x="3048" y="4295"/>
                  </a:lnTo>
                  <a:lnTo>
                    <a:pt x="362" y="0"/>
                  </a:lnTo>
                  <a:lnTo>
                    <a:pt x="0" y="0"/>
                  </a:lnTo>
                </a:path>
              </a:pathLst>
            </a:custGeom>
            <a:solidFill>
              <a:srgbClr val="78E0E6"/>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37" name="Google Shape;121;p1">
              <a:extLst>
                <a:ext uri="{FF2B5EF4-FFF2-40B4-BE49-F238E27FC236}">
                  <a16:creationId xmlns:a16="http://schemas.microsoft.com/office/drawing/2014/main" id="{50D1CCA3-48B7-4E58-B745-F44997E65DD3}"/>
                </a:ext>
              </a:extLst>
            </p:cNvPr>
            <p:cNvSpPr/>
            <p:nvPr/>
          </p:nvSpPr>
          <p:spPr>
            <a:xfrm>
              <a:off x="17677877" y="-88971"/>
              <a:ext cx="2785824" cy="3142198"/>
            </a:xfrm>
            <a:custGeom>
              <a:avLst/>
              <a:gdLst/>
              <a:ahLst/>
              <a:cxnLst/>
              <a:rect l="l" t="t" r="r" b="b"/>
              <a:pathLst>
                <a:path w="2826" h="3188" extrusionOk="0">
                  <a:moveTo>
                    <a:pt x="2126" y="0"/>
                  </a:moveTo>
                  <a:lnTo>
                    <a:pt x="0" y="1954"/>
                  </a:lnTo>
                  <a:lnTo>
                    <a:pt x="2825" y="3187"/>
                  </a:lnTo>
                  <a:lnTo>
                    <a:pt x="2782" y="0"/>
                  </a:lnTo>
                  <a:lnTo>
                    <a:pt x="2126" y="0"/>
                  </a:lnTo>
                </a:path>
              </a:pathLst>
            </a:custGeom>
            <a:solidFill>
              <a:schemeClr val="accent3"/>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38" name="Google Shape;122;p1">
              <a:extLst>
                <a:ext uri="{FF2B5EF4-FFF2-40B4-BE49-F238E27FC236}">
                  <a16:creationId xmlns:a16="http://schemas.microsoft.com/office/drawing/2014/main" id="{99126DF4-7B11-495E-87F5-E5C93763A244}"/>
                </a:ext>
              </a:extLst>
            </p:cNvPr>
            <p:cNvSpPr/>
            <p:nvPr/>
          </p:nvSpPr>
          <p:spPr>
            <a:xfrm>
              <a:off x="17608342" y="-88971"/>
              <a:ext cx="2168684" cy="1925303"/>
            </a:xfrm>
            <a:custGeom>
              <a:avLst/>
              <a:gdLst/>
              <a:ahLst/>
              <a:cxnLst/>
              <a:rect l="l" t="t" r="r" b="b"/>
              <a:pathLst>
                <a:path w="2199" h="1955" extrusionOk="0">
                  <a:moveTo>
                    <a:pt x="0" y="0"/>
                  </a:moveTo>
                  <a:lnTo>
                    <a:pt x="72" y="1954"/>
                  </a:lnTo>
                  <a:lnTo>
                    <a:pt x="2198" y="0"/>
                  </a:lnTo>
                  <a:lnTo>
                    <a:pt x="0" y="0"/>
                  </a:lnTo>
                </a:path>
              </a:pathLst>
            </a:custGeom>
            <a:solidFill>
              <a:srgbClr val="78E0E6"/>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39" name="Google Shape;123;p1">
              <a:extLst>
                <a:ext uri="{FF2B5EF4-FFF2-40B4-BE49-F238E27FC236}">
                  <a16:creationId xmlns:a16="http://schemas.microsoft.com/office/drawing/2014/main" id="{50411E18-1ACE-4C06-BF06-019CF4395296}"/>
                </a:ext>
              </a:extLst>
            </p:cNvPr>
            <p:cNvSpPr/>
            <p:nvPr/>
          </p:nvSpPr>
          <p:spPr>
            <a:xfrm>
              <a:off x="14888519" y="-88734"/>
              <a:ext cx="2811899" cy="1925303"/>
            </a:xfrm>
            <a:custGeom>
              <a:avLst/>
              <a:gdLst/>
              <a:ahLst/>
              <a:cxnLst/>
              <a:rect l="l" t="t" r="r" b="b"/>
              <a:pathLst>
                <a:path w="2852" h="1955" extrusionOk="0">
                  <a:moveTo>
                    <a:pt x="0" y="0"/>
                  </a:moveTo>
                  <a:lnTo>
                    <a:pt x="2851" y="1954"/>
                  </a:lnTo>
                  <a:lnTo>
                    <a:pt x="2779" y="0"/>
                  </a:lnTo>
                  <a:lnTo>
                    <a:pt x="0" y="0"/>
                  </a:lnTo>
                </a:path>
              </a:pathLst>
            </a:custGeom>
            <a:solidFill>
              <a:schemeClr val="accent3"/>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40" name="Google Shape;124;p1">
              <a:extLst>
                <a:ext uri="{FF2B5EF4-FFF2-40B4-BE49-F238E27FC236}">
                  <a16:creationId xmlns:a16="http://schemas.microsoft.com/office/drawing/2014/main" id="{55EF2CDB-7556-4900-84FF-84813CB7678F}"/>
                </a:ext>
              </a:extLst>
            </p:cNvPr>
            <p:cNvSpPr/>
            <p:nvPr/>
          </p:nvSpPr>
          <p:spPr>
            <a:xfrm>
              <a:off x="13589856" y="-88970"/>
              <a:ext cx="4137447" cy="3520308"/>
            </a:xfrm>
            <a:custGeom>
              <a:avLst/>
              <a:gdLst/>
              <a:ahLst/>
              <a:cxnLst/>
              <a:rect l="l" t="t" r="r" b="b"/>
              <a:pathLst>
                <a:path w="4196" h="3572" extrusionOk="0">
                  <a:moveTo>
                    <a:pt x="0" y="0"/>
                  </a:moveTo>
                  <a:lnTo>
                    <a:pt x="1886" y="3571"/>
                  </a:lnTo>
                  <a:lnTo>
                    <a:pt x="4195" y="1954"/>
                  </a:lnTo>
                  <a:lnTo>
                    <a:pt x="1344" y="0"/>
                  </a:lnTo>
                  <a:lnTo>
                    <a:pt x="0" y="0"/>
                  </a:lnTo>
                </a:path>
              </a:pathLst>
            </a:custGeom>
            <a:solidFill>
              <a:srgbClr val="78E0E6"/>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41" name="Google Shape;125;p1">
              <a:extLst>
                <a:ext uri="{FF2B5EF4-FFF2-40B4-BE49-F238E27FC236}">
                  <a16:creationId xmlns:a16="http://schemas.microsoft.com/office/drawing/2014/main" id="{E2979153-CDD2-41D9-B0A6-A4CB8882B62D}"/>
                </a:ext>
              </a:extLst>
            </p:cNvPr>
            <p:cNvSpPr/>
            <p:nvPr/>
          </p:nvSpPr>
          <p:spPr>
            <a:xfrm>
              <a:off x="11104147" y="-111272"/>
              <a:ext cx="4346058" cy="3520308"/>
            </a:xfrm>
            <a:custGeom>
              <a:avLst/>
              <a:gdLst/>
              <a:ahLst/>
              <a:cxnLst/>
              <a:rect l="l" t="t" r="r" b="b"/>
              <a:pathLst>
                <a:path w="4408" h="3572" extrusionOk="0">
                  <a:moveTo>
                    <a:pt x="965" y="0"/>
                  </a:moveTo>
                  <a:lnTo>
                    <a:pt x="0" y="1760"/>
                  </a:lnTo>
                  <a:lnTo>
                    <a:pt x="4407" y="3571"/>
                  </a:lnTo>
                  <a:lnTo>
                    <a:pt x="2521" y="0"/>
                  </a:lnTo>
                  <a:lnTo>
                    <a:pt x="965" y="0"/>
                  </a:lnTo>
                </a:path>
              </a:pathLst>
            </a:custGeom>
            <a:solidFill>
              <a:schemeClr val="accent2"/>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42" name="Google Shape;126;p1">
              <a:extLst>
                <a:ext uri="{FF2B5EF4-FFF2-40B4-BE49-F238E27FC236}">
                  <a16:creationId xmlns:a16="http://schemas.microsoft.com/office/drawing/2014/main" id="{104D5398-B0C1-419D-A6EB-147289075015}"/>
                </a:ext>
              </a:extLst>
            </p:cNvPr>
            <p:cNvSpPr/>
            <p:nvPr/>
          </p:nvSpPr>
          <p:spPr>
            <a:xfrm>
              <a:off x="9793019" y="-88970"/>
              <a:ext cx="369415" cy="195571"/>
            </a:xfrm>
            <a:custGeom>
              <a:avLst/>
              <a:gdLst/>
              <a:ahLst/>
              <a:cxnLst/>
              <a:rect l="l" t="t" r="r" b="b"/>
              <a:pathLst>
                <a:path w="374" h="198" extrusionOk="0">
                  <a:moveTo>
                    <a:pt x="112" y="0"/>
                  </a:moveTo>
                  <a:lnTo>
                    <a:pt x="0" y="197"/>
                  </a:lnTo>
                  <a:lnTo>
                    <a:pt x="373" y="0"/>
                  </a:lnTo>
                  <a:lnTo>
                    <a:pt x="112" y="0"/>
                  </a:lnTo>
                </a:path>
              </a:pathLst>
            </a:custGeom>
            <a:solidFill>
              <a:srgbClr val="146899"/>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43" name="Google Shape;127;p1">
              <a:extLst>
                <a:ext uri="{FF2B5EF4-FFF2-40B4-BE49-F238E27FC236}">
                  <a16:creationId xmlns:a16="http://schemas.microsoft.com/office/drawing/2014/main" id="{2B559EEB-BAE3-4F40-A2F7-0D3CED5C2E12}"/>
                </a:ext>
              </a:extLst>
            </p:cNvPr>
            <p:cNvSpPr/>
            <p:nvPr/>
          </p:nvSpPr>
          <p:spPr>
            <a:xfrm>
              <a:off x="9698211" y="-88970"/>
              <a:ext cx="225996" cy="195571"/>
            </a:xfrm>
            <a:custGeom>
              <a:avLst/>
              <a:gdLst/>
              <a:ahLst/>
              <a:cxnLst/>
              <a:rect l="l" t="t" r="r" b="b"/>
              <a:pathLst>
                <a:path w="231" h="198" extrusionOk="0">
                  <a:moveTo>
                    <a:pt x="0" y="0"/>
                  </a:moveTo>
                  <a:lnTo>
                    <a:pt x="118" y="197"/>
                  </a:lnTo>
                  <a:lnTo>
                    <a:pt x="230" y="0"/>
                  </a:lnTo>
                  <a:lnTo>
                    <a:pt x="0" y="0"/>
                  </a:lnTo>
                </a:path>
              </a:pathLst>
            </a:custGeom>
            <a:solidFill>
              <a:srgbClr val="146899"/>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44" name="Google Shape;128;p1">
              <a:extLst>
                <a:ext uri="{FF2B5EF4-FFF2-40B4-BE49-F238E27FC236}">
                  <a16:creationId xmlns:a16="http://schemas.microsoft.com/office/drawing/2014/main" id="{B275685A-EEFC-41A3-A392-C1EB9E4021C5}"/>
                </a:ext>
              </a:extLst>
            </p:cNvPr>
            <p:cNvSpPr/>
            <p:nvPr/>
          </p:nvSpPr>
          <p:spPr>
            <a:xfrm>
              <a:off x="8502000" y="61758"/>
              <a:ext cx="2646751" cy="2259950"/>
            </a:xfrm>
            <a:custGeom>
              <a:avLst/>
              <a:gdLst/>
              <a:ahLst/>
              <a:cxnLst/>
              <a:rect l="l" t="t" r="r" b="b"/>
              <a:pathLst>
                <a:path w="2686" h="2292" extrusionOk="0">
                  <a:moveTo>
                    <a:pt x="2685" y="1563"/>
                  </a:moveTo>
                  <a:lnTo>
                    <a:pt x="1308" y="0"/>
                  </a:lnTo>
                  <a:lnTo>
                    <a:pt x="0" y="2291"/>
                  </a:lnTo>
                  <a:lnTo>
                    <a:pt x="2685" y="1563"/>
                  </a:lnTo>
                </a:path>
              </a:pathLst>
            </a:custGeom>
            <a:solidFill>
              <a:schemeClr val="accent2"/>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45" name="Google Shape;129;p1">
              <a:extLst>
                <a:ext uri="{FF2B5EF4-FFF2-40B4-BE49-F238E27FC236}">
                  <a16:creationId xmlns:a16="http://schemas.microsoft.com/office/drawing/2014/main" id="{EA367648-423F-4768-B08E-A9FBD7F44ACF}"/>
                </a:ext>
              </a:extLst>
            </p:cNvPr>
            <p:cNvSpPr/>
            <p:nvPr/>
          </p:nvSpPr>
          <p:spPr>
            <a:xfrm>
              <a:off x="6821130" y="61996"/>
              <a:ext cx="2985743" cy="2259950"/>
            </a:xfrm>
            <a:custGeom>
              <a:avLst/>
              <a:gdLst/>
              <a:ahLst/>
              <a:cxnLst/>
              <a:rect l="l" t="t" r="r" b="b"/>
              <a:pathLst>
                <a:path w="3030" h="2292" extrusionOk="0">
                  <a:moveTo>
                    <a:pt x="3029" y="0"/>
                  </a:moveTo>
                  <a:lnTo>
                    <a:pt x="0" y="624"/>
                  </a:lnTo>
                  <a:lnTo>
                    <a:pt x="1721" y="2291"/>
                  </a:lnTo>
                  <a:lnTo>
                    <a:pt x="3029" y="0"/>
                  </a:lnTo>
                </a:path>
              </a:pathLst>
            </a:custGeom>
            <a:solidFill>
              <a:srgbClr val="146899"/>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46" name="Google Shape;130;p1">
              <a:extLst>
                <a:ext uri="{FF2B5EF4-FFF2-40B4-BE49-F238E27FC236}">
                  <a16:creationId xmlns:a16="http://schemas.microsoft.com/office/drawing/2014/main" id="{67737813-6300-4A52-9E75-28E7F210C293}"/>
                </a:ext>
              </a:extLst>
            </p:cNvPr>
            <p:cNvSpPr/>
            <p:nvPr/>
          </p:nvSpPr>
          <p:spPr>
            <a:xfrm>
              <a:off x="6829814" y="-88970"/>
              <a:ext cx="2985743" cy="808366"/>
            </a:xfrm>
            <a:custGeom>
              <a:avLst/>
              <a:gdLst/>
              <a:ahLst/>
              <a:cxnLst/>
              <a:rect l="l" t="t" r="r" b="b"/>
              <a:pathLst>
                <a:path w="3030" h="822" extrusionOk="0">
                  <a:moveTo>
                    <a:pt x="61" y="0"/>
                  </a:moveTo>
                  <a:lnTo>
                    <a:pt x="0" y="821"/>
                  </a:lnTo>
                  <a:lnTo>
                    <a:pt x="3029" y="197"/>
                  </a:lnTo>
                  <a:lnTo>
                    <a:pt x="2911" y="0"/>
                  </a:lnTo>
                  <a:lnTo>
                    <a:pt x="61" y="0"/>
                  </a:lnTo>
                </a:path>
              </a:pathLst>
            </a:custGeom>
            <a:solidFill>
              <a:srgbClr val="0D4566"/>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47" name="Google Shape;131;p1">
              <a:extLst>
                <a:ext uri="{FF2B5EF4-FFF2-40B4-BE49-F238E27FC236}">
                  <a16:creationId xmlns:a16="http://schemas.microsoft.com/office/drawing/2014/main" id="{D470A9EF-AE8F-40FB-B018-24DC247F5128}"/>
                </a:ext>
              </a:extLst>
            </p:cNvPr>
            <p:cNvSpPr/>
            <p:nvPr/>
          </p:nvSpPr>
          <p:spPr>
            <a:xfrm>
              <a:off x="5975275" y="-88970"/>
              <a:ext cx="943094" cy="808366"/>
            </a:xfrm>
            <a:custGeom>
              <a:avLst/>
              <a:gdLst/>
              <a:ahLst/>
              <a:cxnLst/>
              <a:rect l="l" t="t" r="r" b="b"/>
              <a:pathLst>
                <a:path w="955" h="822" extrusionOk="0">
                  <a:moveTo>
                    <a:pt x="0" y="0"/>
                  </a:moveTo>
                  <a:lnTo>
                    <a:pt x="893" y="821"/>
                  </a:lnTo>
                  <a:lnTo>
                    <a:pt x="954" y="0"/>
                  </a:lnTo>
                  <a:lnTo>
                    <a:pt x="0" y="0"/>
                  </a:lnTo>
                </a:path>
              </a:pathLst>
            </a:custGeom>
            <a:solidFill>
              <a:schemeClr val="accent1"/>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48" name="Google Shape;132;p1">
              <a:extLst>
                <a:ext uri="{FF2B5EF4-FFF2-40B4-BE49-F238E27FC236}">
                  <a16:creationId xmlns:a16="http://schemas.microsoft.com/office/drawing/2014/main" id="{611ECD62-D837-42E7-8FC3-02C28CCE8901}"/>
                </a:ext>
              </a:extLst>
            </p:cNvPr>
            <p:cNvSpPr/>
            <p:nvPr/>
          </p:nvSpPr>
          <p:spPr>
            <a:xfrm>
              <a:off x="5608571" y="674793"/>
              <a:ext cx="2916204" cy="1642810"/>
            </a:xfrm>
            <a:custGeom>
              <a:avLst/>
              <a:gdLst/>
              <a:ahLst/>
              <a:cxnLst/>
              <a:rect l="l" t="t" r="r" b="b"/>
              <a:pathLst>
                <a:path w="2959" h="1668" extrusionOk="0">
                  <a:moveTo>
                    <a:pt x="2958" y="1667"/>
                  </a:moveTo>
                  <a:lnTo>
                    <a:pt x="1237" y="0"/>
                  </a:lnTo>
                  <a:lnTo>
                    <a:pt x="0" y="1323"/>
                  </a:lnTo>
                  <a:lnTo>
                    <a:pt x="2958" y="1667"/>
                  </a:lnTo>
                </a:path>
              </a:pathLst>
            </a:custGeom>
            <a:solidFill>
              <a:schemeClr val="accent2"/>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49" name="Google Shape;133;p1">
              <a:extLst>
                <a:ext uri="{FF2B5EF4-FFF2-40B4-BE49-F238E27FC236}">
                  <a16:creationId xmlns:a16="http://schemas.microsoft.com/office/drawing/2014/main" id="{7DCEF93A-4BB7-4135-9268-291C303957F7}"/>
                </a:ext>
              </a:extLst>
            </p:cNvPr>
            <p:cNvSpPr/>
            <p:nvPr/>
          </p:nvSpPr>
          <p:spPr>
            <a:xfrm>
              <a:off x="5092201" y="-155877"/>
              <a:ext cx="1760153" cy="2112184"/>
            </a:xfrm>
            <a:custGeom>
              <a:avLst/>
              <a:gdLst/>
              <a:ahLst/>
              <a:cxnLst/>
              <a:rect l="l" t="t" r="r" b="b"/>
              <a:pathLst>
                <a:path w="1787" h="2145" extrusionOk="0">
                  <a:moveTo>
                    <a:pt x="0" y="0"/>
                  </a:moveTo>
                  <a:lnTo>
                    <a:pt x="549" y="2144"/>
                  </a:lnTo>
                  <a:lnTo>
                    <a:pt x="1786" y="821"/>
                  </a:lnTo>
                  <a:lnTo>
                    <a:pt x="893" y="0"/>
                  </a:lnTo>
                  <a:lnTo>
                    <a:pt x="0" y="0"/>
                  </a:lnTo>
                </a:path>
              </a:pathLst>
            </a:custGeom>
            <a:solidFill>
              <a:schemeClr val="accent1"/>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50" name="Google Shape;134;p1">
              <a:extLst>
                <a:ext uri="{FF2B5EF4-FFF2-40B4-BE49-F238E27FC236}">
                  <a16:creationId xmlns:a16="http://schemas.microsoft.com/office/drawing/2014/main" id="{0A36BED8-092A-47AC-8C1F-5B832ED8ED15}"/>
                </a:ext>
              </a:extLst>
            </p:cNvPr>
            <p:cNvSpPr/>
            <p:nvPr/>
          </p:nvSpPr>
          <p:spPr>
            <a:xfrm>
              <a:off x="443059" y="190760"/>
              <a:ext cx="5232654" cy="2977052"/>
            </a:xfrm>
            <a:custGeom>
              <a:avLst/>
              <a:gdLst/>
              <a:ahLst/>
              <a:cxnLst/>
              <a:rect l="l" t="t" r="r" b="b"/>
              <a:pathLst>
                <a:path w="5311" h="3020" extrusionOk="0">
                  <a:moveTo>
                    <a:pt x="5310" y="1771"/>
                  </a:moveTo>
                  <a:lnTo>
                    <a:pt x="853" y="0"/>
                  </a:lnTo>
                  <a:lnTo>
                    <a:pt x="0" y="3019"/>
                  </a:lnTo>
                  <a:lnTo>
                    <a:pt x="5310" y="1771"/>
                  </a:lnTo>
                </a:path>
              </a:pathLst>
            </a:custGeom>
            <a:solidFill>
              <a:srgbClr val="0A2C5B"/>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51" name="Google Shape;135;p1">
              <a:extLst>
                <a:ext uri="{FF2B5EF4-FFF2-40B4-BE49-F238E27FC236}">
                  <a16:creationId xmlns:a16="http://schemas.microsoft.com/office/drawing/2014/main" id="{68B8E67A-1629-4360-8A77-F51D1DF51DA6}"/>
                </a:ext>
              </a:extLst>
            </p:cNvPr>
            <p:cNvSpPr/>
            <p:nvPr/>
          </p:nvSpPr>
          <p:spPr>
            <a:xfrm>
              <a:off x="1264131" y="-156113"/>
              <a:ext cx="4393864" cy="2112184"/>
            </a:xfrm>
            <a:custGeom>
              <a:avLst/>
              <a:gdLst/>
              <a:ahLst/>
              <a:cxnLst/>
              <a:rect l="l" t="t" r="r" b="b"/>
              <a:pathLst>
                <a:path w="4458" h="2145" extrusionOk="0">
                  <a:moveTo>
                    <a:pt x="936" y="0"/>
                  </a:moveTo>
                  <a:lnTo>
                    <a:pt x="0" y="373"/>
                  </a:lnTo>
                  <a:lnTo>
                    <a:pt x="4457" y="2144"/>
                  </a:lnTo>
                  <a:lnTo>
                    <a:pt x="3908" y="0"/>
                  </a:lnTo>
                  <a:lnTo>
                    <a:pt x="936" y="0"/>
                  </a:lnTo>
                </a:path>
              </a:pathLst>
            </a:custGeom>
            <a:solidFill>
              <a:srgbClr val="104388"/>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52" name="Google Shape;136;p1">
              <a:extLst>
                <a:ext uri="{FF2B5EF4-FFF2-40B4-BE49-F238E27FC236}">
                  <a16:creationId xmlns:a16="http://schemas.microsoft.com/office/drawing/2014/main" id="{F68737E8-D519-4406-90C4-D6F06B9C0003}"/>
                </a:ext>
              </a:extLst>
            </p:cNvPr>
            <p:cNvSpPr/>
            <p:nvPr/>
          </p:nvSpPr>
          <p:spPr>
            <a:xfrm>
              <a:off x="1264131" y="-133574"/>
              <a:ext cx="921364" cy="369415"/>
            </a:xfrm>
            <a:custGeom>
              <a:avLst/>
              <a:gdLst/>
              <a:ahLst/>
              <a:cxnLst/>
              <a:rect l="l" t="t" r="r" b="b"/>
              <a:pathLst>
                <a:path w="937" h="374" extrusionOk="0">
                  <a:moveTo>
                    <a:pt x="72" y="0"/>
                  </a:moveTo>
                  <a:lnTo>
                    <a:pt x="0" y="373"/>
                  </a:lnTo>
                  <a:lnTo>
                    <a:pt x="936" y="0"/>
                  </a:lnTo>
                  <a:lnTo>
                    <a:pt x="72" y="0"/>
                  </a:lnTo>
                </a:path>
              </a:pathLst>
            </a:custGeom>
            <a:solidFill>
              <a:schemeClr val="accent1"/>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53" name="Google Shape;137;p1">
              <a:extLst>
                <a:ext uri="{FF2B5EF4-FFF2-40B4-BE49-F238E27FC236}">
                  <a16:creationId xmlns:a16="http://schemas.microsoft.com/office/drawing/2014/main" id="{6ED8A37F-55E2-4FE8-ABC7-E949B51F8D1A}"/>
                </a:ext>
              </a:extLst>
            </p:cNvPr>
            <p:cNvSpPr/>
            <p:nvPr/>
          </p:nvSpPr>
          <p:spPr>
            <a:xfrm>
              <a:off x="734484" y="-133574"/>
              <a:ext cx="621488" cy="369415"/>
            </a:xfrm>
            <a:custGeom>
              <a:avLst/>
              <a:gdLst/>
              <a:ahLst/>
              <a:cxnLst/>
              <a:rect l="l" t="t" r="r" b="b"/>
              <a:pathLst>
                <a:path w="629" h="374" extrusionOk="0">
                  <a:moveTo>
                    <a:pt x="0" y="0"/>
                  </a:moveTo>
                  <a:lnTo>
                    <a:pt x="556" y="373"/>
                  </a:lnTo>
                  <a:lnTo>
                    <a:pt x="628" y="0"/>
                  </a:lnTo>
                  <a:lnTo>
                    <a:pt x="0" y="0"/>
                  </a:lnTo>
                </a:path>
              </a:pathLst>
            </a:custGeom>
            <a:solidFill>
              <a:schemeClr val="accent1"/>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54" name="Google Shape;138;p1">
              <a:extLst>
                <a:ext uri="{FF2B5EF4-FFF2-40B4-BE49-F238E27FC236}">
                  <a16:creationId xmlns:a16="http://schemas.microsoft.com/office/drawing/2014/main" id="{7E3835C1-11DB-41F7-8B34-8BDCE2A5FBC4}"/>
                </a:ext>
              </a:extLst>
            </p:cNvPr>
            <p:cNvSpPr/>
            <p:nvPr/>
          </p:nvSpPr>
          <p:spPr>
            <a:xfrm>
              <a:off x="0" y="885559"/>
              <a:ext cx="447642" cy="2259950"/>
            </a:xfrm>
            <a:custGeom>
              <a:avLst/>
              <a:gdLst/>
              <a:ahLst/>
              <a:cxnLst/>
              <a:rect l="l" t="t" r="r" b="b"/>
              <a:pathLst>
                <a:path w="453" h="2292" extrusionOk="0">
                  <a:moveTo>
                    <a:pt x="0" y="2104"/>
                  </a:moveTo>
                  <a:lnTo>
                    <a:pt x="452" y="2291"/>
                  </a:lnTo>
                  <a:lnTo>
                    <a:pt x="0" y="0"/>
                  </a:lnTo>
                  <a:lnTo>
                    <a:pt x="0" y="2104"/>
                  </a:lnTo>
                </a:path>
              </a:pathLst>
            </a:custGeom>
            <a:solidFill>
              <a:srgbClr val="0A2C5B"/>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55" name="Google Shape;139;p1">
              <a:extLst>
                <a:ext uri="{FF2B5EF4-FFF2-40B4-BE49-F238E27FC236}">
                  <a16:creationId xmlns:a16="http://schemas.microsoft.com/office/drawing/2014/main" id="{47D9CAF8-3064-4669-83AD-85B32A0FBD60}"/>
                </a:ext>
              </a:extLst>
            </p:cNvPr>
            <p:cNvSpPr/>
            <p:nvPr/>
          </p:nvSpPr>
          <p:spPr>
            <a:xfrm>
              <a:off x="0" y="-156114"/>
              <a:ext cx="1286433" cy="3342117"/>
            </a:xfrm>
            <a:custGeom>
              <a:avLst/>
              <a:gdLst/>
              <a:ahLst/>
              <a:cxnLst/>
              <a:rect l="l" t="t" r="r" b="b"/>
              <a:pathLst>
                <a:path w="1306" h="3393" extrusionOk="0">
                  <a:moveTo>
                    <a:pt x="0" y="0"/>
                  </a:moveTo>
                  <a:lnTo>
                    <a:pt x="0" y="1101"/>
                  </a:lnTo>
                  <a:lnTo>
                    <a:pt x="452" y="3392"/>
                  </a:lnTo>
                  <a:lnTo>
                    <a:pt x="1305" y="373"/>
                  </a:lnTo>
                  <a:lnTo>
                    <a:pt x="749" y="0"/>
                  </a:lnTo>
                  <a:lnTo>
                    <a:pt x="0" y="0"/>
                  </a:lnTo>
                </a:path>
              </a:pathLst>
            </a:custGeom>
            <a:solidFill>
              <a:srgbClr val="104388"/>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56" name="Google Shape;140;p1">
              <a:extLst>
                <a:ext uri="{FF2B5EF4-FFF2-40B4-BE49-F238E27FC236}">
                  <a16:creationId xmlns:a16="http://schemas.microsoft.com/office/drawing/2014/main" id="{D560A8FC-5A60-43BD-9761-F263F65DF276}"/>
                </a:ext>
              </a:extLst>
            </p:cNvPr>
            <p:cNvSpPr/>
            <p:nvPr/>
          </p:nvSpPr>
          <p:spPr>
            <a:xfrm>
              <a:off x="8462804" y="1591817"/>
              <a:ext cx="6988462" cy="1786231"/>
            </a:xfrm>
            <a:custGeom>
              <a:avLst/>
              <a:gdLst/>
              <a:ahLst/>
              <a:cxnLst/>
              <a:rect l="l" t="t" r="r" b="b"/>
              <a:pathLst>
                <a:path w="7093" h="1812" extrusionOk="0">
                  <a:moveTo>
                    <a:pt x="7092" y="1811"/>
                  </a:moveTo>
                  <a:lnTo>
                    <a:pt x="0" y="728"/>
                  </a:lnTo>
                  <a:lnTo>
                    <a:pt x="2685" y="0"/>
                  </a:lnTo>
                  <a:lnTo>
                    <a:pt x="7092" y="1811"/>
                  </a:lnTo>
                </a:path>
              </a:pathLst>
            </a:custGeom>
            <a:solidFill>
              <a:srgbClr val="146899"/>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57" name="Google Shape;141;p1">
              <a:extLst>
                <a:ext uri="{FF2B5EF4-FFF2-40B4-BE49-F238E27FC236}">
                  <a16:creationId xmlns:a16="http://schemas.microsoft.com/office/drawing/2014/main" id="{C2706756-BDEB-459E-8C89-266F86F4B54F}"/>
                </a:ext>
              </a:extLst>
            </p:cNvPr>
            <p:cNvSpPr/>
            <p:nvPr/>
          </p:nvSpPr>
          <p:spPr>
            <a:xfrm>
              <a:off x="9776123" y="-125128"/>
              <a:ext cx="2307757" cy="1734076"/>
            </a:xfrm>
            <a:custGeom>
              <a:avLst/>
              <a:gdLst/>
              <a:ahLst/>
              <a:cxnLst/>
              <a:rect l="l" t="t" r="r" b="b"/>
              <a:pathLst>
                <a:path w="2343" h="1761" extrusionOk="0">
                  <a:moveTo>
                    <a:pt x="373" y="0"/>
                  </a:moveTo>
                  <a:lnTo>
                    <a:pt x="0" y="197"/>
                  </a:lnTo>
                  <a:lnTo>
                    <a:pt x="1377" y="1760"/>
                  </a:lnTo>
                  <a:lnTo>
                    <a:pt x="2342" y="0"/>
                  </a:lnTo>
                  <a:lnTo>
                    <a:pt x="373" y="0"/>
                  </a:lnTo>
                </a:path>
              </a:pathLst>
            </a:custGeom>
            <a:solidFill>
              <a:srgbClr val="146899"/>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grpSp>
      <p:sp>
        <p:nvSpPr>
          <p:cNvPr id="58" name="Google Shape;114;p1">
            <a:extLst>
              <a:ext uri="{FF2B5EF4-FFF2-40B4-BE49-F238E27FC236}">
                <a16:creationId xmlns:a16="http://schemas.microsoft.com/office/drawing/2014/main" id="{C72E8932-F82C-443D-B44A-40C21227ACE2}"/>
              </a:ext>
            </a:extLst>
          </p:cNvPr>
          <p:cNvSpPr txBox="1"/>
          <p:nvPr/>
        </p:nvSpPr>
        <p:spPr>
          <a:xfrm>
            <a:off x="3250650" y="2187992"/>
            <a:ext cx="5458899" cy="1846660"/>
          </a:xfrm>
          <a:prstGeom prst="rect">
            <a:avLst/>
          </a:prstGeom>
          <a:noFill/>
          <a:ln>
            <a:noFill/>
          </a:ln>
        </p:spPr>
        <p:txBody>
          <a:bodyPr spcFirstLastPara="1" wrap="square" lIns="45700" tIns="22850" rIns="45700" bIns="22850" anchor="t" anchorCtr="0">
            <a:noAutofit/>
          </a:bodyPr>
          <a:lstStyle/>
          <a:p>
            <a:pPr marL="0" marR="0" lvl="0" indent="0" algn="ctr" rtl="0">
              <a:spcBef>
                <a:spcPts val="0"/>
              </a:spcBef>
              <a:spcAft>
                <a:spcPts val="0"/>
              </a:spcAft>
              <a:buNone/>
            </a:pPr>
            <a:r>
              <a:rPr lang="en-US" sz="5851" b="1" i="0" u="none" strike="noStrike" cap="none" dirty="0">
                <a:solidFill>
                  <a:schemeClr val="dk1"/>
                </a:solidFill>
                <a:latin typeface="Arial"/>
                <a:ea typeface="Arial"/>
                <a:cs typeface="Arial"/>
                <a:sym typeface="Arial"/>
              </a:rPr>
              <a:t>Cyber Security</a:t>
            </a:r>
            <a:endParaRPr sz="900" b="0" i="0" u="none" strike="noStrike" cap="none" dirty="0">
              <a:solidFill>
                <a:schemeClr val="dk1"/>
              </a:solidFill>
              <a:latin typeface="Arial"/>
              <a:ea typeface="Arial"/>
              <a:cs typeface="Arial"/>
              <a:sym typeface="Arial"/>
            </a:endParaRPr>
          </a:p>
          <a:p>
            <a:pPr marL="0" marR="0" lvl="0" indent="0" algn="ctr" rtl="0">
              <a:spcBef>
                <a:spcPts val="0"/>
              </a:spcBef>
              <a:spcAft>
                <a:spcPts val="0"/>
              </a:spcAft>
              <a:buNone/>
            </a:pPr>
            <a:r>
              <a:rPr lang="en-US" sz="5851" b="1" i="0" u="none" strike="noStrike" cap="none" dirty="0">
                <a:solidFill>
                  <a:schemeClr val="dk1"/>
                </a:solidFill>
                <a:latin typeface="Arial"/>
                <a:ea typeface="Arial"/>
                <a:cs typeface="Arial"/>
                <a:sym typeface="Arial"/>
              </a:rPr>
              <a:t>Workshop</a:t>
            </a:r>
            <a:endParaRPr sz="900" b="0" i="0" u="none" strike="noStrike" cap="none" dirty="0">
              <a:solidFill>
                <a:schemeClr val="dk1"/>
              </a:solidFill>
              <a:latin typeface="Arial"/>
              <a:ea typeface="Arial"/>
              <a:cs typeface="Arial"/>
              <a:sym typeface="Arial"/>
            </a:endParaRPr>
          </a:p>
        </p:txBody>
      </p:sp>
      <p:sp>
        <p:nvSpPr>
          <p:cNvPr id="59" name="Google Shape;115;p1">
            <a:extLst>
              <a:ext uri="{FF2B5EF4-FFF2-40B4-BE49-F238E27FC236}">
                <a16:creationId xmlns:a16="http://schemas.microsoft.com/office/drawing/2014/main" id="{F3ACB002-2807-496D-B2FF-B7CB7F8000AD}"/>
              </a:ext>
            </a:extLst>
          </p:cNvPr>
          <p:cNvSpPr txBox="1"/>
          <p:nvPr/>
        </p:nvSpPr>
        <p:spPr>
          <a:xfrm>
            <a:off x="2978880" y="4107172"/>
            <a:ext cx="6234239" cy="292388"/>
          </a:xfrm>
          <a:prstGeom prst="rect">
            <a:avLst/>
          </a:prstGeom>
          <a:noFill/>
          <a:ln>
            <a:noFill/>
          </a:ln>
        </p:spPr>
        <p:txBody>
          <a:bodyPr spcFirstLastPara="1" wrap="square" lIns="45700" tIns="22850" rIns="45700" bIns="22850" anchor="t" anchorCtr="0">
            <a:noAutofit/>
          </a:bodyPr>
          <a:lstStyle/>
          <a:p>
            <a:pPr marL="0" marR="0" lvl="0" indent="0" algn="ctr" rtl="0">
              <a:spcBef>
                <a:spcPts val="0"/>
              </a:spcBef>
              <a:spcAft>
                <a:spcPts val="0"/>
              </a:spcAft>
              <a:buNone/>
            </a:pPr>
            <a:r>
              <a:rPr lang="en-US" sz="1600" b="0" i="0" u="none" strike="noStrike" cap="none" dirty="0">
                <a:solidFill>
                  <a:schemeClr val="dk1"/>
                </a:solidFill>
                <a:latin typeface="Arial"/>
                <a:ea typeface="Arial"/>
                <a:cs typeface="Arial"/>
                <a:sym typeface="Arial"/>
              </a:rPr>
              <a:t>SCHOOL OF COMPUTER SCIENCE &amp; ENGINEERING</a:t>
            </a:r>
            <a:endParaRPr sz="9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
          <p:cNvSpPr/>
          <p:nvPr/>
        </p:nvSpPr>
        <p:spPr>
          <a:xfrm>
            <a:off x="1588" y="0"/>
            <a:ext cx="4123427" cy="6858000"/>
          </a:xfrm>
          <a:prstGeom prst="rect">
            <a:avLst/>
          </a:prstGeom>
          <a:solidFill>
            <a:srgbClr val="0A2C5B"/>
          </a:solidFill>
          <a:ln>
            <a:noFill/>
          </a:ln>
        </p:spPr>
        <p:txBody>
          <a:bodyPr spcFirstLastPara="1" wrap="square" lIns="45700" tIns="22850" rIns="45700" bIns="228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A2C5B"/>
              </a:solidFill>
              <a:latin typeface="Arial"/>
              <a:ea typeface="Arial"/>
              <a:cs typeface="Arial"/>
              <a:sym typeface="Arial"/>
            </a:endParaRPr>
          </a:p>
        </p:txBody>
      </p:sp>
      <p:sp>
        <p:nvSpPr>
          <p:cNvPr id="149" name="Google Shape;149;p2"/>
          <p:cNvSpPr txBox="1"/>
          <p:nvPr/>
        </p:nvSpPr>
        <p:spPr>
          <a:xfrm>
            <a:off x="427975" y="2944252"/>
            <a:ext cx="3270651" cy="969496"/>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6000"/>
              <a:buFont typeface="Arial"/>
              <a:buNone/>
            </a:pPr>
            <a:r>
              <a:rPr lang="en-US" sz="6000" b="0" i="0" u="none" strike="noStrike" cap="none" dirty="0">
                <a:solidFill>
                  <a:schemeClr val="lt1"/>
                </a:solidFill>
                <a:latin typeface="Arial"/>
                <a:ea typeface="Arial"/>
                <a:cs typeface="Arial"/>
                <a:sym typeface="Arial"/>
              </a:rPr>
              <a:t>Schedule</a:t>
            </a:r>
            <a:endParaRPr sz="900" b="0" i="0" u="none" strike="noStrike" cap="none" dirty="0">
              <a:solidFill>
                <a:schemeClr val="dk1"/>
              </a:solidFill>
              <a:latin typeface="Arial"/>
              <a:ea typeface="Arial"/>
              <a:cs typeface="Arial"/>
              <a:sym typeface="Arial"/>
            </a:endParaRPr>
          </a:p>
        </p:txBody>
      </p:sp>
      <p:graphicFrame>
        <p:nvGraphicFramePr>
          <p:cNvPr id="150" name="Google Shape;150;p2"/>
          <p:cNvGraphicFramePr/>
          <p:nvPr>
            <p:extLst>
              <p:ext uri="{D42A27DB-BD31-4B8C-83A1-F6EECF244321}">
                <p14:modId xmlns:p14="http://schemas.microsoft.com/office/powerpoint/2010/main" val="1448288476"/>
              </p:ext>
            </p:extLst>
          </p:nvPr>
        </p:nvGraphicFramePr>
        <p:xfrm>
          <a:off x="4689734" y="348011"/>
          <a:ext cx="6980563" cy="5462731"/>
        </p:xfrm>
        <a:graphic>
          <a:graphicData uri="http://schemas.openxmlformats.org/drawingml/2006/table">
            <a:tbl>
              <a:tblPr>
                <a:noFill/>
                <a:tableStyleId>{561C70D6-4475-436F-AB0F-9BE605A6DA2A}</a:tableStyleId>
              </a:tblPr>
              <a:tblGrid>
                <a:gridCol w="2212051">
                  <a:extLst>
                    <a:ext uri="{9D8B030D-6E8A-4147-A177-3AD203B41FA5}">
                      <a16:colId xmlns:a16="http://schemas.microsoft.com/office/drawing/2014/main" val="20000"/>
                    </a:ext>
                  </a:extLst>
                </a:gridCol>
                <a:gridCol w="4768512">
                  <a:extLst>
                    <a:ext uri="{9D8B030D-6E8A-4147-A177-3AD203B41FA5}">
                      <a16:colId xmlns:a16="http://schemas.microsoft.com/office/drawing/2014/main" val="20001"/>
                    </a:ext>
                  </a:extLst>
                </a:gridCol>
              </a:tblGrid>
              <a:tr h="355987">
                <a:tc>
                  <a:txBody>
                    <a:bodyPr/>
                    <a:lstStyle/>
                    <a:p>
                      <a:pPr marL="0" marR="0" lvl="0" indent="0" algn="ctr" rtl="0">
                        <a:lnSpc>
                          <a:spcPct val="100000"/>
                        </a:lnSpc>
                        <a:spcBef>
                          <a:spcPts val="0"/>
                        </a:spcBef>
                        <a:spcAft>
                          <a:spcPts val="0"/>
                        </a:spcAft>
                        <a:buClr>
                          <a:schemeClr val="lt1"/>
                        </a:buClr>
                        <a:buSzPts val="2000"/>
                        <a:buFont typeface="Quattrocento Sans"/>
                        <a:buNone/>
                      </a:pPr>
                      <a:r>
                        <a:rPr lang="en-US" sz="2000" b="1" i="0" u="none" strike="noStrike" cap="none">
                          <a:solidFill>
                            <a:schemeClr val="lt1"/>
                          </a:solidFill>
                          <a:latin typeface="Arial"/>
                          <a:ea typeface="Arial"/>
                          <a:cs typeface="Arial"/>
                          <a:sym typeface="Arial"/>
                        </a:rPr>
                        <a:t>TIME</a:t>
                      </a:r>
                      <a:endParaRPr sz="2000" b="1" i="0" u="none" strike="noStrike" cap="none">
                        <a:solidFill>
                          <a:schemeClr val="lt1"/>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32A1A6"/>
                    </a:solidFill>
                  </a:tcPr>
                </a:tc>
                <a:tc>
                  <a:txBody>
                    <a:bodyPr/>
                    <a:lstStyle/>
                    <a:p>
                      <a:pPr marL="0" marR="0" lvl="0" indent="0" algn="ctr" rtl="0">
                        <a:lnSpc>
                          <a:spcPct val="100000"/>
                        </a:lnSpc>
                        <a:spcBef>
                          <a:spcPts val="0"/>
                        </a:spcBef>
                        <a:spcAft>
                          <a:spcPts val="0"/>
                        </a:spcAft>
                        <a:buClr>
                          <a:schemeClr val="lt1"/>
                        </a:buClr>
                        <a:buSzPts val="2000"/>
                        <a:buFont typeface="Quattrocento Sans"/>
                        <a:buNone/>
                      </a:pPr>
                      <a:r>
                        <a:rPr lang="en-US" sz="2000" b="1" u="none" strike="noStrike" cap="none">
                          <a:solidFill>
                            <a:schemeClr val="lt1"/>
                          </a:solidFill>
                          <a:latin typeface="Arial"/>
                          <a:ea typeface="Arial"/>
                          <a:cs typeface="Arial"/>
                          <a:sym typeface="Arial"/>
                        </a:rPr>
                        <a:t>SCHEDULE</a:t>
                      </a:r>
                      <a:endParaRPr sz="2000" b="1" u="none" strike="noStrike" cap="none">
                        <a:solidFill>
                          <a:schemeClr val="lt1"/>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32A1A6"/>
                    </a:solidFill>
                  </a:tcPr>
                </a:tc>
                <a:extLst>
                  <a:ext uri="{0D108BD9-81ED-4DB2-BD59-A6C34878D82A}">
                    <a16:rowId xmlns:a16="http://schemas.microsoft.com/office/drawing/2014/main" val="10000"/>
                  </a:ext>
                </a:extLst>
              </a:tr>
              <a:tr h="477731">
                <a:tc>
                  <a:txBody>
                    <a:bodyPr/>
                    <a:lstStyle/>
                    <a:p>
                      <a:pPr marL="0" marR="0" lvl="0" indent="0" algn="ctr" rtl="0">
                        <a:lnSpc>
                          <a:spcPct val="100000"/>
                        </a:lnSpc>
                        <a:spcBef>
                          <a:spcPts val="0"/>
                        </a:spcBef>
                        <a:spcAft>
                          <a:spcPts val="0"/>
                        </a:spcAft>
                        <a:buClr>
                          <a:srgbClr val="002060"/>
                        </a:buClr>
                        <a:buSzPts val="1800"/>
                        <a:buFont typeface="Quattrocento Sans"/>
                        <a:buNone/>
                      </a:pPr>
                      <a:r>
                        <a:rPr lang="en-US" sz="1900" b="1" u="none" strike="noStrike" cap="none" dirty="0">
                          <a:solidFill>
                            <a:srgbClr val="002060"/>
                          </a:solidFill>
                          <a:latin typeface="Arial"/>
                          <a:ea typeface="Arial"/>
                          <a:cs typeface="Arial"/>
                          <a:sym typeface="Arial"/>
                        </a:rPr>
                        <a:t>0925 – 0930</a:t>
                      </a:r>
                      <a:endParaRPr sz="1900" b="1" u="none" strike="noStrike" cap="none" dirty="0">
                        <a:solidFill>
                          <a:srgbClr val="002060"/>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28627"/>
                      </a:schemeClr>
                    </a:solidFill>
                  </a:tcPr>
                </a:tc>
                <a:tc>
                  <a:txBody>
                    <a:bodyPr/>
                    <a:lstStyle/>
                    <a:p>
                      <a:pPr marL="0" marR="0" lvl="0" indent="0" algn="ctr" rtl="0">
                        <a:lnSpc>
                          <a:spcPct val="100000"/>
                        </a:lnSpc>
                        <a:spcBef>
                          <a:spcPts val="0"/>
                        </a:spcBef>
                        <a:spcAft>
                          <a:spcPts val="0"/>
                        </a:spcAft>
                        <a:buClr>
                          <a:schemeClr val="dk2"/>
                        </a:buClr>
                        <a:buSzPts val="1800"/>
                        <a:buFont typeface="Quattrocento Sans"/>
                        <a:buNone/>
                      </a:pPr>
                      <a:r>
                        <a:rPr lang="en-US" sz="1900" u="none" strike="noStrike" cap="none" dirty="0">
                          <a:solidFill>
                            <a:schemeClr val="dk2"/>
                          </a:solidFill>
                        </a:rPr>
                        <a:t>Join Zoom Call</a:t>
                      </a:r>
                      <a:endParaRPr sz="1900" i="0" u="none" strike="noStrike" cap="none" dirty="0">
                        <a:solidFill>
                          <a:schemeClr val="dk2"/>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02692">
                <a:tc>
                  <a:txBody>
                    <a:bodyPr/>
                    <a:lstStyle/>
                    <a:p>
                      <a:pPr marL="0" marR="0" lvl="0" indent="0" algn="ctr" rtl="0">
                        <a:lnSpc>
                          <a:spcPct val="100000"/>
                        </a:lnSpc>
                        <a:spcBef>
                          <a:spcPts val="0"/>
                        </a:spcBef>
                        <a:spcAft>
                          <a:spcPts val="0"/>
                        </a:spcAft>
                        <a:buClr>
                          <a:srgbClr val="002060"/>
                        </a:buClr>
                        <a:buSzPts val="1800"/>
                        <a:buFont typeface="Quattrocento Sans"/>
                        <a:buNone/>
                      </a:pPr>
                      <a:r>
                        <a:rPr lang="en-US" sz="1900" b="1" u="none" strike="noStrike" cap="none" dirty="0">
                          <a:solidFill>
                            <a:srgbClr val="002060"/>
                          </a:solidFill>
                          <a:latin typeface="Arial"/>
                          <a:ea typeface="Arial"/>
                          <a:cs typeface="Arial"/>
                          <a:sym typeface="Arial"/>
                        </a:rPr>
                        <a:t>09</a:t>
                      </a:r>
                      <a:r>
                        <a:rPr lang="en-US" sz="1900" b="1" u="none" strike="noStrike" cap="none" dirty="0">
                          <a:solidFill>
                            <a:srgbClr val="002060"/>
                          </a:solidFill>
                        </a:rPr>
                        <a:t>3</a:t>
                      </a:r>
                      <a:r>
                        <a:rPr lang="en-US" sz="1900" b="1" u="none" strike="noStrike" cap="none" dirty="0">
                          <a:solidFill>
                            <a:srgbClr val="002060"/>
                          </a:solidFill>
                          <a:latin typeface="Arial"/>
                          <a:cs typeface="Arial"/>
                          <a:sym typeface="Arial"/>
                        </a:rPr>
                        <a:t>0</a:t>
                      </a:r>
                      <a:r>
                        <a:rPr lang="en-US" sz="1900" b="1" u="none" strike="noStrike" cap="none" dirty="0">
                          <a:solidFill>
                            <a:srgbClr val="002060"/>
                          </a:solidFill>
                          <a:latin typeface="Arial"/>
                          <a:ea typeface="Arial"/>
                          <a:cs typeface="Arial"/>
                          <a:sym typeface="Arial"/>
                        </a:rPr>
                        <a:t> – 0935</a:t>
                      </a:r>
                      <a:endParaRPr sz="1900" b="1" u="none" strike="noStrike" cap="none" dirty="0">
                        <a:solidFill>
                          <a:srgbClr val="002060"/>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28627"/>
                      </a:schemeClr>
                    </a:solidFill>
                  </a:tcPr>
                </a:tc>
                <a:tc>
                  <a:txBody>
                    <a:bodyPr/>
                    <a:lstStyle/>
                    <a:p>
                      <a:pPr marL="0" marR="0" lvl="0" indent="0" algn="ctr" rtl="0">
                        <a:lnSpc>
                          <a:spcPct val="100000"/>
                        </a:lnSpc>
                        <a:spcBef>
                          <a:spcPts val="0"/>
                        </a:spcBef>
                        <a:spcAft>
                          <a:spcPts val="0"/>
                        </a:spcAft>
                        <a:buClr>
                          <a:schemeClr val="dk2"/>
                        </a:buClr>
                        <a:buSzPts val="1800"/>
                        <a:buFont typeface="Quattrocento Sans"/>
                        <a:buNone/>
                      </a:pPr>
                      <a:r>
                        <a:rPr lang="en-US" sz="1900" i="0" u="none" strike="noStrike" cap="none" dirty="0">
                          <a:solidFill>
                            <a:schemeClr val="dk2"/>
                          </a:solidFill>
                          <a:latin typeface="Arial"/>
                          <a:ea typeface="Arial"/>
                          <a:cs typeface="Arial"/>
                          <a:sym typeface="Arial"/>
                        </a:rPr>
                        <a:t>Administrative Matters </a:t>
                      </a:r>
                      <a:endParaRPr sz="1900" i="0" u="none" strike="noStrike" cap="none" dirty="0">
                        <a:solidFill>
                          <a:schemeClr val="dk2"/>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6">
                        <a:lumMod val="20000"/>
                        <a:lumOff val="80000"/>
                        <a:alpha val="8627"/>
                      </a:schemeClr>
                    </a:solidFill>
                  </a:tcPr>
                </a:tc>
                <a:extLst>
                  <a:ext uri="{0D108BD9-81ED-4DB2-BD59-A6C34878D82A}">
                    <a16:rowId xmlns:a16="http://schemas.microsoft.com/office/drawing/2014/main" val="10002"/>
                  </a:ext>
                </a:extLst>
              </a:tr>
              <a:tr h="712270">
                <a:tc>
                  <a:txBody>
                    <a:bodyPr/>
                    <a:lstStyle/>
                    <a:p>
                      <a:pPr marL="0" marR="0" lvl="0" indent="0" algn="ctr" rtl="0">
                        <a:lnSpc>
                          <a:spcPct val="100000"/>
                        </a:lnSpc>
                        <a:spcBef>
                          <a:spcPts val="0"/>
                        </a:spcBef>
                        <a:spcAft>
                          <a:spcPts val="0"/>
                        </a:spcAft>
                        <a:buClr>
                          <a:srgbClr val="002060"/>
                        </a:buClr>
                        <a:buSzPts val="1800"/>
                        <a:buFont typeface="Quattrocento Sans"/>
                        <a:buNone/>
                      </a:pPr>
                      <a:r>
                        <a:rPr lang="en-US" sz="1900" b="1" u="none" strike="noStrike" cap="none" dirty="0">
                          <a:solidFill>
                            <a:srgbClr val="002060"/>
                          </a:solidFill>
                          <a:latin typeface="Arial"/>
                          <a:ea typeface="Arial"/>
                          <a:cs typeface="Arial"/>
                          <a:sym typeface="Arial"/>
                        </a:rPr>
                        <a:t>0935 – 1000  </a:t>
                      </a:r>
                      <a:endParaRPr sz="1900" b="1" u="none" strike="noStrike" cap="none" dirty="0">
                        <a:solidFill>
                          <a:srgbClr val="002060"/>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28627"/>
                      </a:schemeClr>
                    </a:solidFill>
                  </a:tcPr>
                </a:tc>
                <a:tc>
                  <a:txBody>
                    <a:bodyPr/>
                    <a:lstStyle/>
                    <a:p>
                      <a:pPr marL="0" marR="0" lvl="0" indent="0" algn="ctr" rtl="0">
                        <a:lnSpc>
                          <a:spcPct val="100000"/>
                        </a:lnSpc>
                        <a:spcBef>
                          <a:spcPts val="0"/>
                        </a:spcBef>
                        <a:spcAft>
                          <a:spcPts val="0"/>
                        </a:spcAft>
                        <a:buClr>
                          <a:schemeClr val="dk2"/>
                        </a:buClr>
                        <a:buSzPts val="1800"/>
                        <a:buFont typeface="Quattrocento Sans"/>
                        <a:buNone/>
                      </a:pPr>
                      <a:r>
                        <a:rPr lang="en-US" sz="1900" i="0" u="none" strike="noStrike" cap="none" dirty="0">
                          <a:solidFill>
                            <a:schemeClr val="dk2"/>
                          </a:solidFill>
                          <a:latin typeface="Arial"/>
                          <a:ea typeface="Arial"/>
                          <a:cs typeface="Arial"/>
                          <a:sym typeface="Arial"/>
                        </a:rPr>
                        <a:t>Lecture on Cyber Security</a:t>
                      </a:r>
                      <a:endParaRPr sz="1900" i="0" u="none" strike="noStrike" cap="none" dirty="0">
                        <a:solidFill>
                          <a:schemeClr val="dk2"/>
                        </a:solidFill>
                        <a:latin typeface="Arial"/>
                        <a:ea typeface="Arial"/>
                        <a:cs typeface="Arial"/>
                        <a:sym typeface="Arial"/>
                      </a:endParaRPr>
                    </a:p>
                    <a:p>
                      <a:pPr marL="0" marR="0" lvl="0" indent="0" algn="ctr" rtl="0">
                        <a:lnSpc>
                          <a:spcPct val="100000"/>
                        </a:lnSpc>
                        <a:spcBef>
                          <a:spcPts val="0"/>
                        </a:spcBef>
                        <a:spcAft>
                          <a:spcPts val="0"/>
                        </a:spcAft>
                        <a:buClr>
                          <a:schemeClr val="dk2"/>
                        </a:buClr>
                        <a:buSzPts val="1800"/>
                        <a:buFont typeface="Quattrocento Sans"/>
                        <a:buNone/>
                      </a:pPr>
                      <a:r>
                        <a:rPr lang="en-US" sz="1900" u="none" strike="noStrike" cap="none" dirty="0">
                          <a:solidFill>
                            <a:schemeClr val="dk2"/>
                          </a:solidFill>
                        </a:rPr>
                        <a:t>Lecture on Information Security</a:t>
                      </a:r>
                      <a:endParaRPr sz="1900" u="none" strike="noStrike" cap="none" dirty="0">
                        <a:solidFill>
                          <a:schemeClr val="dk2"/>
                        </a:solidFil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700750">
                <a:tc>
                  <a:txBody>
                    <a:bodyPr/>
                    <a:lstStyle/>
                    <a:p>
                      <a:pPr marL="0" marR="0" lvl="0" indent="0" algn="ctr" rtl="0">
                        <a:lnSpc>
                          <a:spcPct val="100000"/>
                        </a:lnSpc>
                        <a:spcBef>
                          <a:spcPts val="0"/>
                        </a:spcBef>
                        <a:spcAft>
                          <a:spcPts val="0"/>
                        </a:spcAft>
                        <a:buClr>
                          <a:srgbClr val="002060"/>
                        </a:buClr>
                        <a:buSzPts val="1800"/>
                        <a:buFont typeface="Quattrocento Sans"/>
                        <a:buNone/>
                      </a:pPr>
                      <a:r>
                        <a:rPr lang="en-US" sz="1900" b="1" u="none" strike="noStrike" cap="none" dirty="0">
                          <a:solidFill>
                            <a:srgbClr val="002060"/>
                          </a:solidFill>
                          <a:latin typeface="Arial"/>
                          <a:ea typeface="Arial"/>
                          <a:cs typeface="Arial"/>
                          <a:sym typeface="Arial"/>
                        </a:rPr>
                        <a:t>1000 – 1100  </a:t>
                      </a:r>
                      <a:endParaRPr sz="1900" b="1" u="none" strike="noStrike" cap="none" dirty="0">
                        <a:solidFill>
                          <a:srgbClr val="002060"/>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28627"/>
                      </a:schemeClr>
                    </a:solidFill>
                  </a:tcPr>
                </a:tc>
                <a:tc>
                  <a:txBody>
                    <a:bodyPr/>
                    <a:lstStyle/>
                    <a:p>
                      <a:pPr marL="0" marR="0" lvl="0" indent="0" algn="ctr" rtl="0">
                        <a:lnSpc>
                          <a:spcPct val="100000"/>
                        </a:lnSpc>
                        <a:spcBef>
                          <a:spcPts val="0"/>
                        </a:spcBef>
                        <a:spcAft>
                          <a:spcPts val="0"/>
                        </a:spcAft>
                        <a:buClr>
                          <a:schemeClr val="dk2"/>
                        </a:buClr>
                        <a:buSzPts val="1800"/>
                        <a:buFont typeface="Quattrocento Sans"/>
                        <a:buNone/>
                      </a:pPr>
                      <a:r>
                        <a:rPr lang="en-US" sz="1900" u="none" strike="noStrike" cap="none" dirty="0">
                          <a:solidFill>
                            <a:schemeClr val="dk2"/>
                          </a:solidFill>
                        </a:rPr>
                        <a:t>Social Engineering Attack Hands-On (Break-Out Rooms)</a:t>
                      </a:r>
                      <a:endParaRPr sz="1900" u="none" strike="noStrike" cap="none" dirty="0">
                        <a:solidFill>
                          <a:schemeClr val="dk2"/>
                        </a:solidFill>
                      </a:endParaRPr>
                    </a:p>
                  </a:txBody>
                  <a:tcPr marL="45725" marR="45725" marT="22875" marB="2287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6">
                        <a:lumMod val="20000"/>
                        <a:lumOff val="80000"/>
                      </a:schemeClr>
                    </a:solidFill>
                  </a:tcPr>
                </a:tc>
                <a:extLst>
                  <a:ext uri="{0D108BD9-81ED-4DB2-BD59-A6C34878D82A}">
                    <a16:rowId xmlns:a16="http://schemas.microsoft.com/office/drawing/2014/main" val="3388457621"/>
                  </a:ext>
                </a:extLst>
              </a:tr>
              <a:tr h="427301">
                <a:tc>
                  <a:txBody>
                    <a:bodyPr/>
                    <a:lstStyle/>
                    <a:p>
                      <a:pPr marL="0" marR="0" lvl="0" indent="0" algn="ctr" rtl="0">
                        <a:lnSpc>
                          <a:spcPct val="100000"/>
                        </a:lnSpc>
                        <a:spcBef>
                          <a:spcPts val="0"/>
                        </a:spcBef>
                        <a:spcAft>
                          <a:spcPts val="0"/>
                        </a:spcAft>
                        <a:buClr>
                          <a:schemeClr val="lt1"/>
                        </a:buClr>
                        <a:buSzPts val="1800"/>
                        <a:buFont typeface="Quattrocento Sans"/>
                        <a:buNone/>
                      </a:pPr>
                      <a:r>
                        <a:rPr lang="en-US" sz="1900" b="1" u="none" strike="noStrike" cap="none" dirty="0">
                          <a:solidFill>
                            <a:schemeClr val="lt1"/>
                          </a:solidFill>
                          <a:latin typeface="Arial"/>
                          <a:ea typeface="Arial"/>
                          <a:cs typeface="Arial"/>
                          <a:sym typeface="Arial"/>
                        </a:rPr>
                        <a:t>1</a:t>
                      </a:r>
                      <a:r>
                        <a:rPr lang="en-US" sz="1900" b="1" u="none" strike="noStrike" cap="none" dirty="0">
                          <a:solidFill>
                            <a:schemeClr val="lt1"/>
                          </a:solidFill>
                        </a:rPr>
                        <a:t>10</a:t>
                      </a:r>
                      <a:r>
                        <a:rPr lang="en-US" sz="1900" b="1" u="none" strike="noStrike" cap="none" dirty="0">
                          <a:solidFill>
                            <a:schemeClr val="lt1"/>
                          </a:solidFill>
                          <a:latin typeface="Arial"/>
                          <a:ea typeface="Arial"/>
                          <a:cs typeface="Arial"/>
                          <a:sym typeface="Arial"/>
                        </a:rPr>
                        <a:t>0 – 1</a:t>
                      </a:r>
                      <a:r>
                        <a:rPr lang="en-US" sz="1900" b="1" u="none" strike="noStrike" cap="none" dirty="0">
                          <a:solidFill>
                            <a:schemeClr val="lt1"/>
                          </a:solidFill>
                        </a:rPr>
                        <a:t>1</a:t>
                      </a:r>
                      <a:r>
                        <a:rPr lang="en-US" sz="1900" b="1" u="none" strike="noStrike" cap="none" dirty="0">
                          <a:solidFill>
                            <a:schemeClr val="lt1"/>
                          </a:solidFill>
                          <a:latin typeface="Arial"/>
                          <a:ea typeface="Arial"/>
                          <a:cs typeface="Arial"/>
                          <a:sym typeface="Arial"/>
                        </a:rPr>
                        <a:t>30</a:t>
                      </a:r>
                      <a:endParaRPr sz="900" u="none" strike="noStrike" cap="none" dirty="0"/>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04388"/>
                    </a:solidFill>
                  </a:tcPr>
                </a:tc>
                <a:tc>
                  <a:txBody>
                    <a:bodyPr/>
                    <a:lstStyle/>
                    <a:p>
                      <a:pPr marL="0" marR="0" lvl="0" indent="0" algn="ctr" rtl="0">
                        <a:lnSpc>
                          <a:spcPct val="100000"/>
                        </a:lnSpc>
                        <a:spcBef>
                          <a:spcPts val="0"/>
                        </a:spcBef>
                        <a:spcAft>
                          <a:spcPts val="0"/>
                        </a:spcAft>
                        <a:buClr>
                          <a:schemeClr val="lt1"/>
                        </a:buClr>
                        <a:buSzPts val="1800"/>
                        <a:buFont typeface="Quattrocento Sans"/>
                        <a:buNone/>
                      </a:pPr>
                      <a:r>
                        <a:rPr lang="en-US" sz="1900" u="none" strike="noStrike" cap="none">
                          <a:solidFill>
                            <a:schemeClr val="lt1"/>
                          </a:solidFill>
                        </a:rPr>
                        <a:t>Break</a:t>
                      </a:r>
                      <a:endParaRPr sz="1900" i="0" u="none" strike="noStrike" cap="none">
                        <a:solidFill>
                          <a:schemeClr val="lt1"/>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04388"/>
                    </a:solidFill>
                  </a:tcPr>
                </a:tc>
                <a:extLst>
                  <a:ext uri="{0D108BD9-81ED-4DB2-BD59-A6C34878D82A}">
                    <a16:rowId xmlns:a16="http://schemas.microsoft.com/office/drawing/2014/main" val="10004"/>
                  </a:ext>
                </a:extLst>
              </a:tr>
              <a:tr h="475130">
                <a:tc>
                  <a:txBody>
                    <a:bodyPr/>
                    <a:lstStyle/>
                    <a:p>
                      <a:pPr marL="0" marR="0" lvl="0" indent="0" algn="ctr" rtl="0">
                        <a:lnSpc>
                          <a:spcPct val="100000"/>
                        </a:lnSpc>
                        <a:spcBef>
                          <a:spcPts val="0"/>
                        </a:spcBef>
                        <a:spcAft>
                          <a:spcPts val="0"/>
                        </a:spcAft>
                        <a:buClr>
                          <a:srgbClr val="002060"/>
                        </a:buClr>
                        <a:buSzPts val="1800"/>
                        <a:buFont typeface="Quattrocento Sans"/>
                        <a:buNone/>
                      </a:pPr>
                      <a:r>
                        <a:rPr lang="en-US" sz="1900" b="1" u="none" strike="noStrike" cap="none" dirty="0">
                          <a:solidFill>
                            <a:srgbClr val="002060"/>
                          </a:solidFill>
                          <a:latin typeface="Arial"/>
                          <a:ea typeface="Arial"/>
                          <a:cs typeface="Arial"/>
                          <a:sym typeface="Arial"/>
                        </a:rPr>
                        <a:t>1</a:t>
                      </a:r>
                      <a:r>
                        <a:rPr lang="en-US" sz="1900" b="1" u="none" strike="noStrike" cap="none" dirty="0">
                          <a:solidFill>
                            <a:srgbClr val="002060"/>
                          </a:solidFill>
                        </a:rPr>
                        <a:t>1</a:t>
                      </a:r>
                      <a:r>
                        <a:rPr lang="en-US" sz="1900" b="1" u="none" strike="noStrike" cap="none" dirty="0">
                          <a:solidFill>
                            <a:srgbClr val="002060"/>
                          </a:solidFill>
                          <a:latin typeface="Arial"/>
                          <a:ea typeface="Arial"/>
                          <a:cs typeface="Arial"/>
                          <a:sym typeface="Arial"/>
                        </a:rPr>
                        <a:t>30 – 1145 </a:t>
                      </a:r>
                      <a:endParaRPr sz="1900" b="1" u="none" strike="noStrike" cap="none" dirty="0">
                        <a:solidFill>
                          <a:srgbClr val="002060"/>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28627"/>
                      </a:schemeClr>
                    </a:solidFill>
                  </a:tcPr>
                </a:tc>
                <a:tc>
                  <a:txBody>
                    <a:bodyPr/>
                    <a:lstStyle/>
                    <a:p>
                      <a:pPr marL="0" marR="0" lvl="0" indent="0" algn="ctr" rtl="0">
                        <a:lnSpc>
                          <a:spcPct val="100000"/>
                        </a:lnSpc>
                        <a:spcBef>
                          <a:spcPts val="0"/>
                        </a:spcBef>
                        <a:spcAft>
                          <a:spcPts val="0"/>
                        </a:spcAft>
                        <a:buClr>
                          <a:schemeClr val="dk2"/>
                        </a:buClr>
                        <a:buSzPts val="3600"/>
                        <a:buFont typeface="Quattrocento Sans"/>
                        <a:buNone/>
                      </a:pPr>
                      <a:r>
                        <a:rPr lang="en-US" sz="1900" u="none" strike="noStrike" cap="none" dirty="0">
                          <a:solidFill>
                            <a:schemeClr val="dk2"/>
                          </a:solidFill>
                        </a:rPr>
                        <a:t>Lecture on Network Security (Firewall)</a:t>
                      </a:r>
                      <a:endParaRPr sz="1900" u="none" strike="noStrike" cap="none" dirty="0">
                        <a:solidFill>
                          <a:schemeClr val="dk2"/>
                        </a:solidFil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627530">
                <a:tc>
                  <a:txBody>
                    <a:bodyPr/>
                    <a:lstStyle/>
                    <a:p>
                      <a:pPr marL="0" marR="0" lvl="0" indent="0" algn="ctr" rtl="0">
                        <a:lnSpc>
                          <a:spcPct val="100000"/>
                        </a:lnSpc>
                        <a:spcBef>
                          <a:spcPts val="0"/>
                        </a:spcBef>
                        <a:spcAft>
                          <a:spcPts val="0"/>
                        </a:spcAft>
                        <a:buClr>
                          <a:srgbClr val="002060"/>
                        </a:buClr>
                        <a:buSzPts val="1800"/>
                        <a:buFont typeface="Quattrocento Sans"/>
                        <a:buNone/>
                      </a:pPr>
                      <a:r>
                        <a:rPr lang="en-US" sz="1900" b="1" u="none" strike="noStrike" cap="none" dirty="0">
                          <a:solidFill>
                            <a:srgbClr val="002060"/>
                          </a:solidFill>
                          <a:latin typeface="Arial"/>
                          <a:ea typeface="Arial"/>
                          <a:cs typeface="Arial"/>
                          <a:sym typeface="Arial"/>
                        </a:rPr>
                        <a:t>1145 – 1245 </a:t>
                      </a:r>
                      <a:endParaRPr sz="1900" b="1" u="none" strike="noStrike" cap="none" dirty="0">
                        <a:solidFill>
                          <a:srgbClr val="002060"/>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28627"/>
                      </a:schemeClr>
                    </a:solidFill>
                  </a:tcPr>
                </a:tc>
                <a:tc>
                  <a:txBody>
                    <a:bodyPr/>
                    <a:lstStyle/>
                    <a:p>
                      <a:pPr marL="0" marR="0" lvl="0" indent="0" algn="ctr" rtl="0">
                        <a:lnSpc>
                          <a:spcPct val="100000"/>
                        </a:lnSpc>
                        <a:spcBef>
                          <a:spcPts val="0"/>
                        </a:spcBef>
                        <a:spcAft>
                          <a:spcPts val="0"/>
                        </a:spcAft>
                        <a:buClr>
                          <a:schemeClr val="dk2"/>
                        </a:buClr>
                        <a:buSzPts val="1800"/>
                        <a:buFont typeface="Quattrocento Sans"/>
                        <a:buNone/>
                      </a:pPr>
                      <a:r>
                        <a:rPr lang="en-US" sz="1900" u="none" strike="noStrike" cap="none" dirty="0">
                          <a:solidFill>
                            <a:schemeClr val="dk2"/>
                          </a:solidFill>
                        </a:rPr>
                        <a:t>Spoofing of Network Addresses Hands-On (Break-Out Rooms)</a:t>
                      </a:r>
                      <a:endParaRPr sz="1900" i="0" u="none" strike="noStrike" cap="none" dirty="0">
                        <a:solidFill>
                          <a:schemeClr val="dk2"/>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6">
                        <a:lumMod val="20000"/>
                        <a:lumOff val="80000"/>
                      </a:schemeClr>
                    </a:solidFill>
                  </a:tcPr>
                </a:tc>
                <a:extLst>
                  <a:ext uri="{0D108BD9-81ED-4DB2-BD59-A6C34878D82A}">
                    <a16:rowId xmlns:a16="http://schemas.microsoft.com/office/drawing/2014/main" val="10006"/>
                  </a:ext>
                </a:extLst>
              </a:tr>
              <a:tr h="699248">
                <a:tc>
                  <a:txBody>
                    <a:bodyPr/>
                    <a:lstStyle/>
                    <a:p>
                      <a:pPr marL="0" marR="0" lvl="0" indent="0" algn="ctr" rtl="0">
                        <a:lnSpc>
                          <a:spcPct val="100000"/>
                        </a:lnSpc>
                        <a:spcBef>
                          <a:spcPts val="0"/>
                        </a:spcBef>
                        <a:spcAft>
                          <a:spcPts val="0"/>
                        </a:spcAft>
                        <a:buClr>
                          <a:srgbClr val="000000"/>
                        </a:buClr>
                        <a:buSzPts val="1900"/>
                        <a:buFont typeface="Arial"/>
                        <a:buNone/>
                      </a:pPr>
                      <a:r>
                        <a:rPr lang="en-US" sz="1900" b="1" u="none" strike="noStrike" cap="none" dirty="0">
                          <a:solidFill>
                            <a:srgbClr val="002060"/>
                          </a:solidFill>
                        </a:rPr>
                        <a:t>1245-1325</a:t>
                      </a:r>
                      <a:endParaRPr sz="1900" b="1" u="none" strike="noStrike" cap="none" dirty="0">
                        <a:solidFill>
                          <a:srgbClr val="002060"/>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accent1">
                        <a:alpha val="29019"/>
                      </a:schemeClr>
                    </a:solidFill>
                  </a:tcPr>
                </a:tc>
                <a:tc>
                  <a:txBody>
                    <a:bodyPr/>
                    <a:lstStyle/>
                    <a:p>
                      <a:pPr marL="0" marR="0" lvl="0" indent="0" algn="ctr" rtl="0">
                        <a:lnSpc>
                          <a:spcPct val="100000"/>
                        </a:lnSpc>
                        <a:spcBef>
                          <a:spcPts val="0"/>
                        </a:spcBef>
                        <a:spcAft>
                          <a:spcPts val="0"/>
                        </a:spcAft>
                        <a:buClr>
                          <a:srgbClr val="000000"/>
                        </a:buClr>
                        <a:buSzPts val="1900"/>
                        <a:buFont typeface="Arial"/>
                        <a:buNone/>
                      </a:pPr>
                      <a:r>
                        <a:rPr lang="en-US" sz="1900" u="none" strike="noStrike" cap="none" dirty="0">
                          <a:solidFill>
                            <a:schemeClr val="dk2"/>
                          </a:solidFill>
                        </a:rPr>
                        <a:t>Lecture on Network Security (VPN &amp; SSL)</a:t>
                      </a:r>
                    </a:p>
                    <a:p>
                      <a:pPr marL="0" marR="0" lvl="0" indent="0" algn="ctr" rtl="0">
                        <a:lnSpc>
                          <a:spcPct val="100000"/>
                        </a:lnSpc>
                        <a:spcBef>
                          <a:spcPts val="0"/>
                        </a:spcBef>
                        <a:spcAft>
                          <a:spcPts val="0"/>
                        </a:spcAft>
                        <a:buClr>
                          <a:srgbClr val="000000"/>
                        </a:buClr>
                        <a:buSzPts val="1900"/>
                        <a:buFont typeface="Arial"/>
                        <a:buNone/>
                      </a:pPr>
                      <a:r>
                        <a:rPr lang="en-US" sz="1900" i="0" u="none" strike="noStrike" cap="none" dirty="0">
                          <a:solidFill>
                            <a:schemeClr val="dk2"/>
                          </a:solidFill>
                          <a:latin typeface="Arial"/>
                          <a:ea typeface="Arial"/>
                          <a:cs typeface="Arial"/>
                          <a:sym typeface="Arial"/>
                        </a:rPr>
                        <a:t>Lecture on Wireless Security</a:t>
                      </a:r>
                      <a:endParaRPr sz="1900" i="0" u="none" strike="noStrike" cap="none" dirty="0">
                        <a:solidFill>
                          <a:schemeClr val="dk2"/>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noFill/>
                  </a:tcPr>
                </a:tc>
                <a:extLst>
                  <a:ext uri="{0D108BD9-81ED-4DB2-BD59-A6C34878D82A}">
                    <a16:rowId xmlns:a16="http://schemas.microsoft.com/office/drawing/2014/main" val="10007"/>
                  </a:ext>
                </a:extLst>
              </a:tr>
              <a:tr h="484092">
                <a:tc>
                  <a:txBody>
                    <a:bodyPr/>
                    <a:lstStyle/>
                    <a:p>
                      <a:pPr marL="0" marR="0" lvl="0" indent="0" algn="ctr" rtl="0">
                        <a:lnSpc>
                          <a:spcPct val="100000"/>
                        </a:lnSpc>
                        <a:spcBef>
                          <a:spcPts val="0"/>
                        </a:spcBef>
                        <a:spcAft>
                          <a:spcPts val="0"/>
                        </a:spcAft>
                        <a:buClr>
                          <a:srgbClr val="000000"/>
                        </a:buClr>
                        <a:buSzPts val="1900"/>
                        <a:buFont typeface="Arial"/>
                        <a:buNone/>
                      </a:pPr>
                      <a:r>
                        <a:rPr lang="en-US" sz="1900" b="1" u="none" strike="noStrike" cap="none" dirty="0">
                          <a:solidFill>
                            <a:srgbClr val="002060"/>
                          </a:solidFill>
                          <a:latin typeface="Arial"/>
                          <a:ea typeface="Arial"/>
                          <a:cs typeface="Arial"/>
                          <a:sym typeface="Arial"/>
                        </a:rPr>
                        <a:t>1325-1330</a:t>
                      </a:r>
                      <a:endParaRPr sz="1900" b="1" u="none" strike="noStrike" cap="none" dirty="0">
                        <a:solidFill>
                          <a:srgbClr val="002060"/>
                        </a:solidFill>
                        <a:latin typeface="Arial"/>
                        <a:ea typeface="Arial"/>
                        <a:cs typeface="Arial"/>
                        <a:sym typeface="Arial"/>
                      </a:endParaRPr>
                    </a:p>
                  </a:txBody>
                  <a:tcPr marL="45725" marR="45725" marT="22875" marB="2287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accent1">
                        <a:alpha val="29019"/>
                      </a:schemeClr>
                    </a:solidFill>
                  </a:tcPr>
                </a:tc>
                <a:tc>
                  <a:txBody>
                    <a:bodyPr/>
                    <a:lstStyle/>
                    <a:p>
                      <a:pPr marL="0" marR="0" lvl="0" indent="0" algn="ctr" rtl="0">
                        <a:lnSpc>
                          <a:spcPct val="100000"/>
                        </a:lnSpc>
                        <a:spcBef>
                          <a:spcPts val="0"/>
                        </a:spcBef>
                        <a:spcAft>
                          <a:spcPts val="0"/>
                        </a:spcAft>
                        <a:buClr>
                          <a:srgbClr val="000000"/>
                        </a:buClr>
                        <a:buSzPts val="1900"/>
                        <a:buFont typeface="Arial"/>
                        <a:buNone/>
                      </a:pPr>
                      <a:r>
                        <a:rPr lang="en-US" sz="1900" i="0" u="none" strike="noStrike" cap="none" dirty="0">
                          <a:solidFill>
                            <a:schemeClr val="dk2"/>
                          </a:solidFill>
                          <a:latin typeface="Arial"/>
                          <a:ea typeface="Arial"/>
                          <a:cs typeface="Arial"/>
                          <a:sym typeface="Arial"/>
                        </a:rPr>
                        <a:t>Survey + Q&amp;A</a:t>
                      </a:r>
                      <a:endParaRPr sz="1900" i="0" u="none" strike="noStrike" cap="none" dirty="0">
                        <a:solidFill>
                          <a:schemeClr val="dk2"/>
                        </a:solidFill>
                        <a:latin typeface="Arial"/>
                        <a:ea typeface="Arial"/>
                        <a:cs typeface="Arial"/>
                        <a:sym typeface="Arial"/>
                      </a:endParaRPr>
                    </a:p>
                  </a:txBody>
                  <a:tcPr marL="45725" marR="45725" marT="22875" marB="2287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extLst>
                  <a:ext uri="{0D108BD9-81ED-4DB2-BD59-A6C34878D82A}">
                    <a16:rowId xmlns:a16="http://schemas.microsoft.com/office/drawing/2014/main" val="972748232"/>
                  </a:ext>
                </a:extLst>
              </a:tr>
            </a:tbl>
          </a:graphicData>
        </a:graphic>
      </p:graphicFrame>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4"/>
        <p:cNvGrpSpPr/>
        <p:nvPr/>
      </p:nvGrpSpPr>
      <p:grpSpPr>
        <a:xfrm>
          <a:off x="0" y="0"/>
          <a:ext cx="0" cy="0"/>
          <a:chOff x="0" y="0"/>
          <a:chExt cx="0" cy="0"/>
        </a:xfrm>
      </p:grpSpPr>
      <p:sp>
        <p:nvSpPr>
          <p:cNvPr id="155" name="Google Shape;155;p3"/>
          <p:cNvSpPr txBox="1"/>
          <p:nvPr/>
        </p:nvSpPr>
        <p:spPr>
          <a:xfrm>
            <a:off x="3659747" y="3786793"/>
            <a:ext cx="4371389" cy="307777"/>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0" i="0" u="none" strike="noStrike" cap="none">
                <a:solidFill>
                  <a:schemeClr val="dk1"/>
                </a:solidFill>
                <a:latin typeface="Arial"/>
                <a:ea typeface="Arial"/>
                <a:cs typeface="Arial"/>
                <a:sym typeface="Arial"/>
              </a:rPr>
              <a:t>All you need to know before starting</a:t>
            </a:r>
            <a:endParaRPr sz="900" b="0" i="0" u="none" strike="noStrike" cap="none">
              <a:solidFill>
                <a:schemeClr val="dk1"/>
              </a:solidFill>
              <a:latin typeface="Arial"/>
              <a:ea typeface="Arial"/>
              <a:cs typeface="Arial"/>
              <a:sym typeface="Arial"/>
            </a:endParaRPr>
          </a:p>
        </p:txBody>
      </p:sp>
      <p:sp>
        <p:nvSpPr>
          <p:cNvPr id="156" name="Google Shape;156;p3"/>
          <p:cNvSpPr txBox="1"/>
          <p:nvPr/>
        </p:nvSpPr>
        <p:spPr>
          <a:xfrm>
            <a:off x="3488815" y="2840941"/>
            <a:ext cx="8343021" cy="870431"/>
          </a:xfrm>
          <a:prstGeom prst="rect">
            <a:avLst/>
          </a:prstGeom>
          <a:noFill/>
          <a:ln>
            <a:noFill/>
          </a:ln>
        </p:spPr>
        <p:txBody>
          <a:bodyPr spcFirstLastPara="1" wrap="square" lIns="45700" tIns="22850" rIns="45700" bIns="22850" anchor="t" anchorCtr="0">
            <a:noAutofit/>
          </a:bodyPr>
          <a:lstStyle/>
          <a:p>
            <a:pPr marL="0" marR="0" lvl="0" indent="0" algn="l" rtl="0">
              <a:lnSpc>
                <a:spcPct val="134615"/>
              </a:lnSpc>
              <a:spcBef>
                <a:spcPts val="0"/>
              </a:spcBef>
              <a:spcAft>
                <a:spcPts val="0"/>
              </a:spcAft>
              <a:buClr>
                <a:srgbClr val="000000"/>
              </a:buClr>
              <a:buSzPts val="5200"/>
              <a:buFont typeface="Arial"/>
              <a:buNone/>
            </a:pPr>
            <a:r>
              <a:rPr lang="en-US" sz="5200" b="1" i="0" u="none" strike="noStrike" cap="none" dirty="0">
                <a:solidFill>
                  <a:schemeClr val="dk1"/>
                </a:solidFill>
                <a:latin typeface="Arial"/>
                <a:ea typeface="Arial"/>
                <a:cs typeface="Arial"/>
                <a:sym typeface="Arial"/>
              </a:rPr>
              <a:t>What is Cyber Security?</a:t>
            </a:r>
            <a:endParaRPr sz="7500" b="1" i="0" u="none" strike="noStrike" cap="none" dirty="0">
              <a:solidFill>
                <a:schemeClr val="dk1"/>
              </a:solidFill>
              <a:latin typeface="Arial"/>
              <a:ea typeface="Arial"/>
              <a:cs typeface="Arial"/>
              <a:sym typeface="Arial"/>
            </a:endParaRPr>
          </a:p>
        </p:txBody>
      </p:sp>
      <p:grpSp>
        <p:nvGrpSpPr>
          <p:cNvPr id="157" name="Google Shape;157;p3"/>
          <p:cNvGrpSpPr/>
          <p:nvPr/>
        </p:nvGrpSpPr>
        <p:grpSpPr>
          <a:xfrm>
            <a:off x="1277242" y="2417311"/>
            <a:ext cx="2046185" cy="2116531"/>
            <a:chOff x="-858390" y="4477832"/>
            <a:chExt cx="4092370" cy="4233061"/>
          </a:xfrm>
        </p:grpSpPr>
        <p:sp>
          <p:nvSpPr>
            <p:cNvPr id="158" name="Google Shape;158;p3"/>
            <p:cNvSpPr/>
            <p:nvPr/>
          </p:nvSpPr>
          <p:spPr>
            <a:xfrm>
              <a:off x="2099658" y="6974920"/>
              <a:ext cx="1134322" cy="1716691"/>
            </a:xfrm>
            <a:custGeom>
              <a:avLst/>
              <a:gdLst/>
              <a:ahLst/>
              <a:cxnLst/>
              <a:rect l="l" t="t" r="r" b="b"/>
              <a:pathLst>
                <a:path w="1152" h="1740" extrusionOk="0">
                  <a:moveTo>
                    <a:pt x="0" y="1739"/>
                  </a:moveTo>
                  <a:lnTo>
                    <a:pt x="1151" y="918"/>
                  </a:lnTo>
                  <a:lnTo>
                    <a:pt x="1151" y="0"/>
                  </a:lnTo>
                  <a:lnTo>
                    <a:pt x="0" y="1739"/>
                  </a:lnTo>
                </a:path>
              </a:pathLst>
            </a:custGeom>
            <a:solidFill>
              <a:schemeClr val="accent3"/>
            </a:solidFill>
            <a:ln>
              <a:noFill/>
            </a:ln>
          </p:spPr>
          <p:txBody>
            <a:bodyPr spcFirstLastPara="1" wrap="square" lIns="45700" tIns="22850" rIns="45700" bIns="22850" anchor="ctr" anchorCtr="0">
              <a:noAutofit/>
            </a:bodyPr>
            <a:lstStyle/>
            <a:p>
              <a:pPr marL="0" marR="0" lvl="0" indent="0" algn="l" rtl="0">
                <a:lnSpc>
                  <a:spcPct val="100000"/>
                </a:lnSpc>
                <a:spcBef>
                  <a:spcPts val="0"/>
                </a:spcBef>
                <a:spcAft>
                  <a:spcPts val="0"/>
                </a:spcAft>
                <a:buClr>
                  <a:srgbClr val="000000"/>
                </a:buClr>
                <a:buSzPts val="3599"/>
                <a:buFont typeface="Arial"/>
                <a:buNone/>
              </a:pPr>
              <a:endParaRPr sz="3599" b="0" i="0" u="none" strike="noStrike" cap="none">
                <a:solidFill>
                  <a:schemeClr val="dk1"/>
                </a:solidFill>
                <a:latin typeface="Nunito Light"/>
                <a:ea typeface="Nunito Light"/>
                <a:cs typeface="Nunito Light"/>
                <a:sym typeface="Nunito Light"/>
              </a:endParaRPr>
            </a:p>
          </p:txBody>
        </p:sp>
        <p:sp>
          <p:nvSpPr>
            <p:cNvPr id="159" name="Google Shape;159;p3"/>
            <p:cNvSpPr/>
            <p:nvPr/>
          </p:nvSpPr>
          <p:spPr>
            <a:xfrm>
              <a:off x="1777142" y="4477832"/>
              <a:ext cx="1455931" cy="4233061"/>
            </a:xfrm>
            <a:custGeom>
              <a:avLst/>
              <a:gdLst/>
              <a:ahLst/>
              <a:cxnLst/>
              <a:rect l="l" t="t" r="r" b="b"/>
              <a:pathLst>
                <a:path w="1479" h="4296" extrusionOk="0">
                  <a:moveTo>
                    <a:pt x="0" y="0"/>
                  </a:moveTo>
                  <a:lnTo>
                    <a:pt x="327" y="4295"/>
                  </a:lnTo>
                  <a:lnTo>
                    <a:pt x="1478" y="2556"/>
                  </a:lnTo>
                  <a:lnTo>
                    <a:pt x="1478" y="0"/>
                  </a:lnTo>
                  <a:lnTo>
                    <a:pt x="0" y="0"/>
                  </a:lnTo>
                </a:path>
              </a:pathLst>
            </a:custGeom>
            <a:solidFill>
              <a:srgbClr val="78E0E6"/>
            </a:solidFill>
            <a:ln>
              <a:noFill/>
            </a:ln>
          </p:spPr>
          <p:txBody>
            <a:bodyPr spcFirstLastPara="1" wrap="square" lIns="45700" tIns="22850" rIns="45700" bIns="22850" anchor="ctr" anchorCtr="0">
              <a:noAutofit/>
            </a:bodyPr>
            <a:lstStyle/>
            <a:p>
              <a:pPr marL="0" marR="0" lvl="0" indent="0" algn="l" rtl="0">
                <a:lnSpc>
                  <a:spcPct val="100000"/>
                </a:lnSpc>
                <a:spcBef>
                  <a:spcPts val="0"/>
                </a:spcBef>
                <a:spcAft>
                  <a:spcPts val="0"/>
                </a:spcAft>
                <a:buClr>
                  <a:srgbClr val="000000"/>
                </a:buClr>
                <a:buSzPts val="3599"/>
                <a:buFont typeface="Arial"/>
                <a:buNone/>
              </a:pPr>
              <a:endParaRPr sz="3599" b="0" i="0" u="none" strike="noStrike" cap="none">
                <a:solidFill>
                  <a:schemeClr val="dk1"/>
                </a:solidFill>
                <a:latin typeface="Nunito Light"/>
                <a:ea typeface="Nunito Light"/>
                <a:cs typeface="Nunito Light"/>
                <a:sym typeface="Nunito Light"/>
              </a:endParaRPr>
            </a:p>
          </p:txBody>
        </p:sp>
        <p:sp>
          <p:nvSpPr>
            <p:cNvPr id="160" name="Google Shape;160;p3"/>
            <p:cNvSpPr/>
            <p:nvPr/>
          </p:nvSpPr>
          <p:spPr>
            <a:xfrm>
              <a:off x="-525459" y="4477832"/>
              <a:ext cx="2646748" cy="4233061"/>
            </a:xfrm>
            <a:custGeom>
              <a:avLst/>
              <a:gdLst/>
              <a:ahLst/>
              <a:cxnLst/>
              <a:rect l="l" t="t" r="r" b="b"/>
              <a:pathLst>
                <a:path w="2687" h="4296" extrusionOk="0">
                  <a:moveTo>
                    <a:pt x="0" y="0"/>
                  </a:moveTo>
                  <a:lnTo>
                    <a:pt x="2686" y="4295"/>
                  </a:lnTo>
                  <a:lnTo>
                    <a:pt x="2359" y="0"/>
                  </a:lnTo>
                  <a:lnTo>
                    <a:pt x="0" y="0"/>
                  </a:lnTo>
                </a:path>
              </a:pathLst>
            </a:custGeom>
            <a:solidFill>
              <a:schemeClr val="accent3"/>
            </a:solidFill>
            <a:ln>
              <a:noFill/>
            </a:ln>
          </p:spPr>
          <p:txBody>
            <a:bodyPr spcFirstLastPara="1" wrap="square" lIns="45700" tIns="22850" rIns="45700" bIns="22850" anchor="ctr" anchorCtr="0">
              <a:noAutofit/>
            </a:bodyPr>
            <a:lstStyle/>
            <a:p>
              <a:pPr marL="0" marR="0" lvl="0" indent="0" algn="l" rtl="0">
                <a:lnSpc>
                  <a:spcPct val="100000"/>
                </a:lnSpc>
                <a:spcBef>
                  <a:spcPts val="0"/>
                </a:spcBef>
                <a:spcAft>
                  <a:spcPts val="0"/>
                </a:spcAft>
                <a:buClr>
                  <a:srgbClr val="000000"/>
                </a:buClr>
                <a:buSzPts val="3599"/>
                <a:buFont typeface="Arial"/>
                <a:buNone/>
              </a:pPr>
              <a:endParaRPr sz="3599" b="0" i="0" u="none" strike="noStrike" cap="none">
                <a:solidFill>
                  <a:schemeClr val="dk1"/>
                </a:solidFill>
                <a:latin typeface="Nunito Light"/>
                <a:ea typeface="Nunito Light"/>
                <a:cs typeface="Nunito Light"/>
                <a:sym typeface="Nunito Light"/>
              </a:endParaRPr>
            </a:p>
          </p:txBody>
        </p:sp>
        <p:sp>
          <p:nvSpPr>
            <p:cNvPr id="161" name="Google Shape;161;p3"/>
            <p:cNvSpPr/>
            <p:nvPr/>
          </p:nvSpPr>
          <p:spPr>
            <a:xfrm>
              <a:off x="-858390" y="4477832"/>
              <a:ext cx="3003125" cy="4233061"/>
            </a:xfrm>
            <a:custGeom>
              <a:avLst/>
              <a:gdLst/>
              <a:ahLst/>
              <a:cxnLst/>
              <a:rect l="l" t="t" r="r" b="b"/>
              <a:pathLst>
                <a:path w="3049" h="4296" extrusionOk="0">
                  <a:moveTo>
                    <a:pt x="0" y="0"/>
                  </a:moveTo>
                  <a:lnTo>
                    <a:pt x="43" y="3187"/>
                  </a:lnTo>
                  <a:lnTo>
                    <a:pt x="3048" y="4295"/>
                  </a:lnTo>
                  <a:lnTo>
                    <a:pt x="362" y="0"/>
                  </a:lnTo>
                  <a:lnTo>
                    <a:pt x="0" y="0"/>
                  </a:lnTo>
                </a:path>
              </a:pathLst>
            </a:custGeom>
            <a:solidFill>
              <a:srgbClr val="78E0E6"/>
            </a:solidFill>
            <a:ln>
              <a:noFill/>
            </a:ln>
          </p:spPr>
          <p:txBody>
            <a:bodyPr spcFirstLastPara="1" wrap="square" lIns="45700" tIns="22850" rIns="45700" bIns="22850" anchor="ctr" anchorCtr="0">
              <a:noAutofit/>
            </a:bodyPr>
            <a:lstStyle/>
            <a:p>
              <a:pPr marL="0" marR="0" lvl="0" indent="0" algn="l" rtl="0">
                <a:lnSpc>
                  <a:spcPct val="100000"/>
                </a:lnSpc>
                <a:spcBef>
                  <a:spcPts val="0"/>
                </a:spcBef>
                <a:spcAft>
                  <a:spcPts val="0"/>
                </a:spcAft>
                <a:buClr>
                  <a:srgbClr val="000000"/>
                </a:buClr>
                <a:buSzPts val="3599"/>
                <a:buFont typeface="Arial"/>
                <a:buNone/>
              </a:pPr>
              <a:endParaRPr sz="3599" b="0" i="0" u="none" strike="noStrike" cap="none">
                <a:solidFill>
                  <a:schemeClr val="dk1"/>
                </a:solidFill>
                <a:latin typeface="Nunito Light"/>
                <a:ea typeface="Nunito Light"/>
                <a:cs typeface="Nunito Light"/>
                <a:sym typeface="Nunito Light"/>
              </a:endParaRPr>
            </a:p>
          </p:txBody>
        </p:sp>
      </p:gr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
          <p:cNvSpPr txBox="1"/>
          <p:nvPr/>
        </p:nvSpPr>
        <p:spPr>
          <a:xfrm>
            <a:off x="1213818" y="1785507"/>
            <a:ext cx="8409029" cy="3838915"/>
          </a:xfrm>
          <a:prstGeom prst="rect">
            <a:avLst/>
          </a:prstGeom>
          <a:noFill/>
          <a:ln>
            <a:noFill/>
          </a:ln>
        </p:spPr>
        <p:txBody>
          <a:bodyPr spcFirstLastPara="1" wrap="square" lIns="45700" tIns="22850" rIns="45700" bIns="22850" anchor="t" anchorCtr="0">
            <a:noAutofit/>
          </a:bodyPr>
          <a:lstStyle/>
          <a:p>
            <a:pPr marR="0" lvl="0" algn="l" rtl="0">
              <a:lnSpc>
                <a:spcPct val="150000"/>
              </a:lnSpc>
              <a:spcBef>
                <a:spcPts val="0"/>
              </a:spcBef>
              <a:spcAft>
                <a:spcPts val="0"/>
              </a:spcAft>
              <a:buClr>
                <a:schemeClr val="accent1"/>
              </a:buClr>
              <a:buSzPts val="2000"/>
            </a:pPr>
            <a:r>
              <a:rPr lang="en-US" sz="2000" b="0" i="0" u="none" strike="noStrike" cap="none" dirty="0">
                <a:solidFill>
                  <a:schemeClr val="dk1"/>
                </a:solidFill>
                <a:latin typeface="Arial"/>
                <a:ea typeface="Arial"/>
                <a:cs typeface="Arial"/>
                <a:sym typeface="Arial"/>
              </a:rPr>
              <a:t>Interdependent network of information technology infrastructures 	                          which includes: </a:t>
            </a:r>
            <a:endParaRPr sz="2000" b="0" i="0" u="none" strike="noStrike" cap="none" dirty="0">
              <a:solidFill>
                <a:schemeClr val="dk1"/>
              </a:solidFill>
              <a:latin typeface="Arial"/>
              <a:ea typeface="Arial"/>
              <a:cs typeface="Arial"/>
              <a:sym typeface="Arial"/>
            </a:endParaRPr>
          </a:p>
          <a:p>
            <a:pPr marL="228594" marR="0" lvl="0" indent="0" algn="l" rtl="0">
              <a:lnSpc>
                <a:spcPct val="150000"/>
              </a:lnSpc>
              <a:spcBef>
                <a:spcPts val="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a:p>
            <a:pPr marL="228594" marR="0" lvl="0" indent="0" algn="l" rtl="0">
              <a:lnSpc>
                <a:spcPct val="150000"/>
              </a:lnSpc>
              <a:spcBef>
                <a:spcPts val="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a:p>
            <a:pPr marL="228594" marR="0" lvl="0" indent="0" algn="l" rtl="0">
              <a:lnSpc>
                <a:spcPct val="150000"/>
              </a:lnSpc>
              <a:spcBef>
                <a:spcPts val="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a:p>
            <a:pPr marR="0" lvl="0" algn="l" rtl="0">
              <a:lnSpc>
                <a:spcPct val="100000"/>
              </a:lnSpc>
              <a:spcBef>
                <a:spcPts val="0"/>
              </a:spcBef>
              <a:spcAft>
                <a:spcPts val="0"/>
              </a:spcAft>
              <a:buClr>
                <a:schemeClr val="accent1"/>
              </a:buClr>
              <a:buSzPts val="2000"/>
            </a:pPr>
            <a:r>
              <a:rPr lang="en-US" sz="2000" b="0" i="0" u="none" strike="noStrike" cap="none" dirty="0">
                <a:solidFill>
                  <a:schemeClr val="dk1"/>
                </a:solidFill>
                <a:latin typeface="Arial"/>
                <a:ea typeface="Arial"/>
                <a:cs typeface="Arial"/>
                <a:sym typeface="Arial"/>
              </a:rPr>
              <a:t>Also referred to the virtual environment of information                               and interactions between people</a:t>
            </a:r>
            <a:endParaRPr sz="2000" b="0" i="0" u="none" strike="noStrike" cap="none" dirty="0">
              <a:solidFill>
                <a:schemeClr val="dk1"/>
              </a:solidFill>
              <a:latin typeface="Arial"/>
              <a:ea typeface="Arial"/>
              <a:cs typeface="Arial"/>
              <a:sym typeface="Arial"/>
            </a:endParaRPr>
          </a:p>
        </p:txBody>
      </p:sp>
      <p:pic>
        <p:nvPicPr>
          <p:cNvPr id="167" name="Google Shape;167;p4" descr="Image result for cyberspace"/>
          <p:cNvPicPr preferRelativeResize="0"/>
          <p:nvPr/>
        </p:nvPicPr>
        <p:blipFill rotWithShape="1">
          <a:blip r:embed="rId3">
            <a:alphaModFix/>
          </a:blip>
          <a:srcRect/>
          <a:stretch/>
        </p:blipFill>
        <p:spPr>
          <a:xfrm>
            <a:off x="9080134" y="1785507"/>
            <a:ext cx="3111865" cy="2241894"/>
          </a:xfrm>
          <a:prstGeom prst="rect">
            <a:avLst/>
          </a:prstGeom>
          <a:noFill/>
          <a:ln>
            <a:noFill/>
          </a:ln>
        </p:spPr>
      </p:pic>
      <p:pic>
        <p:nvPicPr>
          <p:cNvPr id="168" name="Google Shape;168;p4"/>
          <p:cNvPicPr preferRelativeResize="0"/>
          <p:nvPr/>
        </p:nvPicPr>
        <p:blipFill rotWithShape="1">
          <a:blip r:embed="rId4">
            <a:alphaModFix/>
          </a:blip>
          <a:srcRect/>
          <a:stretch/>
        </p:blipFill>
        <p:spPr>
          <a:xfrm>
            <a:off x="6709192" y="3116302"/>
            <a:ext cx="675620" cy="675621"/>
          </a:xfrm>
          <a:prstGeom prst="rect">
            <a:avLst/>
          </a:prstGeom>
          <a:noFill/>
          <a:ln>
            <a:noFill/>
          </a:ln>
        </p:spPr>
      </p:pic>
      <p:sp>
        <p:nvSpPr>
          <p:cNvPr id="169" name="Google Shape;169;p4"/>
          <p:cNvSpPr txBox="1"/>
          <p:nvPr/>
        </p:nvSpPr>
        <p:spPr>
          <a:xfrm>
            <a:off x="3561342" y="3972410"/>
            <a:ext cx="881973" cy="338554"/>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Internet</a:t>
            </a:r>
            <a:endParaRPr sz="1400" b="0" i="0" u="none" strike="noStrike" cap="none">
              <a:solidFill>
                <a:schemeClr val="dk1"/>
              </a:solidFill>
              <a:latin typeface="Arial"/>
              <a:ea typeface="Arial"/>
              <a:cs typeface="Arial"/>
              <a:sym typeface="Arial"/>
            </a:endParaRPr>
          </a:p>
        </p:txBody>
      </p:sp>
      <p:sp>
        <p:nvSpPr>
          <p:cNvPr id="170" name="Google Shape;170;p4"/>
          <p:cNvSpPr txBox="1"/>
          <p:nvPr/>
        </p:nvSpPr>
        <p:spPr>
          <a:xfrm>
            <a:off x="4803367" y="3852287"/>
            <a:ext cx="1143262" cy="5847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Computer </a:t>
            </a:r>
            <a:endParaRPr sz="14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Systems</a:t>
            </a:r>
            <a:endParaRPr sz="1400" b="0" i="0" u="none" strike="noStrike" cap="none">
              <a:solidFill>
                <a:schemeClr val="dk1"/>
              </a:solidFill>
              <a:latin typeface="Arial"/>
              <a:ea typeface="Arial"/>
              <a:cs typeface="Arial"/>
              <a:sym typeface="Arial"/>
            </a:endParaRPr>
          </a:p>
        </p:txBody>
      </p:sp>
      <p:sp>
        <p:nvSpPr>
          <p:cNvPr id="171" name="Google Shape;171;p4"/>
          <p:cNvSpPr txBox="1"/>
          <p:nvPr/>
        </p:nvSpPr>
        <p:spPr>
          <a:xfrm>
            <a:off x="6066110" y="3849299"/>
            <a:ext cx="1961784" cy="5847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Embedded processers </a:t>
            </a:r>
            <a:endParaRPr sz="14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and controllers</a:t>
            </a:r>
            <a:endParaRPr sz="1400" b="0" i="0" u="none" strike="noStrike" cap="none">
              <a:solidFill>
                <a:schemeClr val="dk1"/>
              </a:solidFill>
              <a:latin typeface="Arial"/>
              <a:ea typeface="Arial"/>
              <a:cs typeface="Arial"/>
              <a:sym typeface="Arial"/>
            </a:endParaRPr>
          </a:p>
        </p:txBody>
      </p:sp>
      <p:sp>
        <p:nvSpPr>
          <p:cNvPr id="172" name="Google Shape;172;p4"/>
          <p:cNvSpPr txBox="1"/>
          <p:nvPr/>
        </p:nvSpPr>
        <p:spPr>
          <a:xfrm>
            <a:off x="1575660" y="3886200"/>
            <a:ext cx="1869478" cy="58477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Telecommunications Networks</a:t>
            </a:r>
            <a:endParaRPr sz="1400" b="0" i="0" u="none" strike="noStrike" cap="none">
              <a:solidFill>
                <a:schemeClr val="dk1"/>
              </a:solidFill>
              <a:latin typeface="Arial"/>
              <a:ea typeface="Arial"/>
              <a:cs typeface="Arial"/>
              <a:sym typeface="Arial"/>
            </a:endParaRPr>
          </a:p>
        </p:txBody>
      </p:sp>
      <p:sp>
        <p:nvSpPr>
          <p:cNvPr id="173" name="Google Shape;173;p4"/>
          <p:cNvSpPr txBox="1"/>
          <p:nvPr/>
        </p:nvSpPr>
        <p:spPr>
          <a:xfrm>
            <a:off x="1097280" y="286604"/>
            <a:ext cx="10115203" cy="1450757"/>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0000"/>
              </a:buClr>
              <a:buSzPts val="4800"/>
              <a:buFont typeface="Arial"/>
              <a:buNone/>
            </a:pPr>
            <a:r>
              <a:rPr lang="en-US" sz="4800" b="0" i="0" u="none" strike="noStrike" cap="none" dirty="0">
                <a:solidFill>
                  <a:srgbClr val="3F3F3F"/>
                </a:solidFill>
                <a:latin typeface="Arial"/>
                <a:ea typeface="Arial"/>
                <a:cs typeface="Arial"/>
                <a:sym typeface="Arial"/>
              </a:rPr>
              <a:t>Cyberspace</a:t>
            </a:r>
            <a:endParaRPr sz="4800" b="0" i="0" u="none" strike="noStrike" cap="none" dirty="0">
              <a:solidFill>
                <a:srgbClr val="3F3F3F"/>
              </a:solidFill>
              <a:latin typeface="Arial"/>
              <a:ea typeface="Arial"/>
              <a:cs typeface="Arial"/>
              <a:sym typeface="Arial"/>
            </a:endParaRPr>
          </a:p>
        </p:txBody>
      </p:sp>
      <p:pic>
        <p:nvPicPr>
          <p:cNvPr id="174" name="Google Shape;174;p4" descr="Image result for cyberspace"/>
          <p:cNvPicPr preferRelativeResize="0"/>
          <p:nvPr/>
        </p:nvPicPr>
        <p:blipFill rotWithShape="1">
          <a:blip r:embed="rId5">
            <a:alphaModFix/>
          </a:blip>
          <a:srcRect l="34558"/>
          <a:stretch/>
        </p:blipFill>
        <p:spPr>
          <a:xfrm>
            <a:off x="9080134" y="4096413"/>
            <a:ext cx="3111865" cy="2241894"/>
          </a:xfrm>
          <a:prstGeom prst="rect">
            <a:avLst/>
          </a:prstGeom>
          <a:noFill/>
          <a:ln>
            <a:noFill/>
          </a:ln>
        </p:spPr>
      </p:pic>
      <p:pic>
        <p:nvPicPr>
          <p:cNvPr id="175" name="Google Shape;175;p4" descr="Connections"/>
          <p:cNvPicPr preferRelativeResize="0"/>
          <p:nvPr/>
        </p:nvPicPr>
        <p:blipFill rotWithShape="1">
          <a:blip r:embed="rId6">
            <a:alphaModFix/>
          </a:blip>
          <a:srcRect/>
          <a:stretch/>
        </p:blipFill>
        <p:spPr>
          <a:xfrm>
            <a:off x="2051949" y="2999190"/>
            <a:ext cx="914400" cy="914400"/>
          </a:xfrm>
          <a:prstGeom prst="rect">
            <a:avLst/>
          </a:prstGeom>
          <a:noFill/>
          <a:ln>
            <a:noFill/>
          </a:ln>
        </p:spPr>
      </p:pic>
      <p:pic>
        <p:nvPicPr>
          <p:cNvPr id="176" name="Google Shape;176;p4" descr="Computer"/>
          <p:cNvPicPr preferRelativeResize="0"/>
          <p:nvPr/>
        </p:nvPicPr>
        <p:blipFill rotWithShape="1">
          <a:blip r:embed="rId7">
            <a:alphaModFix/>
          </a:blip>
          <a:srcRect/>
          <a:stretch/>
        </p:blipFill>
        <p:spPr>
          <a:xfrm>
            <a:off x="4917798" y="2971800"/>
            <a:ext cx="914400" cy="914400"/>
          </a:xfrm>
          <a:prstGeom prst="rect">
            <a:avLst/>
          </a:prstGeom>
          <a:noFill/>
          <a:ln>
            <a:noFill/>
          </a:ln>
        </p:spPr>
      </p:pic>
      <p:pic>
        <p:nvPicPr>
          <p:cNvPr id="177" name="Google Shape;177;p4" descr="World"/>
          <p:cNvPicPr preferRelativeResize="0"/>
          <p:nvPr/>
        </p:nvPicPr>
        <p:blipFill rotWithShape="1">
          <a:blip r:embed="rId8">
            <a:alphaModFix/>
          </a:blip>
          <a:srcRect/>
          <a:stretch/>
        </p:blipFill>
        <p:spPr>
          <a:xfrm>
            <a:off x="3545128" y="2996913"/>
            <a:ext cx="914400" cy="914400"/>
          </a:xfrm>
          <a:prstGeom prst="rect">
            <a:avLst/>
          </a:prstGeom>
          <a:noFill/>
          <a:ln>
            <a:noFill/>
          </a:ln>
        </p:spPr>
      </p:pic>
    </p:spTree>
  </p:cSld>
  <p:clrMapOvr>
    <a:masterClrMapping/>
  </p:clrMapOvr>
  <p:transition spd="med">
    <p:push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Cyberspace</a:t>
            </a:r>
            <a:endParaRPr/>
          </a:p>
        </p:txBody>
      </p:sp>
      <p:sp>
        <p:nvSpPr>
          <p:cNvPr id="184" name="Google Shape;184;p5"/>
          <p:cNvSpPr txBox="1"/>
          <p:nvPr/>
        </p:nvSpPr>
        <p:spPr>
          <a:xfrm>
            <a:off x="2563266" y="3091163"/>
            <a:ext cx="872458" cy="55748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Arial"/>
                <a:ea typeface="Arial"/>
                <a:cs typeface="Arial"/>
                <a:sym typeface="Arial"/>
              </a:rPr>
              <a:t>1980</a:t>
            </a:r>
            <a:endParaRPr sz="1800" b="1" i="0" u="none" strike="noStrike" cap="none">
              <a:solidFill>
                <a:schemeClr val="dk1"/>
              </a:solidFill>
              <a:latin typeface="Arial"/>
              <a:ea typeface="Arial"/>
              <a:cs typeface="Arial"/>
              <a:sym typeface="Arial"/>
            </a:endParaRPr>
          </a:p>
        </p:txBody>
      </p:sp>
      <p:sp>
        <p:nvSpPr>
          <p:cNvPr id="185" name="Google Shape;185;p5"/>
          <p:cNvSpPr txBox="1"/>
          <p:nvPr/>
        </p:nvSpPr>
        <p:spPr>
          <a:xfrm>
            <a:off x="9072191" y="2901972"/>
            <a:ext cx="1041647" cy="55748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chemeClr val="dk1"/>
                </a:solidFill>
                <a:latin typeface="Arial"/>
                <a:ea typeface="Arial"/>
                <a:cs typeface="Arial"/>
                <a:sym typeface="Arial"/>
              </a:rPr>
              <a:t>2019</a:t>
            </a:r>
            <a:endParaRPr sz="1800" b="1" i="0" u="none" strike="noStrike" cap="none" dirty="0">
              <a:solidFill>
                <a:schemeClr val="dk1"/>
              </a:solidFill>
              <a:latin typeface="Arial"/>
              <a:ea typeface="Arial"/>
              <a:cs typeface="Arial"/>
              <a:sym typeface="Arial"/>
            </a:endParaRPr>
          </a:p>
        </p:txBody>
      </p:sp>
      <p:grpSp>
        <p:nvGrpSpPr>
          <p:cNvPr id="186" name="Google Shape;186;p5"/>
          <p:cNvGrpSpPr/>
          <p:nvPr/>
        </p:nvGrpSpPr>
        <p:grpSpPr>
          <a:xfrm>
            <a:off x="7753669" y="3497392"/>
            <a:ext cx="3192110" cy="2213256"/>
            <a:chOff x="4466155" y="4310743"/>
            <a:chExt cx="2668401" cy="1832831"/>
          </a:xfrm>
        </p:grpSpPr>
        <p:pic>
          <p:nvPicPr>
            <p:cNvPr id="187" name="Google Shape;187;p5" descr="Image result for social media icon fb insta twitter"/>
            <p:cNvPicPr preferRelativeResize="0"/>
            <p:nvPr/>
          </p:nvPicPr>
          <p:blipFill rotWithShape="1">
            <a:blip r:embed="rId3">
              <a:alphaModFix/>
            </a:blip>
            <a:srcRect/>
            <a:stretch/>
          </p:blipFill>
          <p:spPr>
            <a:xfrm>
              <a:off x="4466155" y="4310743"/>
              <a:ext cx="1110590" cy="1097005"/>
            </a:xfrm>
            <a:prstGeom prst="rect">
              <a:avLst/>
            </a:prstGeom>
            <a:noFill/>
            <a:ln>
              <a:noFill/>
            </a:ln>
          </p:spPr>
        </p:pic>
        <p:grpSp>
          <p:nvGrpSpPr>
            <p:cNvPr id="188" name="Google Shape;188;p5"/>
            <p:cNvGrpSpPr/>
            <p:nvPr/>
          </p:nvGrpSpPr>
          <p:grpSpPr>
            <a:xfrm>
              <a:off x="5681700" y="4487723"/>
              <a:ext cx="1452856" cy="661991"/>
              <a:chOff x="5369214" y="4790366"/>
              <a:chExt cx="1452856" cy="661991"/>
            </a:xfrm>
          </p:grpSpPr>
          <p:pic>
            <p:nvPicPr>
              <p:cNvPr id="189" name="Google Shape;189;p5"/>
              <p:cNvPicPr preferRelativeResize="0"/>
              <p:nvPr/>
            </p:nvPicPr>
            <p:blipFill rotWithShape="1">
              <a:blip r:embed="rId4">
                <a:alphaModFix/>
              </a:blip>
              <a:srcRect/>
              <a:stretch/>
            </p:blipFill>
            <p:spPr>
              <a:xfrm>
                <a:off x="5369214" y="4807238"/>
                <a:ext cx="651120" cy="645119"/>
              </a:xfrm>
              <a:prstGeom prst="rect">
                <a:avLst/>
              </a:prstGeom>
              <a:noFill/>
              <a:ln>
                <a:noFill/>
              </a:ln>
            </p:spPr>
          </p:pic>
          <p:pic>
            <p:nvPicPr>
              <p:cNvPr id="190" name="Google Shape;190;p5" descr="Image result for pay anyone icon ocbc"/>
              <p:cNvPicPr preferRelativeResize="0"/>
              <p:nvPr/>
            </p:nvPicPr>
            <p:blipFill rotWithShape="1">
              <a:blip r:embed="rId5">
                <a:alphaModFix/>
              </a:blip>
              <a:srcRect/>
              <a:stretch/>
            </p:blipFill>
            <p:spPr>
              <a:xfrm>
                <a:off x="6160079" y="4790366"/>
                <a:ext cx="661991" cy="661991"/>
              </a:xfrm>
              <a:prstGeom prst="rect">
                <a:avLst/>
              </a:prstGeom>
              <a:noFill/>
              <a:ln>
                <a:noFill/>
              </a:ln>
            </p:spPr>
          </p:pic>
        </p:grpSp>
        <p:pic>
          <p:nvPicPr>
            <p:cNvPr id="191" name="Google Shape;191;p5"/>
            <p:cNvPicPr preferRelativeResize="0"/>
            <p:nvPr/>
          </p:nvPicPr>
          <p:blipFill rotWithShape="1">
            <a:blip r:embed="rId6">
              <a:alphaModFix/>
            </a:blip>
            <a:srcRect/>
            <a:stretch/>
          </p:blipFill>
          <p:spPr>
            <a:xfrm>
              <a:off x="4998758" y="5521780"/>
              <a:ext cx="577987" cy="577987"/>
            </a:xfrm>
            <a:prstGeom prst="rect">
              <a:avLst/>
            </a:prstGeom>
            <a:noFill/>
            <a:ln>
              <a:noFill/>
            </a:ln>
          </p:spPr>
        </p:pic>
        <p:pic>
          <p:nvPicPr>
            <p:cNvPr id="192" name="Google Shape;192;p5"/>
            <p:cNvPicPr preferRelativeResize="0"/>
            <p:nvPr/>
          </p:nvPicPr>
          <p:blipFill rotWithShape="1">
            <a:blip r:embed="rId7">
              <a:alphaModFix/>
            </a:blip>
            <a:srcRect/>
            <a:stretch/>
          </p:blipFill>
          <p:spPr>
            <a:xfrm>
              <a:off x="5681700" y="5488740"/>
              <a:ext cx="644065" cy="644065"/>
            </a:xfrm>
            <a:prstGeom prst="rect">
              <a:avLst/>
            </a:prstGeom>
            <a:noFill/>
            <a:ln>
              <a:noFill/>
            </a:ln>
          </p:spPr>
        </p:pic>
        <p:pic>
          <p:nvPicPr>
            <p:cNvPr id="193" name="Google Shape;193;p5" descr="Image result for hotel trivago app icon"/>
            <p:cNvPicPr preferRelativeResize="0"/>
            <p:nvPr/>
          </p:nvPicPr>
          <p:blipFill rotWithShape="1">
            <a:blip r:embed="rId8">
              <a:alphaModFix/>
            </a:blip>
            <a:srcRect/>
            <a:stretch/>
          </p:blipFill>
          <p:spPr>
            <a:xfrm>
              <a:off x="6430720" y="5461442"/>
              <a:ext cx="682132" cy="682132"/>
            </a:xfrm>
            <a:prstGeom prst="rect">
              <a:avLst/>
            </a:prstGeom>
            <a:noFill/>
            <a:ln>
              <a:noFill/>
            </a:ln>
          </p:spPr>
        </p:pic>
      </p:grpSp>
      <p:cxnSp>
        <p:nvCxnSpPr>
          <p:cNvPr id="194" name="Google Shape;194;p5"/>
          <p:cNvCxnSpPr/>
          <p:nvPr/>
        </p:nvCxnSpPr>
        <p:spPr>
          <a:xfrm>
            <a:off x="4839206" y="4442573"/>
            <a:ext cx="2513588" cy="0"/>
          </a:xfrm>
          <a:prstGeom prst="straightConnector1">
            <a:avLst/>
          </a:prstGeom>
          <a:noFill/>
          <a:ln w="38100" cap="flat" cmpd="sng">
            <a:solidFill>
              <a:schemeClr val="dk1"/>
            </a:solidFill>
            <a:prstDash val="solid"/>
            <a:round/>
            <a:headEnd type="none" w="sm" len="sm"/>
            <a:tailEnd type="triangle" w="med" len="med"/>
          </a:ln>
        </p:spPr>
      </p:cxnSp>
      <p:pic>
        <p:nvPicPr>
          <p:cNvPr id="195" name="Google Shape;195;p5" descr="Email"/>
          <p:cNvPicPr preferRelativeResize="0"/>
          <p:nvPr/>
        </p:nvPicPr>
        <p:blipFill rotWithShape="1">
          <a:blip r:embed="rId9">
            <a:alphaModFix/>
          </a:blip>
          <a:srcRect/>
          <a:stretch/>
        </p:blipFill>
        <p:spPr>
          <a:xfrm>
            <a:off x="2170064" y="3613142"/>
            <a:ext cx="1658862" cy="1658862"/>
          </a:xfrm>
          <a:prstGeom prst="rect">
            <a:avLst/>
          </a:prstGeom>
          <a:noFill/>
          <a:ln>
            <a:noFill/>
          </a:ln>
        </p:spPr>
      </p:pic>
      <p:pic>
        <p:nvPicPr>
          <p:cNvPr id="196" name="Google Shape;196;p5" descr="Clock"/>
          <p:cNvPicPr preferRelativeResize="0"/>
          <p:nvPr/>
        </p:nvPicPr>
        <p:blipFill rotWithShape="1">
          <a:blip r:embed="rId10">
            <a:alphaModFix/>
          </a:blip>
          <a:srcRect/>
          <a:stretch/>
        </p:blipFill>
        <p:spPr>
          <a:xfrm>
            <a:off x="5638800" y="3442805"/>
            <a:ext cx="914400" cy="914400"/>
          </a:xfrm>
          <a:prstGeom prst="rect">
            <a:avLst/>
          </a:prstGeom>
          <a:noFill/>
          <a:ln>
            <a:noFill/>
          </a:ln>
        </p:spPr>
      </p:pic>
      <p:sp>
        <p:nvSpPr>
          <p:cNvPr id="17" name="Google Shape;166;p4">
            <a:extLst>
              <a:ext uri="{FF2B5EF4-FFF2-40B4-BE49-F238E27FC236}">
                <a16:creationId xmlns:a16="http://schemas.microsoft.com/office/drawing/2014/main" id="{9957ED34-880A-45B4-9CF7-F51B7633FB38}"/>
              </a:ext>
            </a:extLst>
          </p:cNvPr>
          <p:cNvSpPr txBox="1"/>
          <p:nvPr/>
        </p:nvSpPr>
        <p:spPr>
          <a:xfrm>
            <a:off x="959727" y="1819854"/>
            <a:ext cx="10058400" cy="3838915"/>
          </a:xfrm>
          <a:prstGeom prst="rect">
            <a:avLst/>
          </a:prstGeom>
          <a:noFill/>
          <a:ln>
            <a:noFill/>
          </a:ln>
        </p:spPr>
        <p:txBody>
          <a:bodyPr spcFirstLastPara="1" wrap="square" lIns="45700" tIns="22850" rIns="45700" bIns="22850" anchor="t" anchorCtr="0">
            <a:noAutofit/>
          </a:bodyPr>
          <a:lstStyle/>
          <a:p>
            <a:pPr marL="228594" lvl="0">
              <a:lnSpc>
                <a:spcPct val="150000"/>
              </a:lnSpc>
              <a:buClr>
                <a:schemeClr val="accent1"/>
              </a:buClr>
              <a:buSzPts val="2000"/>
            </a:pPr>
            <a:r>
              <a:rPr lang="en-US" sz="2000" dirty="0">
                <a:solidFill>
                  <a:schemeClr val="dk1"/>
                </a:solidFill>
              </a:rPr>
              <a:t>Most people cannot value security without first understanding how much is at risk</a:t>
            </a:r>
          </a:p>
          <a:p>
            <a:pPr marL="228594" lvl="0">
              <a:lnSpc>
                <a:spcPct val="150000"/>
              </a:lnSpc>
              <a:buClr>
                <a:schemeClr val="accent1"/>
              </a:buClr>
              <a:buSzPts val="2000"/>
            </a:pPr>
            <a:r>
              <a:rPr lang="en-US" sz="2000" dirty="0">
                <a:solidFill>
                  <a:schemeClr val="dk1"/>
                </a:solidFill>
              </a:rPr>
              <a:t>More applications are moving onto the cyberspace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6"/>
          <p:cNvSpPr txBox="1"/>
          <p:nvPr/>
        </p:nvSpPr>
        <p:spPr>
          <a:xfrm>
            <a:off x="817567" y="898258"/>
            <a:ext cx="4016484" cy="900247"/>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Arial"/>
              <a:ea typeface="Arial"/>
              <a:cs typeface="Arial"/>
              <a:sym typeface="Arial"/>
            </a:endParaRPr>
          </a:p>
        </p:txBody>
      </p:sp>
      <p:sp>
        <p:nvSpPr>
          <p:cNvPr id="203" name="Google Shape;203;p6"/>
          <p:cNvSpPr txBox="1">
            <a:spLocks noGrp="1"/>
          </p:cNvSpPr>
          <p:nvPr>
            <p:ph type="body" idx="1"/>
          </p:nvPr>
        </p:nvSpPr>
        <p:spPr>
          <a:xfrm>
            <a:off x="1276575" y="1791944"/>
            <a:ext cx="10058400" cy="4023360"/>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SzPts val="2000"/>
              <a:buNone/>
            </a:pPr>
            <a:r>
              <a:rPr lang="en-US" dirty="0"/>
              <a:t>Attempt by hackers to damage a computer network or system</a:t>
            </a:r>
          </a:p>
          <a:p>
            <a:pPr marL="342900" lvl="0" algn="l" rtl="0">
              <a:lnSpc>
                <a:spcPct val="90000"/>
              </a:lnSpc>
              <a:spcBef>
                <a:spcPts val="0"/>
              </a:spcBef>
              <a:spcAft>
                <a:spcPts val="0"/>
              </a:spcAft>
              <a:buSzPts val="2000"/>
              <a:buFont typeface="Arial" panose="020B0604020202020204" pitchFamily="34" charset="0"/>
              <a:buChar char="•"/>
            </a:pPr>
            <a:endParaRPr lang="en-US" dirty="0"/>
          </a:p>
          <a:p>
            <a:pPr marL="0" lvl="0" indent="0" algn="l" rtl="0">
              <a:lnSpc>
                <a:spcPct val="90000"/>
              </a:lnSpc>
              <a:spcBef>
                <a:spcPts val="0"/>
              </a:spcBef>
              <a:spcAft>
                <a:spcPts val="0"/>
              </a:spcAft>
              <a:buSzPts val="2000"/>
              <a:buNone/>
            </a:pPr>
            <a:r>
              <a:rPr lang="en-US" dirty="0"/>
              <a:t>Deliberate exploitation of vulnerabilities in computer systems, technology-dependent enterprises and networks</a:t>
            </a:r>
          </a:p>
          <a:p>
            <a:pPr marL="342900" lvl="0" algn="l" rtl="0">
              <a:lnSpc>
                <a:spcPct val="90000"/>
              </a:lnSpc>
              <a:spcBef>
                <a:spcPts val="0"/>
              </a:spcBef>
              <a:spcAft>
                <a:spcPts val="0"/>
              </a:spcAft>
              <a:buSzPts val="2000"/>
              <a:buFont typeface="Arial" panose="020B0604020202020204" pitchFamily="34" charset="0"/>
              <a:buChar char="•"/>
            </a:pPr>
            <a:endParaRPr lang="en-US" dirty="0"/>
          </a:p>
          <a:p>
            <a:pPr marL="0" lvl="0" indent="0" algn="l" rtl="0">
              <a:lnSpc>
                <a:spcPct val="90000"/>
              </a:lnSpc>
              <a:spcBef>
                <a:spcPts val="0"/>
              </a:spcBef>
              <a:spcAft>
                <a:spcPts val="0"/>
              </a:spcAft>
              <a:buSzPts val="2000"/>
              <a:buNone/>
            </a:pPr>
            <a:r>
              <a:rPr lang="en-US" dirty="0"/>
              <a:t>Mainly uses malicious code to alter computer code, logic or data</a:t>
            </a:r>
          </a:p>
          <a:p>
            <a:pPr marL="342900" lvl="0" algn="l" rtl="0">
              <a:lnSpc>
                <a:spcPct val="90000"/>
              </a:lnSpc>
              <a:spcBef>
                <a:spcPts val="0"/>
              </a:spcBef>
              <a:spcAft>
                <a:spcPts val="0"/>
              </a:spcAft>
              <a:buSzPts val="2000"/>
              <a:buFont typeface="Arial" panose="020B0604020202020204" pitchFamily="34" charset="0"/>
              <a:buChar char="•"/>
            </a:pPr>
            <a:endParaRPr lang="en-US" dirty="0"/>
          </a:p>
          <a:p>
            <a:pPr marL="0" lvl="0" indent="0" algn="l" rtl="0">
              <a:lnSpc>
                <a:spcPct val="90000"/>
              </a:lnSpc>
              <a:spcBef>
                <a:spcPts val="0"/>
              </a:spcBef>
              <a:spcAft>
                <a:spcPts val="0"/>
              </a:spcAft>
              <a:buSzPts val="2000"/>
              <a:buNone/>
            </a:pPr>
            <a:r>
              <a:rPr lang="en-US" dirty="0"/>
              <a:t>Disruptive consequences that can compromise data and lead to cybercrimes, such as information and identity theft</a:t>
            </a:r>
            <a:endParaRPr dirty="0"/>
          </a:p>
          <a:p>
            <a:pPr marL="342891" lvl="0" indent="-215894" algn="l" rtl="0">
              <a:lnSpc>
                <a:spcPct val="90000"/>
              </a:lnSpc>
              <a:spcBef>
                <a:spcPts val="1600"/>
              </a:spcBef>
              <a:spcAft>
                <a:spcPts val="200"/>
              </a:spcAft>
              <a:buSzPts val="2000"/>
              <a:buNone/>
            </a:pPr>
            <a:endParaRPr dirty="0"/>
          </a:p>
        </p:txBody>
      </p:sp>
      <p:pic>
        <p:nvPicPr>
          <p:cNvPr id="204" name="Google Shape;204;p6"/>
          <p:cNvPicPr preferRelativeResize="0"/>
          <p:nvPr/>
        </p:nvPicPr>
        <p:blipFill rotWithShape="1">
          <a:blip r:embed="rId3">
            <a:alphaModFix/>
          </a:blip>
          <a:srcRect/>
          <a:stretch/>
        </p:blipFill>
        <p:spPr>
          <a:xfrm>
            <a:off x="2131120" y="4400066"/>
            <a:ext cx="3377612" cy="1933313"/>
          </a:xfrm>
          <a:prstGeom prst="rect">
            <a:avLst/>
          </a:prstGeom>
          <a:noFill/>
          <a:ln>
            <a:noFill/>
          </a:ln>
        </p:spPr>
      </p:pic>
      <p:pic>
        <p:nvPicPr>
          <p:cNvPr id="205" name="Google Shape;205;p6"/>
          <p:cNvPicPr preferRelativeResize="0"/>
          <p:nvPr/>
        </p:nvPicPr>
        <p:blipFill rotWithShape="1">
          <a:blip r:embed="rId4">
            <a:alphaModFix/>
          </a:blip>
          <a:srcRect/>
          <a:stretch/>
        </p:blipFill>
        <p:spPr>
          <a:xfrm>
            <a:off x="7536446" y="4264034"/>
            <a:ext cx="2795922" cy="1987352"/>
          </a:xfrm>
          <a:prstGeom prst="rect">
            <a:avLst/>
          </a:prstGeom>
          <a:noFill/>
          <a:ln>
            <a:noFill/>
          </a:ln>
        </p:spPr>
      </p:pic>
      <p:sp>
        <p:nvSpPr>
          <p:cNvPr id="206" name="Google Shape;206;p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Cyberattack</a:t>
            </a:r>
            <a:endParaRPr/>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0"/>
        <p:cNvGrpSpPr/>
        <p:nvPr/>
      </p:nvGrpSpPr>
      <p:grpSpPr>
        <a:xfrm>
          <a:off x="0" y="0"/>
          <a:ext cx="0" cy="0"/>
          <a:chOff x="0" y="0"/>
          <a:chExt cx="0" cy="0"/>
        </a:xfrm>
      </p:grpSpPr>
      <p:sp>
        <p:nvSpPr>
          <p:cNvPr id="211" name="Google Shape;211;p7"/>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7"/>
          <p:cNvSpPr/>
          <p:nvPr/>
        </p:nvSpPr>
        <p:spPr>
          <a:xfrm>
            <a:off x="1" y="6334316"/>
            <a:ext cx="12192000" cy="66484"/>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13" name="Google Shape;213;p7"/>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
        <p:nvSpPr>
          <p:cNvPr id="214" name="Google Shape;214;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215" name="Google Shape;215;p7">
            <a:hlinkClick r:id="rId3"/>
          </p:cNvPr>
          <p:cNvPicPr preferRelativeResize="0"/>
          <p:nvPr/>
        </p:nvPicPr>
        <p:blipFill rotWithShape="1">
          <a:blip r:embed="rId4">
            <a:alphaModFix/>
          </a:blip>
          <a:srcRect l="25899" b="3108"/>
          <a:stretch/>
        </p:blipFill>
        <p:spPr>
          <a:xfrm>
            <a:off x="1108822" y="640080"/>
            <a:ext cx="5800844" cy="5404373"/>
          </a:xfrm>
          <a:prstGeom prst="rect">
            <a:avLst/>
          </a:prstGeom>
          <a:noFill/>
          <a:ln>
            <a:noFill/>
          </a:ln>
        </p:spPr>
      </p:pic>
      <p:sp>
        <p:nvSpPr>
          <p:cNvPr id="216" name="Google Shape;216;p7"/>
          <p:cNvSpPr/>
          <p:nvPr/>
        </p:nvSpPr>
        <p:spPr>
          <a:xfrm>
            <a:off x="7613486" y="0"/>
            <a:ext cx="4584734"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7"/>
          <p:cNvSpPr txBox="1"/>
          <p:nvPr/>
        </p:nvSpPr>
        <p:spPr>
          <a:xfrm>
            <a:off x="8471257" y="2837627"/>
            <a:ext cx="2869191" cy="1360841"/>
          </a:xfrm>
          <a:prstGeom prst="rect">
            <a:avLst/>
          </a:prstGeom>
          <a:noFill/>
          <a:ln>
            <a:noFill/>
          </a:ln>
        </p:spPr>
        <p:txBody>
          <a:bodyPr spcFirstLastPara="1" wrap="square" lIns="91425" tIns="45700" rIns="91425" bIns="45700" anchor="t" anchorCtr="0">
            <a:noAutofit/>
          </a:bodyPr>
          <a:lstStyle/>
          <a:p>
            <a:pPr marL="0" marR="0" lvl="0" indent="0" algn="ctr" rtl="0">
              <a:lnSpc>
                <a:spcPct val="85000"/>
              </a:lnSpc>
              <a:spcBef>
                <a:spcPts val="0"/>
              </a:spcBef>
              <a:spcAft>
                <a:spcPts val="0"/>
              </a:spcAft>
              <a:buClr>
                <a:srgbClr val="000000"/>
              </a:buClr>
              <a:buSzPts val="3800"/>
              <a:buFont typeface="Arial"/>
              <a:buNone/>
            </a:pPr>
            <a:r>
              <a:rPr lang="en-US" sz="3800" b="0" i="0" u="none" strike="noStrike" cap="none">
                <a:solidFill>
                  <a:srgbClr val="FFFFFF"/>
                </a:solidFill>
                <a:latin typeface="Arial"/>
                <a:ea typeface="Arial"/>
                <a:cs typeface="Arial"/>
                <a:sym typeface="Arial"/>
              </a:rPr>
              <a:t>SingHealth</a:t>
            </a:r>
            <a:endParaRPr sz="3800" b="0" i="0" u="none" strike="noStrike" cap="none">
              <a:solidFill>
                <a:srgbClr val="FFFFFF"/>
              </a:solidFill>
              <a:latin typeface="Arial"/>
              <a:ea typeface="Arial"/>
              <a:cs typeface="Arial"/>
              <a:sym typeface="Arial"/>
            </a:endParaRPr>
          </a:p>
          <a:p>
            <a:pPr marL="0" marR="0" lvl="0" indent="0" algn="ctr" rtl="0">
              <a:lnSpc>
                <a:spcPct val="85000"/>
              </a:lnSpc>
              <a:spcBef>
                <a:spcPts val="600"/>
              </a:spcBef>
              <a:spcAft>
                <a:spcPts val="600"/>
              </a:spcAft>
              <a:buClr>
                <a:srgbClr val="000000"/>
              </a:buClr>
              <a:buSzPts val="3800"/>
              <a:buFont typeface="Arial"/>
              <a:buNone/>
            </a:pPr>
            <a:r>
              <a:rPr lang="en-US" sz="3800" b="0" i="0" u="none" strike="noStrike" cap="none">
                <a:solidFill>
                  <a:srgbClr val="FFFFFF"/>
                </a:solidFill>
                <a:latin typeface="Arial"/>
                <a:ea typeface="Arial"/>
                <a:cs typeface="Arial"/>
                <a:sym typeface="Arial"/>
              </a:rPr>
              <a:t>Cyberattack</a:t>
            </a:r>
            <a:endParaRPr sz="1400" b="0" i="0" u="none" strike="noStrike" cap="none">
              <a:solidFill>
                <a:srgbClr val="000000"/>
              </a:solidFill>
              <a:latin typeface="Arial"/>
              <a:ea typeface="Arial"/>
              <a:cs typeface="Arial"/>
              <a:sym typeface="Arial"/>
            </a:endParaRPr>
          </a:p>
        </p:txBody>
      </p:sp>
      <p:sp>
        <p:nvSpPr>
          <p:cNvPr id="218" name="Google Shape;218;p7"/>
          <p:cNvSpPr/>
          <p:nvPr/>
        </p:nvSpPr>
        <p:spPr>
          <a:xfrm>
            <a:off x="7556906"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2"/>
        <p:cNvGrpSpPr/>
        <p:nvPr/>
      </p:nvGrpSpPr>
      <p:grpSpPr>
        <a:xfrm>
          <a:off x="0" y="0"/>
          <a:ext cx="0" cy="0"/>
          <a:chOff x="0" y="0"/>
          <a:chExt cx="0" cy="0"/>
        </a:xfrm>
      </p:grpSpPr>
      <p:pic>
        <p:nvPicPr>
          <p:cNvPr id="223" name="Google Shape;223;p8">
            <a:hlinkClick r:id="rId3"/>
          </p:cNvPr>
          <p:cNvPicPr preferRelativeResize="0"/>
          <p:nvPr/>
        </p:nvPicPr>
        <p:blipFill rotWithShape="1">
          <a:blip r:embed="rId4">
            <a:alphaModFix/>
          </a:blip>
          <a:srcRect l="-1902" t="3891" r="146" b="457"/>
          <a:stretch/>
        </p:blipFill>
        <p:spPr>
          <a:xfrm>
            <a:off x="4462649" y="649580"/>
            <a:ext cx="3461070" cy="2562083"/>
          </a:xfrm>
          <a:prstGeom prst="rect">
            <a:avLst/>
          </a:prstGeom>
          <a:noFill/>
          <a:ln>
            <a:noFill/>
          </a:ln>
        </p:spPr>
      </p:pic>
      <p:sp>
        <p:nvSpPr>
          <p:cNvPr id="224" name="Google Shape;224;p8"/>
          <p:cNvSpPr txBox="1"/>
          <p:nvPr/>
        </p:nvSpPr>
        <p:spPr>
          <a:xfrm>
            <a:off x="560149" y="2402986"/>
            <a:ext cx="3141839" cy="2052021"/>
          </a:xfrm>
          <a:prstGeom prst="rect">
            <a:avLst/>
          </a:prstGeom>
          <a:noFill/>
          <a:ln>
            <a:noFill/>
          </a:ln>
        </p:spPr>
        <p:txBody>
          <a:bodyPr spcFirstLastPara="1" wrap="square" lIns="91425" tIns="45700" rIns="91425" bIns="45700" anchor="t" anchorCtr="0">
            <a:noAutofit/>
          </a:bodyPr>
          <a:lstStyle/>
          <a:p>
            <a:pPr marL="0" marR="0" lvl="0" indent="0" algn="ctr" rtl="0">
              <a:lnSpc>
                <a:spcPct val="85000"/>
              </a:lnSpc>
              <a:spcBef>
                <a:spcPts val="0"/>
              </a:spcBef>
              <a:spcAft>
                <a:spcPts val="0"/>
              </a:spcAft>
              <a:buClr>
                <a:srgbClr val="000000"/>
              </a:buClr>
              <a:buSzPts val="3800"/>
              <a:buFont typeface="Arial"/>
              <a:buNone/>
            </a:pPr>
            <a:r>
              <a:rPr lang="en-US" sz="3800" b="0" i="0" u="none" strike="noStrike" cap="none" dirty="0">
                <a:solidFill>
                  <a:srgbClr val="FFFFFF"/>
                </a:solidFill>
                <a:latin typeface="Arial"/>
                <a:ea typeface="Arial"/>
                <a:cs typeface="Arial"/>
                <a:sym typeface="Arial"/>
              </a:rPr>
              <a:t>Other</a:t>
            </a:r>
            <a:endParaRPr sz="1400" b="0" i="0" u="none" strike="noStrike" cap="none" dirty="0">
              <a:solidFill>
                <a:srgbClr val="000000"/>
              </a:solidFill>
              <a:latin typeface="Arial"/>
              <a:ea typeface="Arial"/>
              <a:cs typeface="Arial"/>
              <a:sym typeface="Arial"/>
            </a:endParaRPr>
          </a:p>
          <a:p>
            <a:pPr marL="0" marR="0" lvl="0" indent="0" algn="ctr" rtl="0">
              <a:lnSpc>
                <a:spcPct val="85000"/>
              </a:lnSpc>
              <a:spcBef>
                <a:spcPts val="600"/>
              </a:spcBef>
              <a:spcAft>
                <a:spcPts val="0"/>
              </a:spcAft>
              <a:buClr>
                <a:srgbClr val="000000"/>
              </a:buClr>
              <a:buSzPts val="3800"/>
              <a:buFont typeface="Arial"/>
              <a:buNone/>
            </a:pPr>
            <a:r>
              <a:rPr lang="en-US" sz="3800" b="0" i="0" u="none" strike="noStrike" cap="none" dirty="0">
                <a:solidFill>
                  <a:srgbClr val="FFFFFF"/>
                </a:solidFill>
                <a:latin typeface="Arial"/>
                <a:ea typeface="Arial"/>
                <a:cs typeface="Arial"/>
                <a:sym typeface="Arial"/>
              </a:rPr>
              <a:t>Major</a:t>
            </a:r>
            <a:endParaRPr sz="1400" b="0" i="0" u="none" strike="noStrike" cap="none" dirty="0">
              <a:solidFill>
                <a:srgbClr val="000000"/>
              </a:solidFill>
              <a:latin typeface="Arial"/>
              <a:ea typeface="Arial"/>
              <a:cs typeface="Arial"/>
              <a:sym typeface="Arial"/>
            </a:endParaRPr>
          </a:p>
          <a:p>
            <a:pPr marL="0" marR="0" lvl="0" indent="0" algn="ctr" rtl="0">
              <a:lnSpc>
                <a:spcPct val="85000"/>
              </a:lnSpc>
              <a:spcBef>
                <a:spcPts val="600"/>
              </a:spcBef>
              <a:spcAft>
                <a:spcPts val="600"/>
              </a:spcAft>
              <a:buClr>
                <a:srgbClr val="000000"/>
              </a:buClr>
              <a:buSzPts val="3800"/>
              <a:buFont typeface="Arial"/>
              <a:buNone/>
            </a:pPr>
            <a:r>
              <a:rPr lang="en-US" sz="3800" b="0" i="0" u="none" strike="noStrike" cap="none" dirty="0">
                <a:solidFill>
                  <a:srgbClr val="FFFFFF"/>
                </a:solidFill>
                <a:latin typeface="Arial"/>
                <a:ea typeface="Arial"/>
                <a:cs typeface="Arial"/>
                <a:sym typeface="Arial"/>
              </a:rPr>
              <a:t>Cyberattacks</a:t>
            </a:r>
            <a:endParaRPr sz="1400" b="0" i="0" u="none" strike="noStrike" cap="none" dirty="0">
              <a:solidFill>
                <a:srgbClr val="000000"/>
              </a:solidFill>
              <a:latin typeface="Arial"/>
              <a:ea typeface="Arial"/>
              <a:cs typeface="Arial"/>
              <a:sym typeface="Arial"/>
            </a:endParaRPr>
          </a:p>
        </p:txBody>
      </p:sp>
      <p:pic>
        <p:nvPicPr>
          <p:cNvPr id="225" name="Google Shape;225;p8">
            <a:hlinkClick r:id="rId5"/>
          </p:cNvPr>
          <p:cNvPicPr preferRelativeResize="0"/>
          <p:nvPr/>
        </p:nvPicPr>
        <p:blipFill rotWithShape="1">
          <a:blip r:embed="rId6">
            <a:alphaModFix/>
          </a:blip>
          <a:srcRect t="3528"/>
          <a:stretch/>
        </p:blipFill>
        <p:spPr>
          <a:xfrm>
            <a:off x="8297156" y="651343"/>
            <a:ext cx="3465576" cy="2560320"/>
          </a:xfrm>
          <a:prstGeom prst="rect">
            <a:avLst/>
          </a:prstGeom>
          <a:noFill/>
          <a:ln>
            <a:noFill/>
          </a:ln>
        </p:spPr>
      </p:pic>
      <p:pic>
        <p:nvPicPr>
          <p:cNvPr id="226" name="Google Shape;226;p8" descr="A screenshot of a social media post&#10;&#10;Description automatically generated">
            <a:hlinkClick r:id="rId7"/>
          </p:cNvPr>
          <p:cNvPicPr preferRelativeResize="0"/>
          <p:nvPr/>
        </p:nvPicPr>
        <p:blipFill rotWithShape="1">
          <a:blip r:embed="rId8">
            <a:alphaModFix/>
          </a:blip>
          <a:srcRect/>
          <a:stretch/>
        </p:blipFill>
        <p:spPr>
          <a:xfrm>
            <a:off x="4462649" y="3428997"/>
            <a:ext cx="3465576" cy="2560320"/>
          </a:xfrm>
          <a:prstGeom prst="rect">
            <a:avLst/>
          </a:prstGeom>
          <a:noFill/>
          <a:ln>
            <a:noFill/>
          </a:ln>
        </p:spPr>
      </p:pic>
      <p:pic>
        <p:nvPicPr>
          <p:cNvPr id="227" name="Google Shape;227;p8">
            <a:hlinkClick r:id="rId9"/>
          </p:cNvPr>
          <p:cNvPicPr preferRelativeResize="0"/>
          <p:nvPr/>
        </p:nvPicPr>
        <p:blipFill rotWithShape="1">
          <a:blip r:embed="rId10">
            <a:alphaModFix/>
          </a:blip>
          <a:srcRect/>
          <a:stretch/>
        </p:blipFill>
        <p:spPr>
          <a:xfrm>
            <a:off x="8297156" y="3428997"/>
            <a:ext cx="3465576" cy="2560320"/>
          </a:xfrm>
          <a:prstGeom prst="rect">
            <a:avLst/>
          </a:prstGeom>
          <a:noFill/>
          <a:ln>
            <a:noFill/>
          </a:ln>
        </p:spPr>
      </p:pic>
    </p:spTree>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9"/>
          <p:cNvSpPr txBox="1"/>
          <p:nvPr/>
        </p:nvSpPr>
        <p:spPr>
          <a:xfrm>
            <a:off x="817567" y="898258"/>
            <a:ext cx="4867679" cy="900247"/>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Arial"/>
              <a:ea typeface="Arial"/>
              <a:cs typeface="Arial"/>
              <a:sym typeface="Arial"/>
            </a:endParaRPr>
          </a:p>
        </p:txBody>
      </p:sp>
      <p:sp>
        <p:nvSpPr>
          <p:cNvPr id="234" name="Google Shape;234;p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Cyber Security</a:t>
            </a:r>
            <a:endParaRPr/>
          </a:p>
        </p:txBody>
      </p:sp>
      <p:sp>
        <p:nvSpPr>
          <p:cNvPr id="235" name="Google Shape;235;p9"/>
          <p:cNvSpPr txBox="1">
            <a:spLocks noGrp="1"/>
          </p:cNvSpPr>
          <p:nvPr>
            <p:ph type="body" idx="1"/>
          </p:nvPr>
        </p:nvSpPr>
        <p:spPr>
          <a:xfrm>
            <a:off x="1285539" y="1845737"/>
            <a:ext cx="10115203" cy="1051483"/>
          </a:xfrm>
          <a:prstGeom prst="rect">
            <a:avLst/>
          </a:prstGeom>
          <a:noFill/>
          <a:ln>
            <a:noFill/>
          </a:ln>
        </p:spPr>
        <p:txBody>
          <a:bodyPr spcFirstLastPara="1" wrap="square" lIns="0" tIns="45700" rIns="0" bIns="45700" anchor="t" anchorCtr="0">
            <a:noAutofit/>
          </a:bodyPr>
          <a:lstStyle/>
          <a:p>
            <a:pPr marL="0" indent="0" algn="just">
              <a:lnSpc>
                <a:spcPct val="150000"/>
              </a:lnSpc>
              <a:spcBef>
                <a:spcPts val="0"/>
              </a:spcBef>
              <a:buSzPts val="2000"/>
              <a:buNone/>
            </a:pPr>
            <a:r>
              <a:rPr lang="en-US" b="1" u="sng" dirty="0">
                <a:solidFill>
                  <a:schemeClr val="dk1"/>
                </a:solidFill>
              </a:rPr>
              <a:t>Definition:</a:t>
            </a:r>
            <a:r>
              <a:rPr lang="en-US" dirty="0">
                <a:solidFill>
                  <a:schemeClr val="dk1"/>
                </a:solidFill>
              </a:rPr>
              <a:t> Information security in the cyberspace</a:t>
            </a:r>
            <a:endParaRPr lang="en-US" dirty="0"/>
          </a:p>
          <a:p>
            <a:pPr marL="342900" algn="just">
              <a:lnSpc>
                <a:spcPct val="150000"/>
              </a:lnSpc>
              <a:spcBef>
                <a:spcPts val="0"/>
              </a:spcBef>
              <a:buClrTx/>
              <a:buSzPts val="2000"/>
              <a:buFont typeface="Arial" panose="020B0604020202020204" pitchFamily="34" charset="0"/>
              <a:buChar char="•"/>
            </a:pPr>
            <a:r>
              <a:rPr lang="en-US" dirty="0">
                <a:solidFill>
                  <a:schemeClr val="dk1"/>
                </a:solidFill>
              </a:rPr>
              <a:t>Must satisfy 3 properties known as the C-I-A Triad</a:t>
            </a:r>
            <a:endParaRPr dirty="0"/>
          </a:p>
        </p:txBody>
      </p:sp>
      <p:pic>
        <p:nvPicPr>
          <p:cNvPr id="236" name="Google Shape;236;p9"/>
          <p:cNvPicPr preferRelativeResize="0"/>
          <p:nvPr/>
        </p:nvPicPr>
        <p:blipFill rotWithShape="1">
          <a:blip r:embed="rId3">
            <a:alphaModFix/>
          </a:blip>
          <a:srcRect l="1266" t="1917" r="4051" b="2179"/>
          <a:stretch/>
        </p:blipFill>
        <p:spPr>
          <a:xfrm>
            <a:off x="4731010" y="2958365"/>
            <a:ext cx="3408945" cy="3110739"/>
          </a:xfrm>
          <a:prstGeom prst="rect">
            <a:avLst/>
          </a:prstGeom>
          <a:noFill/>
          <a:ln>
            <a:noFill/>
          </a:ln>
        </p:spPr>
      </p:pic>
      <p:grpSp>
        <p:nvGrpSpPr>
          <p:cNvPr id="237" name="Google Shape;237;p9"/>
          <p:cNvGrpSpPr/>
          <p:nvPr/>
        </p:nvGrpSpPr>
        <p:grpSpPr>
          <a:xfrm>
            <a:off x="6831440" y="3406993"/>
            <a:ext cx="4324241" cy="1015663"/>
            <a:chOff x="6524972" y="3248761"/>
            <a:chExt cx="3233840" cy="1015663"/>
          </a:xfrm>
        </p:grpSpPr>
        <p:sp>
          <p:nvSpPr>
            <p:cNvPr id="238" name="Google Shape;238;p9"/>
            <p:cNvSpPr txBox="1"/>
            <p:nvPr/>
          </p:nvSpPr>
          <p:spPr>
            <a:xfrm>
              <a:off x="7383417" y="3248761"/>
              <a:ext cx="2375395" cy="1015663"/>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Arial"/>
                  <a:ea typeface="Arial"/>
                  <a:cs typeface="Arial"/>
                  <a:sym typeface="Arial"/>
                </a:rPr>
                <a:t>Information/Data is there when you need it</a:t>
              </a:r>
              <a:endParaRPr sz="1400" b="0" i="0" u="none" strike="noStrike" cap="none" dirty="0">
                <a:solidFill>
                  <a:srgbClr val="000000"/>
                </a:solidFill>
                <a:latin typeface="Arial"/>
                <a:ea typeface="Arial"/>
                <a:cs typeface="Arial"/>
                <a:sym typeface="Arial"/>
              </a:endParaRPr>
            </a:p>
          </p:txBody>
        </p:sp>
        <p:cxnSp>
          <p:nvCxnSpPr>
            <p:cNvPr id="239" name="Google Shape;239;p9"/>
            <p:cNvCxnSpPr>
              <a:cxnSpLocks/>
            </p:cNvCxnSpPr>
            <p:nvPr/>
          </p:nvCxnSpPr>
          <p:spPr>
            <a:xfrm>
              <a:off x="6524972" y="3633092"/>
              <a:ext cx="779916" cy="0"/>
            </a:xfrm>
            <a:prstGeom prst="straightConnector1">
              <a:avLst/>
            </a:prstGeom>
            <a:noFill/>
            <a:ln w="12700" cap="flat" cmpd="sng">
              <a:solidFill>
                <a:schemeClr val="accent1"/>
              </a:solidFill>
              <a:prstDash val="solid"/>
              <a:round/>
              <a:headEnd type="none" w="sm" len="sm"/>
              <a:tailEnd type="none" w="sm" len="sm"/>
            </a:ln>
          </p:spPr>
        </p:cxnSp>
      </p:grpSp>
      <p:grpSp>
        <p:nvGrpSpPr>
          <p:cNvPr id="240" name="Google Shape;240;p9"/>
          <p:cNvGrpSpPr/>
          <p:nvPr/>
        </p:nvGrpSpPr>
        <p:grpSpPr>
          <a:xfrm>
            <a:off x="7481187" y="4821510"/>
            <a:ext cx="4159417" cy="1015663"/>
            <a:chOff x="7149491" y="4821510"/>
            <a:chExt cx="4159417" cy="1015663"/>
          </a:xfrm>
        </p:grpSpPr>
        <p:cxnSp>
          <p:nvCxnSpPr>
            <p:cNvPr id="241" name="Google Shape;241;p9"/>
            <p:cNvCxnSpPr/>
            <p:nvPr/>
          </p:nvCxnSpPr>
          <p:spPr>
            <a:xfrm>
              <a:off x="7149491" y="5216031"/>
              <a:ext cx="1209183" cy="0"/>
            </a:xfrm>
            <a:prstGeom prst="straightConnector1">
              <a:avLst/>
            </a:prstGeom>
            <a:noFill/>
            <a:ln w="12700" cap="flat" cmpd="sng">
              <a:solidFill>
                <a:srgbClr val="008CC1"/>
              </a:solidFill>
              <a:prstDash val="solid"/>
              <a:round/>
              <a:headEnd type="none" w="sm" len="sm"/>
              <a:tailEnd type="none" w="sm" len="sm"/>
            </a:ln>
          </p:spPr>
        </p:cxnSp>
        <p:sp>
          <p:nvSpPr>
            <p:cNvPr id="242" name="Google Shape;242;p9"/>
            <p:cNvSpPr txBox="1"/>
            <p:nvPr/>
          </p:nvSpPr>
          <p:spPr>
            <a:xfrm>
              <a:off x="8358674" y="4821510"/>
              <a:ext cx="2950234" cy="1015663"/>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Arial"/>
                  <a:ea typeface="Arial"/>
                  <a:cs typeface="Arial"/>
                  <a:sym typeface="Arial"/>
                </a:rPr>
                <a:t>Information/Data is only accessible to authorized parties</a:t>
              </a:r>
              <a:endParaRPr sz="1400" b="0" i="0" u="none" strike="noStrike" cap="none" dirty="0">
                <a:solidFill>
                  <a:srgbClr val="000000"/>
                </a:solidFill>
                <a:latin typeface="Arial"/>
                <a:ea typeface="Arial"/>
                <a:cs typeface="Arial"/>
                <a:sym typeface="Arial"/>
              </a:endParaRPr>
            </a:p>
          </p:txBody>
        </p:sp>
      </p:grpSp>
      <p:grpSp>
        <p:nvGrpSpPr>
          <p:cNvPr id="243" name="Google Shape;243;p9"/>
          <p:cNvGrpSpPr/>
          <p:nvPr/>
        </p:nvGrpSpPr>
        <p:grpSpPr>
          <a:xfrm>
            <a:off x="1217564" y="4513734"/>
            <a:ext cx="4208326" cy="1323439"/>
            <a:chOff x="634985" y="4517995"/>
            <a:chExt cx="3718848" cy="1323439"/>
          </a:xfrm>
        </p:grpSpPr>
        <p:sp>
          <p:nvSpPr>
            <p:cNvPr id="245" name="Google Shape;245;p9"/>
            <p:cNvSpPr txBox="1"/>
            <p:nvPr/>
          </p:nvSpPr>
          <p:spPr>
            <a:xfrm>
              <a:off x="634985" y="4517995"/>
              <a:ext cx="2907468" cy="1323439"/>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Arial"/>
                  <a:ea typeface="Arial"/>
                  <a:cs typeface="Arial"/>
                  <a:sym typeface="Arial"/>
                </a:rPr>
                <a:t>Information/Data you can accessed is correct and not modified by unauthorized parties</a:t>
              </a:r>
              <a:endParaRPr sz="1400" b="0" i="0" u="none" strike="noStrike" cap="none" dirty="0">
                <a:solidFill>
                  <a:srgbClr val="000000"/>
                </a:solidFill>
                <a:latin typeface="Arial"/>
                <a:ea typeface="Arial"/>
                <a:cs typeface="Arial"/>
                <a:sym typeface="Arial"/>
              </a:endParaRPr>
            </a:p>
          </p:txBody>
        </p:sp>
        <p:cxnSp>
          <p:nvCxnSpPr>
            <p:cNvPr id="244" name="Google Shape;244;p9"/>
            <p:cNvCxnSpPr>
              <a:cxnSpLocks/>
            </p:cNvCxnSpPr>
            <p:nvPr/>
          </p:nvCxnSpPr>
          <p:spPr>
            <a:xfrm>
              <a:off x="3488354" y="5220292"/>
              <a:ext cx="865479" cy="0"/>
            </a:xfrm>
            <a:prstGeom prst="straightConnector1">
              <a:avLst/>
            </a:prstGeom>
            <a:noFill/>
            <a:ln w="12700" cap="flat" cmpd="sng">
              <a:solidFill>
                <a:srgbClr val="16BC9B"/>
              </a:solidFill>
              <a:prstDash val="solid"/>
              <a:round/>
              <a:headEnd type="none" w="sm" len="sm"/>
              <a:tailEnd type="none" w="sm" len="sm"/>
            </a:ln>
          </p:spPr>
        </p:cxnSp>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
                                            <p:txEl>
                                              <p:pRg st="0" end="0"/>
                                            </p:txEl>
                                          </p:spTgt>
                                        </p:tgtEl>
                                        <p:attrNameLst>
                                          <p:attrName>style.visibility</p:attrName>
                                        </p:attrNameLst>
                                      </p:cBhvr>
                                      <p:to>
                                        <p:strVal val="visible"/>
                                      </p:to>
                                    </p:set>
                                    <p:animEffect transition="in" filter="fade">
                                      <p:cBhvr>
                                        <p:cTn id="7" dur="500"/>
                                        <p:tgtEl>
                                          <p:spTgt spid="2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5">
                                            <p:txEl>
                                              <p:pRg st="1" end="1"/>
                                            </p:txEl>
                                          </p:spTgt>
                                        </p:tgtEl>
                                        <p:attrNameLst>
                                          <p:attrName>style.visibility</p:attrName>
                                        </p:attrNameLst>
                                      </p:cBhvr>
                                      <p:to>
                                        <p:strVal val="visible"/>
                                      </p:to>
                                    </p:set>
                                    <p:animEffect transition="in" filter="fade">
                                      <p:cBhvr>
                                        <p:cTn id="12" dur="500"/>
                                        <p:tgtEl>
                                          <p:spTgt spid="2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6"/>
                                        </p:tgtEl>
                                        <p:attrNameLst>
                                          <p:attrName>style.visibility</p:attrName>
                                        </p:attrNameLst>
                                      </p:cBhvr>
                                      <p:to>
                                        <p:strVal val="visible"/>
                                      </p:to>
                                    </p:set>
                                    <p:animEffect transition="in" filter="fade">
                                      <p:cBhvr>
                                        <p:cTn id="17" dur="500"/>
                                        <p:tgtEl>
                                          <p:spTgt spid="2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7"/>
                                        </p:tgtEl>
                                        <p:attrNameLst>
                                          <p:attrName>style.visibility</p:attrName>
                                        </p:attrNameLst>
                                      </p:cBhvr>
                                      <p:to>
                                        <p:strVal val="visible"/>
                                      </p:to>
                                    </p:set>
                                    <p:animEffect transition="in" filter="fade">
                                      <p:cBhvr>
                                        <p:cTn id="22" dur="500"/>
                                        <p:tgtEl>
                                          <p:spTgt spid="2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3"/>
                                        </p:tgtEl>
                                        <p:attrNameLst>
                                          <p:attrName>style.visibility</p:attrName>
                                        </p:attrNameLst>
                                      </p:cBhvr>
                                      <p:to>
                                        <p:strVal val="visible"/>
                                      </p:to>
                                    </p:set>
                                    <p:animEffect transition="in" filter="fade">
                                      <p:cBhvr>
                                        <p:cTn id="27" dur="500"/>
                                        <p:tgtEl>
                                          <p:spTgt spid="24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0"/>
                                        </p:tgtEl>
                                        <p:attrNameLst>
                                          <p:attrName>style.visibility</p:attrName>
                                        </p:attrNameLst>
                                      </p:cBhvr>
                                      <p:to>
                                        <p:strVal val="visible"/>
                                      </p:to>
                                    </p:set>
                                    <p:animEffect transition="in" filter="fade">
                                      <p:cBhvr>
                                        <p:cTn id="32" dur="500"/>
                                        <p:tgtEl>
                                          <p:spTgt spid="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0"/>
          <p:cNvSpPr txBox="1"/>
          <p:nvPr/>
        </p:nvSpPr>
        <p:spPr>
          <a:xfrm>
            <a:off x="817567" y="898258"/>
            <a:ext cx="4867679" cy="900247"/>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251" name="Google Shape;251;p10"/>
          <p:cNvSpPr txBox="1"/>
          <p:nvPr/>
        </p:nvSpPr>
        <p:spPr>
          <a:xfrm>
            <a:off x="817567" y="2049724"/>
            <a:ext cx="6566956" cy="825547"/>
          </a:xfrm>
          <a:prstGeom prst="rect">
            <a:avLst/>
          </a:prstGeom>
          <a:noFill/>
          <a:ln>
            <a:noFill/>
          </a:ln>
        </p:spPr>
        <p:txBody>
          <a:bodyPr spcFirstLastPara="1" wrap="square" lIns="45700" tIns="22850" rIns="45700" bIns="22850" anchor="t" anchorCtr="0">
            <a:noAutofit/>
          </a:bodyPr>
          <a:lstStyle/>
          <a:p>
            <a:pPr marL="228594" marR="0" lvl="0" indent="-114297" algn="l" rtl="0">
              <a:lnSpc>
                <a:spcPct val="150000"/>
              </a:lnSpc>
              <a:spcBef>
                <a:spcPts val="0"/>
              </a:spcBef>
              <a:spcAft>
                <a:spcPts val="0"/>
              </a:spcAft>
              <a:buClr>
                <a:srgbClr val="000000"/>
              </a:buClr>
              <a:buSzPts val="2000"/>
              <a:buFont typeface="Arial"/>
              <a:buNone/>
            </a:pPr>
            <a:endParaRPr sz="2000" b="0" i="0" u="none" strike="noStrike" cap="none">
              <a:solidFill>
                <a:schemeClr val="dk2"/>
              </a:solidFill>
              <a:latin typeface="Arial"/>
              <a:ea typeface="Arial"/>
              <a:cs typeface="Arial"/>
              <a:sym typeface="Arial"/>
            </a:endParaRPr>
          </a:p>
        </p:txBody>
      </p:sp>
      <p:pic>
        <p:nvPicPr>
          <p:cNvPr id="252" name="Google Shape;252;p10"/>
          <p:cNvPicPr preferRelativeResize="0"/>
          <p:nvPr/>
        </p:nvPicPr>
        <p:blipFill rotWithShape="1">
          <a:blip r:embed="rId3">
            <a:alphaModFix/>
          </a:blip>
          <a:srcRect/>
          <a:stretch/>
        </p:blipFill>
        <p:spPr>
          <a:xfrm>
            <a:off x="2458135" y="1995356"/>
            <a:ext cx="6840368" cy="4181764"/>
          </a:xfrm>
          <a:prstGeom prst="rect">
            <a:avLst/>
          </a:prstGeom>
          <a:noFill/>
          <a:ln>
            <a:noFill/>
          </a:ln>
        </p:spPr>
      </p:pic>
      <p:sp>
        <p:nvSpPr>
          <p:cNvPr id="253" name="Google Shape;253;p10"/>
          <p:cNvSpPr txBox="1">
            <a:spLocks noGrp="1"/>
          </p:cNvSpPr>
          <p:nvPr>
            <p:ph type="body" idx="1"/>
          </p:nvPr>
        </p:nvSpPr>
        <p:spPr>
          <a:xfrm>
            <a:off x="1178547" y="1932387"/>
            <a:ext cx="10115203" cy="477773"/>
          </a:xfrm>
          <a:prstGeom prst="rect">
            <a:avLst/>
          </a:prstGeom>
          <a:noFill/>
          <a:ln>
            <a:noFill/>
          </a:ln>
        </p:spPr>
        <p:txBody>
          <a:bodyPr spcFirstLastPara="1" wrap="square" lIns="0" tIns="45700" rIns="0" bIns="45700" anchor="t" anchorCtr="0">
            <a:noAutofit/>
          </a:bodyPr>
          <a:lstStyle/>
          <a:p>
            <a:pPr marL="0" indent="0">
              <a:spcBef>
                <a:spcPts val="0"/>
              </a:spcBef>
              <a:buSzPts val="2000"/>
              <a:buNone/>
            </a:pPr>
            <a:r>
              <a:rPr lang="en-US" b="1" dirty="0">
                <a:solidFill>
                  <a:schemeClr val="dk1"/>
                </a:solidFill>
              </a:rPr>
              <a:t>Security strategies</a:t>
            </a:r>
            <a:r>
              <a:rPr lang="en-US" dirty="0">
                <a:solidFill>
                  <a:schemeClr val="dk1"/>
                </a:solidFill>
              </a:rPr>
              <a:t>: Prevention, Detection, Reaction, Recover</a:t>
            </a:r>
            <a:endParaRPr dirty="0">
              <a:solidFill>
                <a:schemeClr val="dk1"/>
              </a:solidFill>
            </a:endParaRPr>
          </a:p>
          <a:p>
            <a:pPr marL="342891" lvl="0" indent="-215894" algn="l" rtl="0">
              <a:lnSpc>
                <a:spcPct val="90000"/>
              </a:lnSpc>
              <a:spcBef>
                <a:spcPts val="1600"/>
              </a:spcBef>
              <a:spcAft>
                <a:spcPts val="200"/>
              </a:spcAft>
              <a:buSzPts val="2000"/>
              <a:buNone/>
            </a:pPr>
            <a:endParaRPr dirty="0"/>
          </a:p>
        </p:txBody>
      </p:sp>
      <p:sp>
        <p:nvSpPr>
          <p:cNvPr id="254" name="Google Shape;254;p1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dirty="0"/>
              <a:t>Cyber Security</a:t>
            </a:r>
            <a:endParaRPr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1"/>
                                        </p:tgtEl>
                                        <p:attrNameLst>
                                          <p:attrName>style.visibility</p:attrName>
                                        </p:attrNameLst>
                                      </p:cBhvr>
                                      <p:to>
                                        <p:strVal val="visible"/>
                                      </p:to>
                                    </p:set>
                                    <p:animEffect transition="in" filter="fade">
                                      <p:cBhvr>
                                        <p:cTn id="7" dur="500"/>
                                        <p:tgtEl>
                                          <p:spTgt spid="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grpSp>
        <p:nvGrpSpPr>
          <p:cNvPr id="259" name="Google Shape;259;p11"/>
          <p:cNvGrpSpPr/>
          <p:nvPr/>
        </p:nvGrpSpPr>
        <p:grpSpPr>
          <a:xfrm>
            <a:off x="2033438" y="2848974"/>
            <a:ext cx="8122745" cy="1173729"/>
            <a:chOff x="0" y="2128349"/>
            <a:chExt cx="8122745" cy="1173729"/>
          </a:xfrm>
        </p:grpSpPr>
        <p:sp>
          <p:nvSpPr>
            <p:cNvPr id="260" name="Google Shape;260;p11"/>
            <p:cNvSpPr/>
            <p:nvPr/>
          </p:nvSpPr>
          <p:spPr>
            <a:xfrm>
              <a:off x="0" y="2142026"/>
              <a:ext cx="2900130" cy="1160052"/>
            </a:xfrm>
            <a:prstGeom prst="chevron">
              <a:avLst>
                <a:gd name="adj" fmla="val 50000"/>
              </a:avLst>
            </a:prstGeom>
            <a:solidFill>
              <a:srgbClr val="3F739B"/>
            </a:solidFill>
            <a:ln>
              <a:noFill/>
            </a:ln>
            <a:effectLst>
              <a:outerShdw blurRad="44450" dist="25400" dir="2700000" algn="br" rotWithShape="0">
                <a:srgbClr val="000000">
                  <a:alpha val="6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261" name="Google Shape;261;p11"/>
            <p:cNvSpPr txBox="1"/>
            <p:nvPr/>
          </p:nvSpPr>
          <p:spPr>
            <a:xfrm>
              <a:off x="580026" y="2142026"/>
              <a:ext cx="1740078" cy="1160052"/>
            </a:xfrm>
            <a:prstGeom prst="rect">
              <a:avLst/>
            </a:prstGeom>
            <a:noFill/>
            <a:ln>
              <a:noFill/>
            </a:ln>
          </p:spPr>
          <p:txBody>
            <a:bodyPr spcFirstLastPara="1" wrap="square" lIns="72000" tIns="24000" rIns="24000" bIns="240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2000" b="0" i="0" u="none" strike="noStrike" cap="none">
                  <a:solidFill>
                    <a:schemeClr val="lt1"/>
                  </a:solidFill>
                  <a:latin typeface="Arial"/>
                  <a:ea typeface="Arial"/>
                  <a:cs typeface="Arial"/>
                  <a:sym typeface="Arial"/>
                </a:rPr>
                <a:t>Prevention</a:t>
              </a:r>
              <a:endParaRPr sz="2000" b="0" i="0" u="none" strike="noStrike" cap="none">
                <a:solidFill>
                  <a:schemeClr val="dk1"/>
                </a:solidFill>
                <a:latin typeface="Arial"/>
                <a:ea typeface="Arial"/>
                <a:cs typeface="Arial"/>
                <a:sym typeface="Arial"/>
              </a:endParaRPr>
            </a:p>
          </p:txBody>
        </p:sp>
        <p:sp>
          <p:nvSpPr>
            <p:cNvPr id="262" name="Google Shape;262;p11"/>
            <p:cNvSpPr/>
            <p:nvPr/>
          </p:nvSpPr>
          <p:spPr>
            <a:xfrm>
              <a:off x="2612497" y="2128349"/>
              <a:ext cx="2900130" cy="1160052"/>
            </a:xfrm>
            <a:prstGeom prst="chevron">
              <a:avLst>
                <a:gd name="adj" fmla="val 50000"/>
              </a:avLst>
            </a:prstGeom>
            <a:solidFill>
              <a:srgbClr val="3F739B"/>
            </a:solidFill>
            <a:ln>
              <a:noFill/>
            </a:ln>
            <a:effectLst>
              <a:outerShdw blurRad="44450" dist="25400" dir="2700000" algn="br" rotWithShape="0">
                <a:srgbClr val="000000">
                  <a:alpha val="6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263" name="Google Shape;263;p11"/>
            <p:cNvSpPr txBox="1"/>
            <p:nvPr/>
          </p:nvSpPr>
          <p:spPr>
            <a:xfrm>
              <a:off x="3192523" y="2128349"/>
              <a:ext cx="1740078" cy="1160052"/>
            </a:xfrm>
            <a:prstGeom prst="rect">
              <a:avLst/>
            </a:prstGeom>
            <a:noFill/>
            <a:ln>
              <a:noFill/>
            </a:ln>
          </p:spPr>
          <p:txBody>
            <a:bodyPr spcFirstLastPara="1" wrap="square" lIns="72000" tIns="24000" rIns="24000" bIns="240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2000" b="0" i="0" u="none" strike="noStrike" cap="none">
                  <a:solidFill>
                    <a:schemeClr val="lt1"/>
                  </a:solidFill>
                  <a:latin typeface="Arial"/>
                  <a:ea typeface="Arial"/>
                  <a:cs typeface="Arial"/>
                  <a:sym typeface="Arial"/>
                </a:rPr>
                <a:t>Detection</a:t>
              </a:r>
              <a:endParaRPr sz="2000" b="0" i="0" u="none" strike="noStrike" cap="none">
                <a:solidFill>
                  <a:schemeClr val="dk1"/>
                </a:solidFill>
                <a:latin typeface="Arial"/>
                <a:ea typeface="Arial"/>
                <a:cs typeface="Arial"/>
                <a:sym typeface="Arial"/>
              </a:endParaRPr>
            </a:p>
          </p:txBody>
        </p:sp>
        <p:sp>
          <p:nvSpPr>
            <p:cNvPr id="264" name="Google Shape;264;p11"/>
            <p:cNvSpPr/>
            <p:nvPr/>
          </p:nvSpPr>
          <p:spPr>
            <a:xfrm>
              <a:off x="5222615" y="2128349"/>
              <a:ext cx="2900130" cy="1160052"/>
            </a:xfrm>
            <a:prstGeom prst="chevron">
              <a:avLst>
                <a:gd name="adj" fmla="val 50000"/>
              </a:avLst>
            </a:prstGeom>
            <a:solidFill>
              <a:srgbClr val="3F739B"/>
            </a:solidFill>
            <a:ln>
              <a:noFill/>
            </a:ln>
            <a:effectLst>
              <a:outerShdw blurRad="44450" dist="25400" dir="2700000" algn="br" rotWithShape="0">
                <a:srgbClr val="000000">
                  <a:alpha val="6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265" name="Google Shape;265;p11"/>
            <p:cNvSpPr txBox="1"/>
            <p:nvPr/>
          </p:nvSpPr>
          <p:spPr>
            <a:xfrm>
              <a:off x="5802641" y="2128349"/>
              <a:ext cx="1740078" cy="1160052"/>
            </a:xfrm>
            <a:prstGeom prst="rect">
              <a:avLst/>
            </a:prstGeom>
            <a:noFill/>
            <a:ln>
              <a:noFill/>
            </a:ln>
          </p:spPr>
          <p:txBody>
            <a:bodyPr spcFirstLastPara="1" wrap="square" lIns="72000" tIns="24000" rIns="24000" bIns="240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2000" b="0" i="0" u="none" strike="noStrike" cap="none">
                  <a:solidFill>
                    <a:schemeClr val="lt1"/>
                  </a:solidFill>
                  <a:latin typeface="Arial"/>
                  <a:ea typeface="Arial"/>
                  <a:cs typeface="Arial"/>
                  <a:sym typeface="Arial"/>
                </a:rPr>
                <a:t>Reaction</a:t>
              </a:r>
              <a:endParaRPr sz="2000" b="0" i="0" u="none" strike="noStrike" cap="none">
                <a:solidFill>
                  <a:schemeClr val="dk1"/>
                </a:solidFill>
                <a:latin typeface="Arial"/>
                <a:ea typeface="Arial"/>
                <a:cs typeface="Arial"/>
                <a:sym typeface="Arial"/>
              </a:endParaRPr>
            </a:p>
          </p:txBody>
        </p:sp>
      </p:grpSp>
      <p:sp>
        <p:nvSpPr>
          <p:cNvPr id="266" name="Google Shape;266;p11"/>
          <p:cNvSpPr txBox="1"/>
          <p:nvPr/>
        </p:nvSpPr>
        <p:spPr>
          <a:xfrm>
            <a:off x="4408350" y="2415426"/>
            <a:ext cx="3375303" cy="323167"/>
          </a:xfrm>
          <a:prstGeom prst="rect">
            <a:avLst/>
          </a:prstGeom>
          <a:noFill/>
          <a:ln>
            <a:noFill/>
          </a:ln>
        </p:spPr>
        <p:txBody>
          <a:bodyPr spcFirstLastPara="1" wrap="square" lIns="45700" tIns="22850" rIns="45700" bIns="2285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Arial"/>
                <a:ea typeface="Arial"/>
                <a:cs typeface="Arial"/>
                <a:sym typeface="Arial"/>
              </a:rPr>
              <a:t>Physical Example</a:t>
            </a:r>
            <a:endParaRPr sz="2000" b="1" i="0" u="none" strike="noStrike" cap="none">
              <a:solidFill>
                <a:schemeClr val="dk1"/>
              </a:solidFill>
              <a:latin typeface="Arial"/>
              <a:ea typeface="Arial"/>
              <a:cs typeface="Arial"/>
              <a:sym typeface="Arial"/>
            </a:endParaRPr>
          </a:p>
        </p:txBody>
      </p:sp>
      <p:sp>
        <p:nvSpPr>
          <p:cNvPr id="267" name="Google Shape;267;p11"/>
          <p:cNvSpPr txBox="1"/>
          <p:nvPr/>
        </p:nvSpPr>
        <p:spPr>
          <a:xfrm>
            <a:off x="2117035" y="4206946"/>
            <a:ext cx="2291315" cy="1354217"/>
          </a:xfrm>
          <a:prstGeom prst="rect">
            <a:avLst/>
          </a:prstGeom>
          <a:noFill/>
          <a:ln>
            <a:noFill/>
          </a:ln>
        </p:spPr>
        <p:txBody>
          <a:bodyPr spcFirstLastPara="1" wrap="square" lIns="91425" tIns="45700" rIns="91425" bIns="45700" anchor="t" anchorCtr="0">
            <a:noAutofit/>
          </a:bodyPr>
          <a:lstStyle/>
          <a:p>
            <a:pPr marL="285744" marR="0" lvl="0" indent="-285744" algn="l" rtl="0">
              <a:lnSpc>
                <a:spcPct val="100000"/>
              </a:lnSpc>
              <a:spcBef>
                <a:spcPts val="0"/>
              </a:spcBef>
              <a:spcAft>
                <a:spcPts val="0"/>
              </a:spcAft>
              <a:buClr>
                <a:schemeClr val="dk1"/>
              </a:buClr>
              <a:buSzPts val="1600"/>
              <a:buFont typeface="Quattrocento Sans"/>
              <a:buChar char="–"/>
            </a:pPr>
            <a:r>
              <a:rPr lang="en-US" sz="2000" b="0" i="0" u="none" strike="noStrike" cap="none">
                <a:solidFill>
                  <a:schemeClr val="dk1"/>
                </a:solidFill>
                <a:latin typeface="Arial"/>
                <a:ea typeface="Arial"/>
                <a:cs typeface="Arial"/>
                <a:sym typeface="Arial"/>
              </a:rPr>
              <a:t>Locking of doors and window bars</a:t>
            </a:r>
            <a:endParaRPr sz="2000" b="0" i="0" u="none" strike="noStrike" cap="none">
              <a:solidFill>
                <a:schemeClr val="dk1"/>
              </a:solidFill>
              <a:latin typeface="Arial"/>
              <a:ea typeface="Arial"/>
              <a:cs typeface="Arial"/>
              <a:sym typeface="Arial"/>
            </a:endParaRPr>
          </a:p>
          <a:p>
            <a:pPr marL="285744" marR="0" lvl="0" indent="-285744" algn="l" rtl="0">
              <a:lnSpc>
                <a:spcPct val="100000"/>
              </a:lnSpc>
              <a:spcBef>
                <a:spcPts val="0"/>
              </a:spcBef>
              <a:spcAft>
                <a:spcPts val="0"/>
              </a:spcAft>
              <a:buClr>
                <a:schemeClr val="dk1"/>
              </a:buClr>
              <a:buSzPts val="1600"/>
              <a:buFont typeface="Quattrocento Sans"/>
              <a:buChar char="–"/>
            </a:pPr>
            <a:r>
              <a:rPr lang="en-US" sz="2000" b="0" i="0" u="none" strike="noStrike" cap="none">
                <a:solidFill>
                  <a:schemeClr val="dk1"/>
                </a:solidFill>
                <a:latin typeface="Arial"/>
                <a:ea typeface="Arial"/>
                <a:cs typeface="Arial"/>
                <a:sym typeface="Arial"/>
              </a:rPr>
              <a:t>Walls round the property</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268" name="Google Shape;268;p11"/>
          <p:cNvSpPr txBox="1"/>
          <p:nvPr/>
        </p:nvSpPr>
        <p:spPr>
          <a:xfrm>
            <a:off x="4671393" y="4206945"/>
            <a:ext cx="2305879" cy="1077219"/>
          </a:xfrm>
          <a:prstGeom prst="rect">
            <a:avLst/>
          </a:prstGeom>
          <a:noFill/>
          <a:ln>
            <a:noFill/>
          </a:ln>
        </p:spPr>
        <p:txBody>
          <a:bodyPr spcFirstLastPara="1" wrap="square" lIns="91425" tIns="45700" rIns="91425" bIns="45700" anchor="t" anchorCtr="0">
            <a:noAutofit/>
          </a:bodyPr>
          <a:lstStyle/>
          <a:p>
            <a:pPr marL="285744" marR="0" lvl="0" indent="-285744" algn="l" rtl="0">
              <a:lnSpc>
                <a:spcPct val="100000"/>
              </a:lnSpc>
              <a:spcBef>
                <a:spcPts val="0"/>
              </a:spcBef>
              <a:spcAft>
                <a:spcPts val="0"/>
              </a:spcAft>
              <a:buClr>
                <a:schemeClr val="dk1"/>
              </a:buClr>
              <a:buSzPts val="1600"/>
              <a:buFont typeface="Quattrocento Sans"/>
              <a:buChar char="–"/>
            </a:pPr>
            <a:r>
              <a:rPr lang="en-US" sz="2000" b="0" i="0" u="none" strike="noStrike" cap="none">
                <a:solidFill>
                  <a:schemeClr val="dk1"/>
                </a:solidFill>
                <a:latin typeface="Arial"/>
                <a:ea typeface="Arial"/>
                <a:cs typeface="Arial"/>
                <a:sym typeface="Arial"/>
              </a:rPr>
              <a:t>Missing items</a:t>
            </a:r>
            <a:endParaRPr sz="2000" b="0" i="0" u="none" strike="noStrike" cap="none">
              <a:solidFill>
                <a:schemeClr val="dk1"/>
              </a:solidFill>
              <a:latin typeface="Arial"/>
              <a:ea typeface="Arial"/>
              <a:cs typeface="Arial"/>
              <a:sym typeface="Arial"/>
            </a:endParaRPr>
          </a:p>
          <a:p>
            <a:pPr marL="285744" marR="0" lvl="0" indent="-285744" algn="l" rtl="0">
              <a:lnSpc>
                <a:spcPct val="100000"/>
              </a:lnSpc>
              <a:spcBef>
                <a:spcPts val="0"/>
              </a:spcBef>
              <a:spcAft>
                <a:spcPts val="0"/>
              </a:spcAft>
              <a:buClr>
                <a:schemeClr val="dk1"/>
              </a:buClr>
              <a:buSzPts val="1600"/>
              <a:buFont typeface="Quattrocento Sans"/>
              <a:buChar char="–"/>
            </a:pPr>
            <a:r>
              <a:rPr lang="en-US" sz="2000" b="0" i="0" u="none" strike="noStrike" cap="none">
                <a:solidFill>
                  <a:schemeClr val="dk1"/>
                </a:solidFill>
                <a:latin typeface="Arial"/>
                <a:ea typeface="Arial"/>
                <a:cs typeface="Arial"/>
                <a:sym typeface="Arial"/>
              </a:rPr>
              <a:t>Burglar Alarms</a:t>
            </a:r>
            <a:endParaRPr sz="2000" b="0" i="0" u="none" strike="noStrike" cap="none">
              <a:solidFill>
                <a:schemeClr val="dk1"/>
              </a:solidFill>
              <a:latin typeface="Arial"/>
              <a:ea typeface="Arial"/>
              <a:cs typeface="Arial"/>
              <a:sym typeface="Arial"/>
            </a:endParaRPr>
          </a:p>
          <a:p>
            <a:pPr marL="285744" marR="0" lvl="0" indent="-285744" algn="l" rtl="0">
              <a:lnSpc>
                <a:spcPct val="100000"/>
              </a:lnSpc>
              <a:spcBef>
                <a:spcPts val="0"/>
              </a:spcBef>
              <a:spcAft>
                <a:spcPts val="0"/>
              </a:spcAft>
              <a:buClr>
                <a:schemeClr val="dk1"/>
              </a:buClr>
              <a:buSzPts val="1600"/>
              <a:buFont typeface="Quattrocento Sans"/>
              <a:buChar char="–"/>
            </a:pPr>
            <a:r>
              <a:rPr lang="en-US" sz="2000" b="0" i="0" u="none" strike="noStrike" cap="none">
                <a:solidFill>
                  <a:schemeClr val="dk1"/>
                </a:solidFill>
                <a:latin typeface="Arial"/>
                <a:ea typeface="Arial"/>
                <a:cs typeface="Arial"/>
                <a:sym typeface="Arial"/>
              </a:rPr>
              <a:t>CCTV</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269" name="Google Shape;269;p11"/>
          <p:cNvSpPr txBox="1"/>
          <p:nvPr/>
        </p:nvSpPr>
        <p:spPr>
          <a:xfrm>
            <a:off x="7240313" y="4210570"/>
            <a:ext cx="2500035" cy="830997"/>
          </a:xfrm>
          <a:prstGeom prst="rect">
            <a:avLst/>
          </a:prstGeom>
          <a:noFill/>
          <a:ln>
            <a:noFill/>
          </a:ln>
        </p:spPr>
        <p:txBody>
          <a:bodyPr spcFirstLastPara="1" wrap="square" lIns="91425" tIns="45700" rIns="91425" bIns="45700" anchor="t" anchorCtr="0">
            <a:noAutofit/>
          </a:bodyPr>
          <a:lstStyle/>
          <a:p>
            <a:pPr marL="285744" marR="0" lvl="0" indent="-285744" algn="l" rtl="0">
              <a:lnSpc>
                <a:spcPct val="100000"/>
              </a:lnSpc>
              <a:spcBef>
                <a:spcPts val="0"/>
              </a:spcBef>
              <a:spcAft>
                <a:spcPts val="0"/>
              </a:spcAft>
              <a:buClr>
                <a:schemeClr val="dk1"/>
              </a:buClr>
              <a:buSzPts val="1600"/>
              <a:buFont typeface="Quattrocento Sans"/>
              <a:buChar char="–"/>
            </a:pPr>
            <a:r>
              <a:rPr lang="en-US" sz="2000" b="0" i="0" u="none" strike="noStrike" cap="none">
                <a:solidFill>
                  <a:schemeClr val="dk1"/>
                </a:solidFill>
                <a:latin typeface="Arial"/>
                <a:ea typeface="Arial"/>
                <a:cs typeface="Arial"/>
                <a:sym typeface="Arial"/>
              </a:rPr>
              <a:t>Call the police</a:t>
            </a:r>
            <a:endParaRPr sz="2000" b="0" i="0" u="none" strike="noStrike" cap="none">
              <a:solidFill>
                <a:schemeClr val="dk1"/>
              </a:solidFill>
              <a:latin typeface="Arial"/>
              <a:ea typeface="Arial"/>
              <a:cs typeface="Arial"/>
              <a:sym typeface="Arial"/>
            </a:endParaRPr>
          </a:p>
          <a:p>
            <a:pPr marL="285744" marR="0" lvl="0" indent="-285744" algn="l" rtl="0">
              <a:lnSpc>
                <a:spcPct val="100000"/>
              </a:lnSpc>
              <a:spcBef>
                <a:spcPts val="0"/>
              </a:spcBef>
              <a:spcAft>
                <a:spcPts val="0"/>
              </a:spcAft>
              <a:buClr>
                <a:schemeClr val="dk1"/>
              </a:buClr>
              <a:buSzPts val="1600"/>
              <a:buFont typeface="Quattrocento Sans"/>
              <a:buChar char="–"/>
            </a:pPr>
            <a:r>
              <a:rPr lang="en-US" sz="2000" b="0" i="0" u="none" strike="noStrike" cap="none">
                <a:solidFill>
                  <a:schemeClr val="dk1"/>
                </a:solidFill>
                <a:latin typeface="Arial"/>
                <a:ea typeface="Arial"/>
                <a:cs typeface="Arial"/>
                <a:sym typeface="Arial"/>
              </a:rPr>
              <a:t>Replace stolen items</a:t>
            </a:r>
            <a:endParaRPr sz="2000" b="0" i="0" u="none" strike="noStrike" cap="none">
              <a:solidFill>
                <a:schemeClr val="dk1"/>
              </a:solidFill>
              <a:latin typeface="Arial"/>
              <a:ea typeface="Arial"/>
              <a:cs typeface="Arial"/>
              <a:sym typeface="Arial"/>
            </a:endParaRPr>
          </a:p>
          <a:p>
            <a:pPr marL="285744" marR="0" lvl="0" indent="-285744" algn="l" rtl="0">
              <a:lnSpc>
                <a:spcPct val="100000"/>
              </a:lnSpc>
              <a:spcBef>
                <a:spcPts val="0"/>
              </a:spcBef>
              <a:spcAft>
                <a:spcPts val="0"/>
              </a:spcAft>
              <a:buClr>
                <a:schemeClr val="dk1"/>
              </a:buClr>
              <a:buSzPts val="1600"/>
              <a:buFont typeface="Quattrocento Sans"/>
              <a:buChar char="–"/>
            </a:pPr>
            <a:r>
              <a:rPr lang="en-US" sz="2000" b="0" i="0" u="none" strike="noStrike" cap="none">
                <a:solidFill>
                  <a:schemeClr val="dk1"/>
                </a:solidFill>
                <a:latin typeface="Arial"/>
                <a:ea typeface="Arial"/>
                <a:cs typeface="Arial"/>
                <a:sym typeface="Arial"/>
              </a:rPr>
              <a:t>Insurance claim</a:t>
            </a:r>
            <a:endParaRPr sz="2000" b="0" i="0" u="none" strike="noStrike" cap="none">
              <a:solidFill>
                <a:schemeClr val="dk1"/>
              </a:solidFill>
              <a:latin typeface="Arial"/>
              <a:ea typeface="Arial"/>
              <a:cs typeface="Arial"/>
              <a:sym typeface="Arial"/>
            </a:endParaRPr>
          </a:p>
        </p:txBody>
      </p:sp>
      <p:sp>
        <p:nvSpPr>
          <p:cNvPr id="270" name="Google Shape;270;p11"/>
          <p:cNvSpPr txBox="1"/>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3F3F3F"/>
              </a:buClr>
              <a:buSzPts val="4800"/>
              <a:buFont typeface="Arial"/>
              <a:buNone/>
            </a:pPr>
            <a:r>
              <a:rPr lang="en-US" sz="4800" b="0" i="0" u="none" strike="noStrike" cap="none">
                <a:solidFill>
                  <a:srgbClr val="3F3F3F"/>
                </a:solidFill>
                <a:latin typeface="Arial"/>
                <a:ea typeface="Arial"/>
                <a:cs typeface="Arial"/>
                <a:sym typeface="Arial"/>
              </a:rPr>
              <a:t>Cyber Security</a:t>
            </a:r>
            <a:endParaRPr sz="4800" b="0" i="0" u="none" strike="noStrike" cap="none">
              <a:solidFill>
                <a:srgbClr val="3F3F3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6"/>
                                        </p:tgtEl>
                                        <p:attrNameLst>
                                          <p:attrName>style.visibility</p:attrName>
                                        </p:attrNameLst>
                                      </p:cBhvr>
                                      <p:to>
                                        <p:strVal val="visible"/>
                                      </p:to>
                                    </p:set>
                                    <p:animEffect transition="in" filter="fade">
                                      <p:cBhvr>
                                        <p:cTn id="7" dur="500"/>
                                        <p:tgtEl>
                                          <p:spTgt spid="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grpSp>
        <p:nvGrpSpPr>
          <p:cNvPr id="275" name="Google Shape;275;p12"/>
          <p:cNvGrpSpPr/>
          <p:nvPr/>
        </p:nvGrpSpPr>
        <p:grpSpPr>
          <a:xfrm>
            <a:off x="2033438" y="2848974"/>
            <a:ext cx="8122745" cy="1173729"/>
            <a:chOff x="0" y="2128349"/>
            <a:chExt cx="8122745" cy="1173729"/>
          </a:xfrm>
        </p:grpSpPr>
        <p:sp>
          <p:nvSpPr>
            <p:cNvPr id="276" name="Google Shape;276;p12"/>
            <p:cNvSpPr/>
            <p:nvPr/>
          </p:nvSpPr>
          <p:spPr>
            <a:xfrm>
              <a:off x="0" y="2142026"/>
              <a:ext cx="2900130" cy="1160052"/>
            </a:xfrm>
            <a:prstGeom prst="chevron">
              <a:avLst>
                <a:gd name="adj" fmla="val 50000"/>
              </a:avLst>
            </a:prstGeom>
            <a:solidFill>
              <a:srgbClr val="3F739B"/>
            </a:solidFill>
            <a:ln>
              <a:noFill/>
            </a:ln>
            <a:effectLst>
              <a:outerShdw blurRad="44450" dist="25400" dir="2700000" algn="br" rotWithShape="0">
                <a:srgbClr val="000000">
                  <a:alpha val="6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277" name="Google Shape;277;p12"/>
            <p:cNvSpPr txBox="1"/>
            <p:nvPr/>
          </p:nvSpPr>
          <p:spPr>
            <a:xfrm>
              <a:off x="580026" y="2142026"/>
              <a:ext cx="1740078" cy="1160052"/>
            </a:xfrm>
            <a:prstGeom prst="rect">
              <a:avLst/>
            </a:prstGeom>
            <a:noFill/>
            <a:ln>
              <a:noFill/>
            </a:ln>
          </p:spPr>
          <p:txBody>
            <a:bodyPr spcFirstLastPara="1" wrap="square" lIns="72000" tIns="24000" rIns="24000" bIns="240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2000" b="0" i="0" u="none" strike="noStrike" cap="none">
                  <a:solidFill>
                    <a:schemeClr val="lt1"/>
                  </a:solidFill>
                  <a:latin typeface="Arial"/>
                  <a:ea typeface="Arial"/>
                  <a:cs typeface="Arial"/>
                  <a:sym typeface="Arial"/>
                </a:rPr>
                <a:t>Prevention</a:t>
              </a:r>
              <a:endParaRPr sz="2000" b="0" i="0" u="none" strike="noStrike" cap="none">
                <a:solidFill>
                  <a:schemeClr val="dk1"/>
                </a:solidFill>
                <a:latin typeface="Arial"/>
                <a:ea typeface="Arial"/>
                <a:cs typeface="Arial"/>
                <a:sym typeface="Arial"/>
              </a:endParaRPr>
            </a:p>
          </p:txBody>
        </p:sp>
        <p:sp>
          <p:nvSpPr>
            <p:cNvPr id="278" name="Google Shape;278;p12"/>
            <p:cNvSpPr/>
            <p:nvPr/>
          </p:nvSpPr>
          <p:spPr>
            <a:xfrm>
              <a:off x="2612497" y="2128349"/>
              <a:ext cx="2900130" cy="1160052"/>
            </a:xfrm>
            <a:prstGeom prst="chevron">
              <a:avLst>
                <a:gd name="adj" fmla="val 50000"/>
              </a:avLst>
            </a:prstGeom>
            <a:solidFill>
              <a:srgbClr val="3F739B"/>
            </a:solidFill>
            <a:ln>
              <a:noFill/>
            </a:ln>
            <a:effectLst>
              <a:outerShdw blurRad="44450" dist="25400" dir="2700000" algn="br" rotWithShape="0">
                <a:srgbClr val="000000">
                  <a:alpha val="6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279" name="Google Shape;279;p12"/>
            <p:cNvSpPr txBox="1"/>
            <p:nvPr/>
          </p:nvSpPr>
          <p:spPr>
            <a:xfrm>
              <a:off x="3192523" y="2128349"/>
              <a:ext cx="1740078" cy="1160052"/>
            </a:xfrm>
            <a:prstGeom prst="rect">
              <a:avLst/>
            </a:prstGeom>
            <a:noFill/>
            <a:ln>
              <a:noFill/>
            </a:ln>
          </p:spPr>
          <p:txBody>
            <a:bodyPr spcFirstLastPara="1" wrap="square" lIns="72000" tIns="24000" rIns="24000" bIns="240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2000" b="0" i="0" u="none" strike="noStrike" cap="none">
                  <a:solidFill>
                    <a:schemeClr val="lt1"/>
                  </a:solidFill>
                  <a:latin typeface="Arial"/>
                  <a:ea typeface="Arial"/>
                  <a:cs typeface="Arial"/>
                  <a:sym typeface="Arial"/>
                </a:rPr>
                <a:t>Detection</a:t>
              </a:r>
              <a:endParaRPr sz="2000" b="0" i="0" u="none" strike="noStrike" cap="none">
                <a:solidFill>
                  <a:schemeClr val="dk1"/>
                </a:solidFill>
                <a:latin typeface="Arial"/>
                <a:ea typeface="Arial"/>
                <a:cs typeface="Arial"/>
                <a:sym typeface="Arial"/>
              </a:endParaRPr>
            </a:p>
          </p:txBody>
        </p:sp>
        <p:sp>
          <p:nvSpPr>
            <p:cNvPr id="280" name="Google Shape;280;p12"/>
            <p:cNvSpPr/>
            <p:nvPr/>
          </p:nvSpPr>
          <p:spPr>
            <a:xfrm>
              <a:off x="5222615" y="2128349"/>
              <a:ext cx="2900130" cy="1160052"/>
            </a:xfrm>
            <a:prstGeom prst="chevron">
              <a:avLst>
                <a:gd name="adj" fmla="val 50000"/>
              </a:avLst>
            </a:prstGeom>
            <a:solidFill>
              <a:srgbClr val="3F739B"/>
            </a:solidFill>
            <a:ln>
              <a:noFill/>
            </a:ln>
            <a:effectLst>
              <a:outerShdw blurRad="44450" dist="25400" dir="2700000" algn="br" rotWithShape="0">
                <a:srgbClr val="000000">
                  <a:alpha val="6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281" name="Google Shape;281;p12"/>
            <p:cNvSpPr txBox="1"/>
            <p:nvPr/>
          </p:nvSpPr>
          <p:spPr>
            <a:xfrm>
              <a:off x="5802641" y="2128349"/>
              <a:ext cx="1740078" cy="1160052"/>
            </a:xfrm>
            <a:prstGeom prst="rect">
              <a:avLst/>
            </a:prstGeom>
            <a:noFill/>
            <a:ln>
              <a:noFill/>
            </a:ln>
          </p:spPr>
          <p:txBody>
            <a:bodyPr spcFirstLastPara="1" wrap="square" lIns="72000" tIns="24000" rIns="24000" bIns="24000" anchor="ctr" anchorCtr="0">
              <a:noAutofit/>
            </a:bodyPr>
            <a:lstStyle/>
            <a:p>
              <a:pPr marL="0" marR="0" lvl="0" indent="0" algn="ctr" rtl="0">
                <a:lnSpc>
                  <a:spcPct val="90000"/>
                </a:lnSpc>
                <a:spcBef>
                  <a:spcPts val="0"/>
                </a:spcBef>
                <a:spcAft>
                  <a:spcPts val="0"/>
                </a:spcAft>
                <a:buClr>
                  <a:srgbClr val="000000"/>
                </a:buClr>
                <a:buSzPts val="2000"/>
                <a:buFont typeface="Arial"/>
                <a:buNone/>
              </a:pPr>
              <a:r>
                <a:rPr lang="en-US" sz="2000" b="0" i="0" u="none" strike="noStrike" cap="none">
                  <a:solidFill>
                    <a:schemeClr val="lt1"/>
                  </a:solidFill>
                  <a:latin typeface="Arial"/>
                  <a:ea typeface="Arial"/>
                  <a:cs typeface="Arial"/>
                  <a:sym typeface="Arial"/>
                </a:rPr>
                <a:t>Reaction</a:t>
              </a:r>
              <a:endParaRPr sz="2000" b="0" i="0" u="none" strike="noStrike" cap="none">
                <a:solidFill>
                  <a:schemeClr val="dk1"/>
                </a:solidFill>
                <a:latin typeface="Arial"/>
                <a:ea typeface="Arial"/>
                <a:cs typeface="Arial"/>
                <a:sym typeface="Arial"/>
              </a:endParaRPr>
            </a:p>
          </p:txBody>
        </p:sp>
      </p:grpSp>
      <p:sp>
        <p:nvSpPr>
          <p:cNvPr id="282" name="Google Shape;282;p12"/>
          <p:cNvSpPr txBox="1"/>
          <p:nvPr/>
        </p:nvSpPr>
        <p:spPr>
          <a:xfrm>
            <a:off x="4408350" y="2415426"/>
            <a:ext cx="3375303" cy="323167"/>
          </a:xfrm>
          <a:prstGeom prst="rect">
            <a:avLst/>
          </a:prstGeom>
          <a:noFill/>
          <a:ln>
            <a:noFill/>
          </a:ln>
        </p:spPr>
        <p:txBody>
          <a:bodyPr spcFirstLastPara="1" wrap="square" lIns="45700" tIns="22850" rIns="45700" bIns="2285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Arial"/>
                <a:ea typeface="Arial"/>
                <a:cs typeface="Arial"/>
                <a:sym typeface="Arial"/>
              </a:rPr>
              <a:t>Cyber Example</a:t>
            </a:r>
            <a:endParaRPr sz="2000" b="1" i="0" u="none" strike="noStrike" cap="none">
              <a:solidFill>
                <a:schemeClr val="dk1"/>
              </a:solidFill>
              <a:latin typeface="Arial"/>
              <a:ea typeface="Arial"/>
              <a:cs typeface="Arial"/>
              <a:sym typeface="Arial"/>
            </a:endParaRPr>
          </a:p>
        </p:txBody>
      </p:sp>
      <p:sp>
        <p:nvSpPr>
          <p:cNvPr id="283" name="Google Shape;283;p12"/>
          <p:cNvSpPr txBox="1"/>
          <p:nvPr/>
        </p:nvSpPr>
        <p:spPr>
          <a:xfrm>
            <a:off x="2117035" y="4206946"/>
            <a:ext cx="2291315" cy="1323439"/>
          </a:xfrm>
          <a:prstGeom prst="rect">
            <a:avLst/>
          </a:prstGeom>
          <a:noFill/>
          <a:ln>
            <a:noFill/>
          </a:ln>
        </p:spPr>
        <p:txBody>
          <a:bodyPr spcFirstLastPara="1" wrap="square" lIns="91425" tIns="45700" rIns="91425" bIns="45700" anchor="t" anchorCtr="0">
            <a:noAutofit/>
          </a:bodyPr>
          <a:lstStyle/>
          <a:p>
            <a:pPr marL="285744" marR="0" lvl="0" indent="-285744" algn="l" rtl="0">
              <a:lnSpc>
                <a:spcPct val="100000"/>
              </a:lnSpc>
              <a:spcBef>
                <a:spcPts val="0"/>
              </a:spcBef>
              <a:spcAft>
                <a:spcPts val="0"/>
              </a:spcAft>
              <a:buClr>
                <a:schemeClr val="dk1"/>
              </a:buClr>
              <a:buSzPts val="1600"/>
              <a:buFont typeface="Quattrocento Sans"/>
              <a:buChar char="–"/>
            </a:pPr>
            <a:r>
              <a:rPr lang="en-US" sz="2000" dirty="0">
                <a:solidFill>
                  <a:schemeClr val="dk1"/>
                </a:solidFill>
              </a:rPr>
              <a:t>E</a:t>
            </a:r>
            <a:r>
              <a:rPr lang="en-US" sz="2000" b="0" i="0" u="none" strike="noStrike" cap="none" dirty="0">
                <a:solidFill>
                  <a:schemeClr val="dk1"/>
                </a:solidFill>
                <a:latin typeface="Arial"/>
                <a:ea typeface="Arial"/>
                <a:cs typeface="Arial"/>
                <a:sym typeface="Arial"/>
              </a:rPr>
              <a:t>ncryption</a:t>
            </a:r>
            <a:endParaRPr sz="2000" b="0" i="0" u="none" strike="noStrike" cap="none" dirty="0">
              <a:solidFill>
                <a:schemeClr val="dk1"/>
              </a:solidFill>
              <a:latin typeface="Arial"/>
              <a:ea typeface="Arial"/>
              <a:cs typeface="Arial"/>
              <a:sym typeface="Arial"/>
            </a:endParaRPr>
          </a:p>
          <a:p>
            <a:pPr marL="285744" marR="0" lvl="0" indent="-285744" algn="l" rtl="0">
              <a:lnSpc>
                <a:spcPct val="100000"/>
              </a:lnSpc>
              <a:spcBef>
                <a:spcPts val="0"/>
              </a:spcBef>
              <a:spcAft>
                <a:spcPts val="0"/>
              </a:spcAft>
              <a:buClr>
                <a:schemeClr val="dk1"/>
              </a:buClr>
              <a:buSzPts val="1600"/>
              <a:buFont typeface="Quattrocento Sans"/>
              <a:buChar char="–"/>
            </a:pPr>
            <a:r>
              <a:rPr lang="en-US" sz="2000" b="0" i="0" u="none" strike="noStrike" cap="none" dirty="0">
                <a:solidFill>
                  <a:schemeClr val="dk1"/>
                </a:solidFill>
                <a:latin typeface="Arial"/>
                <a:ea typeface="Arial"/>
                <a:cs typeface="Arial"/>
                <a:sym typeface="Arial"/>
              </a:rPr>
              <a:t>Two-Factor Authentication (2FA)</a:t>
            </a:r>
            <a:endParaRPr sz="2000" b="0" i="0" u="none" strike="noStrike" cap="none" dirty="0">
              <a:solidFill>
                <a:schemeClr val="dk1"/>
              </a:solidFill>
              <a:latin typeface="Arial"/>
              <a:ea typeface="Arial"/>
              <a:cs typeface="Arial"/>
              <a:sym typeface="Arial"/>
            </a:endParaRPr>
          </a:p>
          <a:p>
            <a:pPr marL="285744" marR="0" lvl="0" indent="-184144"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p:txBody>
      </p:sp>
      <p:sp>
        <p:nvSpPr>
          <p:cNvPr id="284" name="Google Shape;284;p12"/>
          <p:cNvSpPr txBox="1"/>
          <p:nvPr/>
        </p:nvSpPr>
        <p:spPr>
          <a:xfrm>
            <a:off x="4671393" y="4206946"/>
            <a:ext cx="2305879" cy="1323439"/>
          </a:xfrm>
          <a:prstGeom prst="rect">
            <a:avLst/>
          </a:prstGeom>
          <a:noFill/>
          <a:ln>
            <a:noFill/>
          </a:ln>
        </p:spPr>
        <p:txBody>
          <a:bodyPr spcFirstLastPara="1" wrap="square" lIns="91425" tIns="45700" rIns="91425" bIns="45700" anchor="t" anchorCtr="0">
            <a:noAutofit/>
          </a:bodyPr>
          <a:lstStyle/>
          <a:p>
            <a:pPr marL="285744" marR="0" lvl="0" indent="-285744" algn="l" rtl="0">
              <a:lnSpc>
                <a:spcPct val="100000"/>
              </a:lnSpc>
              <a:spcBef>
                <a:spcPts val="0"/>
              </a:spcBef>
              <a:spcAft>
                <a:spcPts val="0"/>
              </a:spcAft>
              <a:buClr>
                <a:schemeClr val="dk1"/>
              </a:buClr>
              <a:buSzPts val="1600"/>
              <a:buFont typeface="Quattrocento Sans"/>
              <a:buChar char="–"/>
            </a:pPr>
            <a:r>
              <a:rPr lang="en-US" sz="2000" b="0" i="0" u="none" strike="noStrike" cap="none" dirty="0">
                <a:solidFill>
                  <a:schemeClr val="dk1"/>
                </a:solidFill>
                <a:latin typeface="Arial"/>
                <a:ea typeface="Arial"/>
                <a:cs typeface="Arial"/>
                <a:sym typeface="Arial"/>
              </a:rPr>
              <a:t>Unauthorized transaction on credit card statement</a:t>
            </a:r>
            <a:endParaRPr sz="2000" b="0" i="0" u="none" strike="noStrike" cap="none" dirty="0">
              <a:solidFill>
                <a:schemeClr val="dk1"/>
              </a:solidFill>
              <a:latin typeface="Arial"/>
              <a:ea typeface="Arial"/>
              <a:cs typeface="Arial"/>
              <a:sym typeface="Arial"/>
            </a:endParaRPr>
          </a:p>
          <a:p>
            <a:pPr marL="285744" marR="0" lvl="0" indent="-184144"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p:txBody>
      </p:sp>
      <p:sp>
        <p:nvSpPr>
          <p:cNvPr id="285" name="Google Shape;285;p12"/>
          <p:cNvSpPr txBox="1"/>
          <p:nvPr/>
        </p:nvSpPr>
        <p:spPr>
          <a:xfrm>
            <a:off x="7240313" y="4210569"/>
            <a:ext cx="2500035" cy="1077219"/>
          </a:xfrm>
          <a:prstGeom prst="rect">
            <a:avLst/>
          </a:prstGeom>
          <a:noFill/>
          <a:ln>
            <a:noFill/>
          </a:ln>
        </p:spPr>
        <p:txBody>
          <a:bodyPr spcFirstLastPara="1" wrap="square" lIns="91425" tIns="45700" rIns="91425" bIns="45700" anchor="t" anchorCtr="0">
            <a:noAutofit/>
          </a:bodyPr>
          <a:lstStyle/>
          <a:p>
            <a:pPr marL="285744" marR="0" lvl="0" indent="-285744" algn="l" rtl="0">
              <a:lnSpc>
                <a:spcPct val="100000"/>
              </a:lnSpc>
              <a:spcBef>
                <a:spcPts val="0"/>
              </a:spcBef>
              <a:spcAft>
                <a:spcPts val="0"/>
              </a:spcAft>
              <a:buClr>
                <a:schemeClr val="dk1"/>
              </a:buClr>
              <a:buSzPts val="1600"/>
              <a:buFont typeface="Quattrocento Sans"/>
              <a:buChar char="–"/>
            </a:pPr>
            <a:r>
              <a:rPr lang="en-US" sz="2000" b="0" i="0" u="none" strike="noStrike" cap="none" dirty="0">
                <a:solidFill>
                  <a:schemeClr val="dk1"/>
                </a:solidFill>
                <a:latin typeface="Arial"/>
                <a:ea typeface="Arial"/>
                <a:cs typeface="Arial"/>
                <a:sym typeface="Arial"/>
              </a:rPr>
              <a:t>Complain</a:t>
            </a:r>
            <a:endParaRPr sz="2000" b="0" i="0" u="none" strike="noStrike" cap="none" dirty="0">
              <a:solidFill>
                <a:schemeClr val="dk1"/>
              </a:solidFill>
              <a:latin typeface="Arial"/>
              <a:ea typeface="Arial"/>
              <a:cs typeface="Arial"/>
              <a:sym typeface="Arial"/>
            </a:endParaRPr>
          </a:p>
          <a:p>
            <a:pPr marL="285744" marR="0" lvl="0" indent="-285744" algn="l" rtl="0">
              <a:lnSpc>
                <a:spcPct val="100000"/>
              </a:lnSpc>
              <a:spcBef>
                <a:spcPts val="0"/>
              </a:spcBef>
              <a:spcAft>
                <a:spcPts val="0"/>
              </a:spcAft>
              <a:buClr>
                <a:schemeClr val="dk1"/>
              </a:buClr>
              <a:buSzPts val="1600"/>
              <a:buFont typeface="Quattrocento Sans"/>
              <a:buChar char="–"/>
            </a:pPr>
            <a:r>
              <a:rPr lang="en-US" sz="2000" b="0" i="0" u="none" strike="noStrike" cap="none" dirty="0">
                <a:solidFill>
                  <a:schemeClr val="dk1"/>
                </a:solidFill>
                <a:latin typeface="Arial"/>
                <a:ea typeface="Arial"/>
                <a:cs typeface="Arial"/>
                <a:sym typeface="Arial"/>
              </a:rPr>
              <a:t>Request for a new card number</a:t>
            </a:r>
            <a:endParaRPr sz="2000"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Arial"/>
              <a:ea typeface="Arial"/>
              <a:cs typeface="Arial"/>
              <a:sym typeface="Arial"/>
            </a:endParaRPr>
          </a:p>
        </p:txBody>
      </p:sp>
      <p:sp>
        <p:nvSpPr>
          <p:cNvPr id="286" name="Google Shape;286;p12"/>
          <p:cNvSpPr txBox="1"/>
          <p:nvPr/>
        </p:nvSpPr>
        <p:spPr>
          <a:xfrm>
            <a:off x="1097280" y="286604"/>
            <a:ext cx="10115203" cy="1450757"/>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000000"/>
              </a:buClr>
              <a:buSzPts val="4800"/>
              <a:buFont typeface="Arial"/>
              <a:buNone/>
            </a:pPr>
            <a:r>
              <a:rPr lang="en-US" sz="4800" b="0" i="0" u="none" strike="noStrike" cap="none">
                <a:solidFill>
                  <a:srgbClr val="3F3F3F"/>
                </a:solidFill>
                <a:latin typeface="Arial"/>
                <a:ea typeface="Arial"/>
                <a:cs typeface="Arial"/>
                <a:sym typeface="Arial"/>
              </a:rPr>
              <a:t>Cyber</a:t>
            </a:r>
            <a:r>
              <a:rPr lang="en-US" sz="4800" b="0" i="0" u="none" strike="noStrike" cap="none">
                <a:solidFill>
                  <a:schemeClr val="accent2"/>
                </a:solidFill>
                <a:latin typeface="Arial"/>
                <a:ea typeface="Arial"/>
                <a:cs typeface="Arial"/>
                <a:sym typeface="Arial"/>
              </a:rPr>
              <a:t> </a:t>
            </a:r>
            <a:r>
              <a:rPr lang="en-US" sz="4800" b="0" i="0" u="none" strike="noStrike" cap="none">
                <a:solidFill>
                  <a:srgbClr val="3F3F3F"/>
                </a:solidFill>
                <a:latin typeface="Arial"/>
                <a:ea typeface="Arial"/>
                <a:cs typeface="Arial"/>
                <a:sym typeface="Arial"/>
              </a:rPr>
              <a:t>Security</a:t>
            </a:r>
            <a:endParaRPr sz="4800" b="0" i="0" u="none" strike="noStrike" cap="none">
              <a:solidFill>
                <a:srgbClr val="3F3F3F"/>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2"/>
                                        </p:tgtEl>
                                        <p:attrNameLst>
                                          <p:attrName>style.visibility</p:attrName>
                                        </p:attrNameLst>
                                      </p:cBhvr>
                                      <p:to>
                                        <p:strVal val="visible"/>
                                      </p:to>
                                    </p:set>
                                    <p:animEffect transition="in" filter="fade">
                                      <p:cBhvr>
                                        <p:cTn id="7" dur="500"/>
                                        <p:tgtEl>
                                          <p:spTgt spid="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3"/>
          <p:cNvSpPr txBox="1"/>
          <p:nvPr/>
        </p:nvSpPr>
        <p:spPr>
          <a:xfrm>
            <a:off x="817567" y="898258"/>
            <a:ext cx="5459989" cy="900247"/>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Arial"/>
              <a:ea typeface="Arial"/>
              <a:cs typeface="Arial"/>
              <a:sym typeface="Arial"/>
            </a:endParaRPr>
          </a:p>
        </p:txBody>
      </p:sp>
      <p:sp>
        <p:nvSpPr>
          <p:cNvPr id="293" name="Google Shape;293;p1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Hacking</a:t>
            </a:r>
            <a:endParaRPr/>
          </a:p>
        </p:txBody>
      </p:sp>
      <p:sp>
        <p:nvSpPr>
          <p:cNvPr id="294" name="Google Shape;294;p13"/>
          <p:cNvSpPr txBox="1">
            <a:spLocks noGrp="1"/>
          </p:cNvSpPr>
          <p:nvPr>
            <p:ph type="body" idx="1"/>
          </p:nvPr>
        </p:nvSpPr>
        <p:spPr>
          <a:xfrm>
            <a:off x="1219954" y="1742177"/>
            <a:ext cx="10115203" cy="1722684"/>
          </a:xfrm>
          <a:prstGeom prst="rect">
            <a:avLst/>
          </a:prstGeom>
          <a:noFill/>
          <a:ln>
            <a:noFill/>
          </a:ln>
        </p:spPr>
        <p:txBody>
          <a:bodyPr spcFirstLastPara="1" wrap="square" lIns="0" tIns="45700" rIns="0" bIns="45700" anchor="t" anchorCtr="0">
            <a:noAutofit/>
          </a:bodyPr>
          <a:lstStyle/>
          <a:p>
            <a:pPr marL="0" lvl="0" indent="0" algn="just" rtl="0">
              <a:lnSpc>
                <a:spcPct val="100000"/>
              </a:lnSpc>
              <a:spcBef>
                <a:spcPts val="0"/>
              </a:spcBef>
              <a:spcAft>
                <a:spcPts val="0"/>
              </a:spcAft>
              <a:buSzPts val="2000"/>
              <a:buNone/>
            </a:pPr>
            <a:r>
              <a:rPr lang="en-US" dirty="0"/>
              <a:t>Act of finding the possible entry points that exist in a computer system or a computer network and finally entering them (A form of cyberattack)</a:t>
            </a:r>
          </a:p>
          <a:p>
            <a:pPr marL="0" lvl="0" indent="0" algn="just" rtl="0">
              <a:lnSpc>
                <a:spcPct val="100000"/>
              </a:lnSpc>
              <a:spcBef>
                <a:spcPts val="0"/>
              </a:spcBef>
              <a:spcAft>
                <a:spcPts val="0"/>
              </a:spcAft>
              <a:buSzPts val="2000"/>
              <a:buNone/>
            </a:pPr>
            <a:endParaRPr dirty="0"/>
          </a:p>
          <a:p>
            <a:pPr marL="0" lvl="0" indent="0" algn="just" rtl="0">
              <a:lnSpc>
                <a:spcPct val="100000"/>
              </a:lnSpc>
              <a:spcBef>
                <a:spcPts val="200"/>
              </a:spcBef>
              <a:spcAft>
                <a:spcPts val="200"/>
              </a:spcAft>
              <a:buSzPts val="2000"/>
              <a:buNone/>
            </a:pPr>
            <a:r>
              <a:rPr lang="en-US" b="1" u="sng" dirty="0"/>
              <a:t>Ethical Hacking:</a:t>
            </a:r>
            <a:r>
              <a:rPr lang="en-US" dirty="0"/>
              <a:t> Used to find weaknesses in a computer or network system for testing purpose</a:t>
            </a:r>
            <a:endParaRPr dirty="0"/>
          </a:p>
        </p:txBody>
      </p:sp>
      <p:pic>
        <p:nvPicPr>
          <p:cNvPr id="295" name="Google Shape;295;p13"/>
          <p:cNvPicPr preferRelativeResize="0"/>
          <p:nvPr/>
        </p:nvPicPr>
        <p:blipFill rotWithShape="1">
          <a:blip r:embed="rId3">
            <a:alphaModFix/>
          </a:blip>
          <a:srcRect/>
          <a:stretch/>
        </p:blipFill>
        <p:spPr>
          <a:xfrm>
            <a:off x="6634653" y="3706002"/>
            <a:ext cx="4060241" cy="2260439"/>
          </a:xfrm>
          <a:prstGeom prst="rect">
            <a:avLst/>
          </a:prstGeom>
          <a:noFill/>
          <a:ln>
            <a:noFill/>
          </a:ln>
        </p:spPr>
      </p:pic>
      <p:pic>
        <p:nvPicPr>
          <p:cNvPr id="296" name="Google Shape;296;p13"/>
          <p:cNvPicPr preferRelativeResize="0"/>
          <p:nvPr/>
        </p:nvPicPr>
        <p:blipFill rotWithShape="1">
          <a:blip r:embed="rId4">
            <a:alphaModFix/>
          </a:blip>
          <a:srcRect/>
          <a:stretch/>
        </p:blipFill>
        <p:spPr>
          <a:xfrm>
            <a:off x="1762773" y="3706002"/>
            <a:ext cx="4469493" cy="2260439"/>
          </a:xfrm>
          <a:prstGeom prst="rect">
            <a:avLst/>
          </a:prstGeom>
          <a:noFill/>
          <a:ln>
            <a:noFill/>
          </a:ln>
        </p:spPr>
      </p:pic>
    </p:spTree>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4"/>
          <p:cNvSpPr txBox="1"/>
          <p:nvPr/>
        </p:nvSpPr>
        <p:spPr>
          <a:xfrm>
            <a:off x="817567" y="898258"/>
            <a:ext cx="5459989" cy="900247"/>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Arial"/>
              <a:ea typeface="Arial"/>
              <a:cs typeface="Arial"/>
              <a:sym typeface="Arial"/>
            </a:endParaRPr>
          </a:p>
        </p:txBody>
      </p:sp>
      <p:sp>
        <p:nvSpPr>
          <p:cNvPr id="302" name="Google Shape;302;p1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What’s Covered So Far…</a:t>
            </a:r>
            <a:endParaRPr/>
          </a:p>
        </p:txBody>
      </p:sp>
      <p:sp>
        <p:nvSpPr>
          <p:cNvPr id="303" name="Google Shape;303;p14"/>
          <p:cNvSpPr txBox="1">
            <a:spLocks noGrp="1"/>
          </p:cNvSpPr>
          <p:nvPr>
            <p:ph type="body" idx="1"/>
          </p:nvPr>
        </p:nvSpPr>
        <p:spPr>
          <a:xfrm>
            <a:off x="1219954" y="1863665"/>
            <a:ext cx="10115203" cy="3802030"/>
          </a:xfrm>
          <a:prstGeom prst="rect">
            <a:avLst/>
          </a:prstGeom>
          <a:noFill/>
          <a:ln>
            <a:noFill/>
          </a:ln>
        </p:spPr>
        <p:txBody>
          <a:bodyPr spcFirstLastPara="1" wrap="square" lIns="0" tIns="45700" rIns="0" bIns="45700" anchor="t" anchorCtr="0">
            <a:noAutofit/>
          </a:bodyPr>
          <a:lstStyle/>
          <a:p>
            <a:pPr marL="91440" lvl="0" indent="-91440" algn="just" rtl="0">
              <a:lnSpc>
                <a:spcPct val="200000"/>
              </a:lnSpc>
              <a:spcBef>
                <a:spcPts val="0"/>
              </a:spcBef>
              <a:spcAft>
                <a:spcPts val="0"/>
              </a:spcAft>
              <a:buSzPts val="2800"/>
              <a:buFont typeface="Noto Sans Symbols"/>
              <a:buChar char="✔"/>
            </a:pPr>
            <a:r>
              <a:rPr lang="en-US" sz="2800" dirty="0"/>
              <a:t>Cyberspace</a:t>
            </a:r>
            <a:endParaRPr dirty="0"/>
          </a:p>
          <a:p>
            <a:pPr marL="91440" lvl="0" indent="-91440" algn="just" rtl="0">
              <a:lnSpc>
                <a:spcPct val="200000"/>
              </a:lnSpc>
              <a:spcBef>
                <a:spcPts val="200"/>
              </a:spcBef>
              <a:spcAft>
                <a:spcPts val="0"/>
              </a:spcAft>
              <a:buSzPts val="2800"/>
              <a:buFont typeface="Noto Sans Symbols"/>
              <a:buChar char="✔"/>
            </a:pPr>
            <a:r>
              <a:rPr lang="en-US" sz="2800" dirty="0"/>
              <a:t>Cyberattacks</a:t>
            </a:r>
            <a:endParaRPr dirty="0"/>
          </a:p>
          <a:p>
            <a:pPr marL="91440" lvl="0" indent="-91440" algn="just" rtl="0">
              <a:lnSpc>
                <a:spcPct val="200000"/>
              </a:lnSpc>
              <a:spcBef>
                <a:spcPts val="200"/>
              </a:spcBef>
              <a:spcAft>
                <a:spcPts val="0"/>
              </a:spcAft>
              <a:buSzPts val="2800"/>
              <a:buFont typeface="Noto Sans Symbols"/>
              <a:buChar char="✔"/>
            </a:pPr>
            <a:r>
              <a:rPr lang="en-US" sz="2800" dirty="0"/>
              <a:t>Definition of Cyber Security</a:t>
            </a:r>
            <a:endParaRPr dirty="0"/>
          </a:p>
          <a:p>
            <a:pPr marL="91440" lvl="0" indent="-91440" algn="just" rtl="0">
              <a:lnSpc>
                <a:spcPct val="200000"/>
              </a:lnSpc>
              <a:spcBef>
                <a:spcPts val="200"/>
              </a:spcBef>
              <a:spcAft>
                <a:spcPts val="200"/>
              </a:spcAft>
              <a:buSzPts val="2800"/>
              <a:buFont typeface="Noto Sans Symbols"/>
              <a:buChar char="✔"/>
            </a:pPr>
            <a:r>
              <a:rPr lang="en-US" sz="2800" dirty="0"/>
              <a:t>Definition of Hacking</a:t>
            </a:r>
            <a:endParaRPr dirty="0"/>
          </a:p>
        </p:txBody>
      </p:sp>
    </p:spTree>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5"/>
          <p:cNvSpPr txBox="1"/>
          <p:nvPr/>
        </p:nvSpPr>
        <p:spPr>
          <a:xfrm>
            <a:off x="817568" y="898258"/>
            <a:ext cx="6609929" cy="900247"/>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Arial"/>
              <a:ea typeface="Arial"/>
              <a:cs typeface="Arial"/>
              <a:sym typeface="Arial"/>
            </a:endParaRPr>
          </a:p>
        </p:txBody>
      </p:sp>
      <p:sp>
        <p:nvSpPr>
          <p:cNvPr id="309" name="Google Shape;309;p1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Today’s Focus</a:t>
            </a:r>
            <a:endParaRPr/>
          </a:p>
        </p:txBody>
      </p:sp>
      <p:grpSp>
        <p:nvGrpSpPr>
          <p:cNvPr id="310" name="Google Shape;310;p15"/>
          <p:cNvGrpSpPr/>
          <p:nvPr/>
        </p:nvGrpSpPr>
        <p:grpSpPr>
          <a:xfrm>
            <a:off x="8354106" y="2504290"/>
            <a:ext cx="3563256" cy="3155674"/>
            <a:chOff x="8354106" y="2504290"/>
            <a:chExt cx="3563256" cy="3155674"/>
          </a:xfrm>
        </p:grpSpPr>
        <p:pic>
          <p:nvPicPr>
            <p:cNvPr id="311" name="Google Shape;311;p15"/>
            <p:cNvPicPr preferRelativeResize="0"/>
            <p:nvPr/>
          </p:nvPicPr>
          <p:blipFill rotWithShape="1">
            <a:blip r:embed="rId3">
              <a:alphaModFix/>
            </a:blip>
            <a:srcRect/>
            <a:stretch/>
          </p:blipFill>
          <p:spPr>
            <a:xfrm>
              <a:off x="8354106" y="2504290"/>
              <a:ext cx="3563256" cy="2459171"/>
            </a:xfrm>
            <a:prstGeom prst="rect">
              <a:avLst/>
            </a:prstGeom>
            <a:noFill/>
            <a:ln>
              <a:noFill/>
            </a:ln>
          </p:spPr>
        </p:pic>
        <p:sp>
          <p:nvSpPr>
            <p:cNvPr id="312" name="Google Shape;312;p15"/>
            <p:cNvSpPr txBox="1"/>
            <p:nvPr/>
          </p:nvSpPr>
          <p:spPr>
            <a:xfrm>
              <a:off x="9199493" y="5259895"/>
              <a:ext cx="2553236"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Arial"/>
                  <a:ea typeface="Arial"/>
                  <a:cs typeface="Arial"/>
                  <a:sym typeface="Arial"/>
                </a:rPr>
                <a:t>Wireless Security</a:t>
              </a:r>
              <a:endParaRPr sz="1400" b="0" i="0" u="none" strike="noStrike" cap="none" dirty="0">
                <a:solidFill>
                  <a:srgbClr val="000000"/>
                </a:solidFill>
                <a:latin typeface="Arial"/>
                <a:ea typeface="Arial"/>
                <a:cs typeface="Arial"/>
                <a:sym typeface="Arial"/>
              </a:endParaRPr>
            </a:p>
          </p:txBody>
        </p:sp>
      </p:grpSp>
      <p:grpSp>
        <p:nvGrpSpPr>
          <p:cNvPr id="313" name="Google Shape;313;p15"/>
          <p:cNvGrpSpPr/>
          <p:nvPr/>
        </p:nvGrpSpPr>
        <p:grpSpPr>
          <a:xfrm>
            <a:off x="318035" y="2410159"/>
            <a:ext cx="3563256" cy="3249805"/>
            <a:chOff x="318035" y="2410159"/>
            <a:chExt cx="3563256" cy="3249805"/>
          </a:xfrm>
        </p:grpSpPr>
        <p:sp>
          <p:nvSpPr>
            <p:cNvPr id="314" name="Google Shape;314;p15"/>
            <p:cNvSpPr txBox="1"/>
            <p:nvPr/>
          </p:nvSpPr>
          <p:spPr>
            <a:xfrm>
              <a:off x="846138" y="5259895"/>
              <a:ext cx="2766638" cy="4000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Arial"/>
                  <a:ea typeface="Arial"/>
                  <a:cs typeface="Arial"/>
                  <a:sym typeface="Arial"/>
                </a:rPr>
                <a:t>Information Security</a:t>
              </a:r>
              <a:endParaRPr sz="1400" b="0" i="0" u="none" strike="noStrike" cap="none" dirty="0">
                <a:solidFill>
                  <a:srgbClr val="000000"/>
                </a:solidFill>
                <a:latin typeface="Arial"/>
                <a:ea typeface="Arial"/>
                <a:cs typeface="Arial"/>
                <a:sym typeface="Arial"/>
              </a:endParaRPr>
            </a:p>
          </p:txBody>
        </p:sp>
        <p:pic>
          <p:nvPicPr>
            <p:cNvPr id="315" name="Google Shape;315;p15" descr="Image result for Information Security"/>
            <p:cNvPicPr preferRelativeResize="0"/>
            <p:nvPr/>
          </p:nvPicPr>
          <p:blipFill rotWithShape="1">
            <a:blip r:embed="rId4">
              <a:alphaModFix/>
            </a:blip>
            <a:srcRect/>
            <a:stretch/>
          </p:blipFill>
          <p:spPr>
            <a:xfrm>
              <a:off x="318035" y="2410159"/>
              <a:ext cx="3563256" cy="2731123"/>
            </a:xfrm>
            <a:prstGeom prst="rect">
              <a:avLst/>
            </a:prstGeom>
            <a:noFill/>
            <a:ln>
              <a:noFill/>
            </a:ln>
          </p:spPr>
        </p:pic>
      </p:grpSp>
      <p:grpSp>
        <p:nvGrpSpPr>
          <p:cNvPr id="316" name="Google Shape;316;p15"/>
          <p:cNvGrpSpPr/>
          <p:nvPr/>
        </p:nvGrpSpPr>
        <p:grpSpPr>
          <a:xfrm>
            <a:off x="3458013" y="1919243"/>
            <a:ext cx="5319372" cy="3740762"/>
            <a:chOff x="3458013" y="1919243"/>
            <a:chExt cx="5319372" cy="3740762"/>
          </a:xfrm>
        </p:grpSpPr>
        <p:sp>
          <p:nvSpPr>
            <p:cNvPr id="317" name="Google Shape;317;p15"/>
            <p:cNvSpPr txBox="1"/>
            <p:nvPr/>
          </p:nvSpPr>
          <p:spPr>
            <a:xfrm>
              <a:off x="5092623" y="5259895"/>
              <a:ext cx="2443217"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Arial"/>
                  <a:ea typeface="Arial"/>
                  <a:cs typeface="Arial"/>
                  <a:sym typeface="Arial"/>
                </a:rPr>
                <a:t>Network Security</a:t>
              </a:r>
              <a:endParaRPr sz="1400" b="0" i="0" u="none" strike="noStrike" cap="none">
                <a:solidFill>
                  <a:srgbClr val="000000"/>
                </a:solidFill>
                <a:latin typeface="Arial"/>
                <a:ea typeface="Arial"/>
                <a:cs typeface="Arial"/>
                <a:sym typeface="Arial"/>
              </a:endParaRPr>
            </a:p>
          </p:txBody>
        </p:sp>
        <p:pic>
          <p:nvPicPr>
            <p:cNvPr id="318" name="Google Shape;318;p15" descr="Image result for network security"/>
            <p:cNvPicPr preferRelativeResize="0"/>
            <p:nvPr/>
          </p:nvPicPr>
          <p:blipFill rotWithShape="1">
            <a:blip r:embed="rId5">
              <a:alphaModFix/>
            </a:blip>
            <a:srcRect/>
            <a:stretch/>
          </p:blipFill>
          <p:spPr>
            <a:xfrm>
              <a:off x="3458013" y="1919243"/>
              <a:ext cx="5319372" cy="3540707"/>
            </a:xfrm>
            <a:prstGeom prst="rect">
              <a:avLst/>
            </a:prstGeom>
            <a:noFill/>
            <a:ln>
              <a:noFill/>
            </a:ln>
          </p:spPr>
        </p:pic>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3"/>
                                        </p:tgtEl>
                                        <p:attrNameLst>
                                          <p:attrName>style.visibility</p:attrName>
                                        </p:attrNameLst>
                                      </p:cBhvr>
                                      <p:to>
                                        <p:strVal val="visible"/>
                                      </p:to>
                                    </p:set>
                                    <p:animEffect transition="in" filter="fade">
                                      <p:cBhvr>
                                        <p:cTn id="7" dur="500"/>
                                        <p:tgtEl>
                                          <p:spTgt spid="3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6"/>
                                        </p:tgtEl>
                                        <p:attrNameLst>
                                          <p:attrName>style.visibility</p:attrName>
                                        </p:attrNameLst>
                                      </p:cBhvr>
                                      <p:to>
                                        <p:strVal val="visible"/>
                                      </p:to>
                                    </p:set>
                                    <p:animEffect transition="in" filter="fade">
                                      <p:cBhvr>
                                        <p:cTn id="12" dur="500"/>
                                        <p:tgtEl>
                                          <p:spTgt spid="3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0"/>
                                        </p:tgtEl>
                                        <p:attrNameLst>
                                          <p:attrName>style.visibility</p:attrName>
                                        </p:attrNameLst>
                                      </p:cBhvr>
                                      <p:to>
                                        <p:strVal val="visible"/>
                                      </p:to>
                                    </p:set>
                                    <p:animEffect transition="in" filter="fade">
                                      <p:cBhvr>
                                        <p:cTn id="17" dur="5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mt="40000"/>
          </a:blip>
          <a:stretch>
            <a:fillRect/>
          </a:stretch>
        </a:blipFill>
        <a:effectLst/>
      </p:bgPr>
    </p:bg>
    <p:spTree>
      <p:nvGrpSpPr>
        <p:cNvPr id="1" name="Shape 322"/>
        <p:cNvGrpSpPr/>
        <p:nvPr/>
      </p:nvGrpSpPr>
      <p:grpSpPr>
        <a:xfrm>
          <a:off x="0" y="0"/>
          <a:ext cx="0" cy="0"/>
          <a:chOff x="0" y="0"/>
          <a:chExt cx="0" cy="0"/>
        </a:xfrm>
      </p:grpSpPr>
      <p:sp>
        <p:nvSpPr>
          <p:cNvPr id="323" name="Google Shape;323;p16"/>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Autofit/>
          </a:bodyPr>
          <a:lstStyle/>
          <a:p>
            <a:pPr marL="0" lvl="0" indent="0" algn="ctr" rtl="0">
              <a:lnSpc>
                <a:spcPct val="85000"/>
              </a:lnSpc>
              <a:spcBef>
                <a:spcPts val="0"/>
              </a:spcBef>
              <a:spcAft>
                <a:spcPts val="0"/>
              </a:spcAft>
              <a:buClr>
                <a:srgbClr val="262626"/>
              </a:buClr>
              <a:buSzPts val="6600"/>
              <a:buFont typeface="Arial"/>
              <a:buNone/>
            </a:pPr>
            <a:r>
              <a:rPr lang="en-US" sz="6600" b="1"/>
              <a:t>Information Security</a:t>
            </a:r>
            <a:endParaRPr sz="6600" b="1"/>
          </a:p>
        </p:txBody>
      </p:sp>
    </p:spTree>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1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dirty="0"/>
              <a:t>Information Security</a:t>
            </a:r>
            <a:endParaRPr dirty="0"/>
          </a:p>
        </p:txBody>
      </p:sp>
      <p:sp>
        <p:nvSpPr>
          <p:cNvPr id="329" name="Google Shape;329;p17"/>
          <p:cNvSpPr txBox="1">
            <a:spLocks noGrp="1"/>
          </p:cNvSpPr>
          <p:nvPr>
            <p:ph type="body" idx="1"/>
          </p:nvPr>
        </p:nvSpPr>
        <p:spPr>
          <a:xfrm>
            <a:off x="1249680" y="1737360"/>
            <a:ext cx="10058400" cy="4023360"/>
          </a:xfrm>
          <a:prstGeom prst="rect">
            <a:avLst/>
          </a:prstGeom>
          <a:noFill/>
          <a:ln>
            <a:noFill/>
          </a:ln>
        </p:spPr>
        <p:txBody>
          <a:bodyPr spcFirstLastPara="1" wrap="square" lIns="0" tIns="45700" rIns="0" bIns="45700" anchor="t" anchorCtr="0">
            <a:noAutofit/>
          </a:bodyPr>
          <a:lstStyle/>
          <a:p>
            <a:pPr marL="0" lvl="0" indent="0" algn="just" rtl="0">
              <a:lnSpc>
                <a:spcPct val="100000"/>
              </a:lnSpc>
              <a:spcBef>
                <a:spcPts val="0"/>
              </a:spcBef>
              <a:spcAft>
                <a:spcPts val="0"/>
              </a:spcAft>
              <a:buSzPts val="2000"/>
              <a:buNone/>
            </a:pPr>
            <a:r>
              <a:rPr lang="en-US" sz="2400" dirty="0">
                <a:solidFill>
                  <a:schemeClr val="dk1"/>
                </a:solidFill>
              </a:rPr>
              <a:t>Information Security is an area of study </a:t>
            </a:r>
            <a:r>
              <a:rPr lang="en-US" sz="2400" dirty="0">
                <a:solidFill>
                  <a:schemeClr val="accent3"/>
                </a:solidFill>
              </a:rPr>
              <a:t>to protect Information and related resources from unauthorized access, use, disruption, modification or destruction</a:t>
            </a:r>
            <a:endParaRPr sz="2400" dirty="0">
              <a:solidFill>
                <a:schemeClr val="accent3"/>
              </a:solidFill>
            </a:endParaRPr>
          </a:p>
          <a:p>
            <a:pPr marL="0" lvl="0" indent="0" algn="just" rtl="0">
              <a:lnSpc>
                <a:spcPct val="100000"/>
              </a:lnSpc>
              <a:spcBef>
                <a:spcPts val="1600"/>
              </a:spcBef>
              <a:spcAft>
                <a:spcPts val="200"/>
              </a:spcAft>
              <a:buSzPts val="2000"/>
              <a:buNone/>
            </a:pPr>
            <a:r>
              <a:rPr lang="en-US" sz="2400" dirty="0">
                <a:solidFill>
                  <a:srgbClr val="0C0C0C"/>
                </a:solidFill>
              </a:rPr>
              <a:t>Includes how to </a:t>
            </a:r>
            <a:r>
              <a:rPr lang="en-US" sz="2400" dirty="0">
                <a:solidFill>
                  <a:schemeClr val="accent3"/>
                </a:solidFill>
              </a:rPr>
              <a:t>protect the information </a:t>
            </a:r>
            <a:r>
              <a:rPr lang="en-US" sz="2400" dirty="0">
                <a:solidFill>
                  <a:srgbClr val="0C0C0C"/>
                </a:solidFill>
              </a:rPr>
              <a:t>and all other resources associated with the system from being exploited</a:t>
            </a:r>
            <a:endParaRPr sz="2400" dirty="0"/>
          </a:p>
        </p:txBody>
      </p:sp>
    </p:spTree>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8"/>
          <p:cNvSpPr txBox="1"/>
          <p:nvPr/>
        </p:nvSpPr>
        <p:spPr>
          <a:xfrm>
            <a:off x="817567" y="898258"/>
            <a:ext cx="6321171" cy="900247"/>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Arial"/>
              <a:ea typeface="Arial"/>
              <a:cs typeface="Arial"/>
              <a:sym typeface="Arial"/>
            </a:endParaRPr>
          </a:p>
        </p:txBody>
      </p:sp>
      <p:sp>
        <p:nvSpPr>
          <p:cNvPr id="335" name="Google Shape;335;p1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dirty="0"/>
              <a:t>Protect what?</a:t>
            </a:r>
            <a:endParaRPr dirty="0"/>
          </a:p>
        </p:txBody>
      </p:sp>
      <p:sp>
        <p:nvSpPr>
          <p:cNvPr id="336" name="Google Shape;336;p18"/>
          <p:cNvSpPr txBox="1">
            <a:spLocks noGrp="1"/>
          </p:cNvSpPr>
          <p:nvPr>
            <p:ph type="body" idx="1"/>
          </p:nvPr>
        </p:nvSpPr>
        <p:spPr>
          <a:xfrm>
            <a:off x="1223024" y="1754842"/>
            <a:ext cx="10115203" cy="3264208"/>
          </a:xfrm>
          <a:prstGeom prst="rect">
            <a:avLst/>
          </a:prstGeom>
          <a:noFill/>
          <a:ln>
            <a:noFill/>
          </a:ln>
        </p:spPr>
        <p:txBody>
          <a:bodyPr spcFirstLastPara="1" wrap="square" lIns="0" tIns="45700" rIns="0" bIns="45700" anchor="t" anchorCtr="0">
            <a:noAutofit/>
          </a:bodyPr>
          <a:lstStyle/>
          <a:p>
            <a:pPr marL="342900" algn="just">
              <a:lnSpc>
                <a:spcPct val="150000"/>
              </a:lnSpc>
              <a:spcBef>
                <a:spcPts val="0"/>
              </a:spcBef>
              <a:buClrTx/>
              <a:buSzPts val="2000"/>
              <a:buFont typeface="Arial" panose="020B0604020202020204" pitchFamily="34" charset="0"/>
              <a:buChar char="•"/>
            </a:pPr>
            <a:r>
              <a:rPr lang="en-US" b="1" dirty="0"/>
              <a:t>Data – Heart of the matter</a:t>
            </a:r>
            <a:endParaRPr lang="en-US" sz="1800" b="1" dirty="0"/>
          </a:p>
          <a:p>
            <a:pPr marL="800100" lvl="1" algn="just">
              <a:lnSpc>
                <a:spcPct val="150000"/>
              </a:lnSpc>
              <a:spcBef>
                <a:spcPts val="0"/>
              </a:spcBef>
              <a:buClrTx/>
              <a:buSzPts val="2000"/>
              <a:buFont typeface="Wingdings" panose="05000000000000000000" pitchFamily="2" charset="2"/>
              <a:buChar char="§"/>
            </a:pPr>
            <a:r>
              <a:rPr lang="en-US" dirty="0"/>
              <a:t>Data make up information</a:t>
            </a:r>
            <a:endParaRPr lang="en-US" b="1" dirty="0"/>
          </a:p>
          <a:p>
            <a:pPr marL="342900" algn="just">
              <a:lnSpc>
                <a:spcPct val="150000"/>
              </a:lnSpc>
              <a:spcBef>
                <a:spcPts val="0"/>
              </a:spcBef>
              <a:buClrTx/>
              <a:buSzPts val="2000"/>
              <a:buFont typeface="Arial" panose="020B0604020202020204" pitchFamily="34" charset="0"/>
              <a:buChar char="•"/>
            </a:pPr>
            <a:r>
              <a:rPr lang="en-US" b="1" dirty="0"/>
              <a:t>Resources – Every entity that dealt with the Data</a:t>
            </a:r>
          </a:p>
          <a:p>
            <a:pPr marL="800100" lvl="1" algn="just">
              <a:lnSpc>
                <a:spcPct val="150000"/>
              </a:lnSpc>
              <a:spcBef>
                <a:spcPts val="0"/>
              </a:spcBef>
              <a:buClrTx/>
              <a:buSzPts val="2000"/>
              <a:buFont typeface="Wingdings" panose="05000000000000000000" pitchFamily="2" charset="2"/>
              <a:buChar char="§"/>
            </a:pPr>
            <a:r>
              <a:rPr lang="en-US" dirty="0"/>
              <a:t>Resources - Entities that interact with one another within the information space to enable the information solution to accomplish its purpose</a:t>
            </a:r>
            <a:endParaRPr dirty="0"/>
          </a:p>
        </p:txBody>
      </p:sp>
      <p:grpSp>
        <p:nvGrpSpPr>
          <p:cNvPr id="337" name="Google Shape;337;p18"/>
          <p:cNvGrpSpPr/>
          <p:nvPr/>
        </p:nvGrpSpPr>
        <p:grpSpPr>
          <a:xfrm>
            <a:off x="1483180" y="4121406"/>
            <a:ext cx="1892698" cy="1959679"/>
            <a:chOff x="1634195" y="4090749"/>
            <a:chExt cx="1892698" cy="1959679"/>
          </a:xfrm>
        </p:grpSpPr>
        <p:pic>
          <p:nvPicPr>
            <p:cNvPr id="338" name="Google Shape;338;p18"/>
            <p:cNvPicPr preferRelativeResize="0"/>
            <p:nvPr/>
          </p:nvPicPr>
          <p:blipFill rotWithShape="1">
            <a:blip r:embed="rId3">
              <a:alphaModFix/>
            </a:blip>
            <a:srcRect/>
            <a:stretch/>
          </p:blipFill>
          <p:spPr>
            <a:xfrm>
              <a:off x="1634195" y="4090749"/>
              <a:ext cx="1892697" cy="1482861"/>
            </a:xfrm>
            <a:prstGeom prst="rect">
              <a:avLst/>
            </a:prstGeom>
            <a:noFill/>
            <a:ln>
              <a:noFill/>
            </a:ln>
          </p:spPr>
        </p:pic>
        <p:sp>
          <p:nvSpPr>
            <p:cNvPr id="339" name="Google Shape;339;p18"/>
            <p:cNvSpPr txBox="1"/>
            <p:nvPr/>
          </p:nvSpPr>
          <p:spPr>
            <a:xfrm>
              <a:off x="1634196" y="5681096"/>
              <a:ext cx="189269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Arial"/>
                  <a:ea typeface="Arial"/>
                  <a:cs typeface="Arial"/>
                  <a:sym typeface="Arial"/>
                </a:rPr>
                <a:t>Network Router</a:t>
              </a:r>
              <a:endParaRPr sz="1400" b="0" i="0" u="none" strike="noStrike" cap="none">
                <a:solidFill>
                  <a:srgbClr val="000000"/>
                </a:solidFill>
                <a:latin typeface="Arial"/>
                <a:ea typeface="Arial"/>
                <a:cs typeface="Arial"/>
                <a:sym typeface="Arial"/>
              </a:endParaRPr>
            </a:p>
          </p:txBody>
        </p:sp>
      </p:grpSp>
      <p:grpSp>
        <p:nvGrpSpPr>
          <p:cNvPr id="340" name="Google Shape;340;p18"/>
          <p:cNvGrpSpPr/>
          <p:nvPr/>
        </p:nvGrpSpPr>
        <p:grpSpPr>
          <a:xfrm>
            <a:off x="4080452" y="4204133"/>
            <a:ext cx="3276600" cy="1876952"/>
            <a:chOff x="3862138" y="4173435"/>
            <a:chExt cx="3276600" cy="1876952"/>
          </a:xfrm>
        </p:grpSpPr>
        <p:sp>
          <p:nvSpPr>
            <p:cNvPr id="341" name="Google Shape;341;p18"/>
            <p:cNvSpPr txBox="1"/>
            <p:nvPr/>
          </p:nvSpPr>
          <p:spPr>
            <a:xfrm>
              <a:off x="4776158" y="5681096"/>
              <a:ext cx="2052878"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Arial"/>
                  <a:ea typeface="Arial"/>
                  <a:cs typeface="Arial"/>
                  <a:sym typeface="Arial"/>
                </a:rPr>
                <a:t>Database Server</a:t>
              </a:r>
              <a:endParaRPr sz="1400" b="0" i="0" u="none" strike="noStrike" cap="none" dirty="0">
                <a:solidFill>
                  <a:srgbClr val="000000"/>
                </a:solidFill>
                <a:latin typeface="Arial"/>
                <a:ea typeface="Arial"/>
                <a:cs typeface="Arial"/>
                <a:sym typeface="Arial"/>
              </a:endParaRPr>
            </a:p>
          </p:txBody>
        </p:sp>
        <p:pic>
          <p:nvPicPr>
            <p:cNvPr id="342" name="Google Shape;342;p18"/>
            <p:cNvPicPr preferRelativeResize="0"/>
            <p:nvPr/>
          </p:nvPicPr>
          <p:blipFill rotWithShape="1">
            <a:blip r:embed="rId4">
              <a:alphaModFix/>
            </a:blip>
            <a:srcRect/>
            <a:stretch/>
          </p:blipFill>
          <p:spPr>
            <a:xfrm>
              <a:off x="3862138" y="4173435"/>
              <a:ext cx="3276600" cy="1400175"/>
            </a:xfrm>
            <a:prstGeom prst="rect">
              <a:avLst/>
            </a:prstGeom>
            <a:noFill/>
            <a:ln>
              <a:noFill/>
            </a:ln>
          </p:spPr>
        </p:pic>
      </p:grpSp>
      <p:grpSp>
        <p:nvGrpSpPr>
          <p:cNvPr id="343" name="Google Shape;343;p18"/>
          <p:cNvGrpSpPr/>
          <p:nvPr/>
        </p:nvGrpSpPr>
        <p:grpSpPr>
          <a:xfrm>
            <a:off x="8169345" y="4180992"/>
            <a:ext cx="2847975" cy="1969491"/>
            <a:chOff x="7923559" y="4080696"/>
            <a:chExt cx="2847975" cy="1969491"/>
          </a:xfrm>
        </p:grpSpPr>
        <p:sp>
          <p:nvSpPr>
            <p:cNvPr id="344" name="Google Shape;344;p18"/>
            <p:cNvSpPr txBox="1"/>
            <p:nvPr/>
          </p:nvSpPr>
          <p:spPr>
            <a:xfrm>
              <a:off x="8401199" y="5680896"/>
              <a:ext cx="2370335"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Arial"/>
                  <a:ea typeface="Arial"/>
                  <a:cs typeface="Arial"/>
                  <a:sym typeface="Arial"/>
                </a:rPr>
                <a:t>User’s Credential</a:t>
              </a:r>
              <a:endParaRPr sz="1400" b="0" i="0" u="none" strike="noStrike" cap="none" dirty="0">
                <a:solidFill>
                  <a:srgbClr val="000000"/>
                </a:solidFill>
                <a:latin typeface="Arial"/>
                <a:ea typeface="Arial"/>
                <a:cs typeface="Arial"/>
                <a:sym typeface="Arial"/>
              </a:endParaRPr>
            </a:p>
          </p:txBody>
        </p:sp>
        <p:pic>
          <p:nvPicPr>
            <p:cNvPr id="345" name="Google Shape;345;p18"/>
            <p:cNvPicPr preferRelativeResize="0"/>
            <p:nvPr/>
          </p:nvPicPr>
          <p:blipFill rotWithShape="1">
            <a:blip r:embed="rId5">
              <a:alphaModFix/>
            </a:blip>
            <a:srcRect/>
            <a:stretch/>
          </p:blipFill>
          <p:spPr>
            <a:xfrm>
              <a:off x="7923559" y="4080696"/>
              <a:ext cx="2847975" cy="1600200"/>
            </a:xfrm>
            <a:prstGeom prst="rect">
              <a:avLst/>
            </a:prstGeom>
            <a:noFill/>
            <a:ln>
              <a:noFill/>
            </a:ln>
          </p:spPr>
        </p:pic>
      </p:gr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7"/>
                                        </p:tgtEl>
                                        <p:attrNameLst>
                                          <p:attrName>style.visibility</p:attrName>
                                        </p:attrNameLst>
                                      </p:cBhvr>
                                      <p:to>
                                        <p:strVal val="visible"/>
                                      </p:to>
                                    </p:set>
                                    <p:animEffect transition="in" filter="fade">
                                      <p:cBhvr>
                                        <p:cTn id="7" dur="500"/>
                                        <p:tgtEl>
                                          <p:spTgt spid="3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0"/>
                                        </p:tgtEl>
                                        <p:attrNameLst>
                                          <p:attrName>style.visibility</p:attrName>
                                        </p:attrNameLst>
                                      </p:cBhvr>
                                      <p:to>
                                        <p:strVal val="visible"/>
                                      </p:to>
                                    </p:set>
                                    <p:animEffect transition="in" filter="fade">
                                      <p:cBhvr>
                                        <p:cTn id="12" dur="500"/>
                                        <p:tgtEl>
                                          <p:spTgt spid="34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3"/>
                                        </p:tgtEl>
                                        <p:attrNameLst>
                                          <p:attrName>style.visibility</p:attrName>
                                        </p:attrNameLst>
                                      </p:cBhvr>
                                      <p:to>
                                        <p:strVal val="visible"/>
                                      </p:to>
                                    </p:set>
                                    <p:animEffect transition="in" filter="fade">
                                      <p:cBhvr>
                                        <p:cTn id="17" dur="500"/>
                                        <p:tgtEl>
                                          <p:spTgt spid="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2" name="Google Shape;352;p1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Goals of</a:t>
            </a:r>
            <a:br>
              <a:rPr lang="en-US"/>
            </a:br>
            <a:r>
              <a:rPr lang="en-US"/>
              <a:t>Information Security</a:t>
            </a:r>
            <a:endParaRPr/>
          </a:p>
        </p:txBody>
      </p:sp>
      <p:sp>
        <p:nvSpPr>
          <p:cNvPr id="353" name="Google Shape;353;p19"/>
          <p:cNvSpPr txBox="1"/>
          <p:nvPr/>
        </p:nvSpPr>
        <p:spPr>
          <a:xfrm>
            <a:off x="451825" y="3934850"/>
            <a:ext cx="2885041" cy="198726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sng" strike="noStrike" cap="none" dirty="0">
                <a:solidFill>
                  <a:schemeClr val="dk1"/>
                </a:solidFill>
                <a:latin typeface="Arial"/>
                <a:ea typeface="Arial"/>
                <a:cs typeface="Arial"/>
                <a:sym typeface="Arial"/>
              </a:rPr>
              <a:t>Prevention</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sng" strike="noStrike" cap="none" dirty="0">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Unauthorized disclosure</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Unauthorized modification</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dirty="0">
                <a:solidFill>
                  <a:schemeClr val="dk1"/>
                </a:solidFill>
                <a:latin typeface="Arial"/>
                <a:ea typeface="Arial"/>
                <a:cs typeface="Arial"/>
                <a:sym typeface="Arial"/>
              </a:rPr>
              <a:t>Unauthorized withholding of information or resource</a:t>
            </a:r>
            <a:endParaRPr sz="1400" b="0" i="0" u="none" strike="noStrike" cap="none" dirty="0">
              <a:solidFill>
                <a:srgbClr val="000000"/>
              </a:solidFill>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Arial"/>
              <a:ea typeface="Arial"/>
              <a:cs typeface="Arial"/>
              <a:sym typeface="Arial"/>
            </a:endParaRPr>
          </a:p>
        </p:txBody>
      </p:sp>
      <p:sp>
        <p:nvSpPr>
          <p:cNvPr id="354" name="Google Shape;354;p19"/>
          <p:cNvSpPr txBox="1"/>
          <p:nvPr/>
        </p:nvSpPr>
        <p:spPr>
          <a:xfrm>
            <a:off x="3389412" y="3933710"/>
            <a:ext cx="2743200" cy="1384995"/>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sng" strike="noStrike" cap="none">
                <a:solidFill>
                  <a:schemeClr val="dk1"/>
                </a:solidFill>
                <a:latin typeface="Arial"/>
                <a:ea typeface="Arial"/>
                <a:cs typeface="Arial"/>
                <a:sym typeface="Arial"/>
              </a:rPr>
              <a:t>Detection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sng"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Aware of when, how and by whom an asset has been damaged</a:t>
            </a:r>
            <a:endParaRPr sz="1400" b="0" i="0" u="none" strike="noStrike" cap="none">
              <a:solidFill>
                <a:srgbClr val="000000"/>
              </a:solidFill>
              <a:latin typeface="Arial"/>
              <a:ea typeface="Arial"/>
              <a:cs typeface="Arial"/>
              <a:sym typeface="Arial"/>
            </a:endParaRPr>
          </a:p>
        </p:txBody>
      </p:sp>
      <p:sp>
        <p:nvSpPr>
          <p:cNvPr id="355" name="Google Shape;355;p19"/>
          <p:cNvSpPr txBox="1"/>
          <p:nvPr/>
        </p:nvSpPr>
        <p:spPr>
          <a:xfrm>
            <a:off x="6475439" y="3933710"/>
            <a:ext cx="2743200" cy="83099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sng" strike="noStrike" cap="none">
                <a:solidFill>
                  <a:schemeClr val="dk1"/>
                </a:solidFill>
                <a:latin typeface="Arial"/>
                <a:ea typeface="Arial"/>
                <a:cs typeface="Arial"/>
                <a:sym typeface="Arial"/>
              </a:rPr>
              <a:t>Reaction</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sng"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Implement necessary measures to prevent future attacks</a:t>
            </a:r>
            <a:endParaRPr sz="1400" b="0" i="0" u="none" strike="noStrike" cap="none">
              <a:solidFill>
                <a:srgbClr val="000000"/>
              </a:solidFill>
              <a:latin typeface="Arial"/>
              <a:ea typeface="Arial"/>
              <a:cs typeface="Arial"/>
              <a:sym typeface="Arial"/>
            </a:endParaRPr>
          </a:p>
        </p:txBody>
      </p:sp>
      <p:cxnSp>
        <p:nvCxnSpPr>
          <p:cNvPr id="356" name="Google Shape;356;p19"/>
          <p:cNvCxnSpPr/>
          <p:nvPr/>
        </p:nvCxnSpPr>
        <p:spPr>
          <a:xfrm>
            <a:off x="3362516" y="1929369"/>
            <a:ext cx="0" cy="4114800"/>
          </a:xfrm>
          <a:prstGeom prst="straightConnector1">
            <a:avLst/>
          </a:prstGeom>
          <a:noFill/>
          <a:ln w="28575" cap="flat" cmpd="sng">
            <a:solidFill>
              <a:schemeClr val="accent1"/>
            </a:solidFill>
            <a:prstDash val="solid"/>
            <a:round/>
            <a:headEnd type="none" w="sm" len="sm"/>
            <a:tailEnd type="none" w="sm" len="sm"/>
          </a:ln>
        </p:spPr>
      </p:cxnSp>
      <p:cxnSp>
        <p:nvCxnSpPr>
          <p:cNvPr id="357" name="Google Shape;357;p19"/>
          <p:cNvCxnSpPr/>
          <p:nvPr/>
        </p:nvCxnSpPr>
        <p:spPr>
          <a:xfrm>
            <a:off x="3363766" y="1877450"/>
            <a:ext cx="0" cy="4114800"/>
          </a:xfrm>
          <a:prstGeom prst="straightConnector1">
            <a:avLst/>
          </a:prstGeom>
          <a:noFill/>
          <a:ln w="28575" cap="flat" cmpd="sng">
            <a:solidFill>
              <a:schemeClr val="accent1"/>
            </a:solidFill>
            <a:prstDash val="solid"/>
            <a:round/>
            <a:headEnd type="none" w="sm" len="sm"/>
            <a:tailEnd type="none" w="sm" len="sm"/>
          </a:ln>
        </p:spPr>
      </p:cxnSp>
      <p:cxnSp>
        <p:nvCxnSpPr>
          <p:cNvPr id="358" name="Google Shape;358;p19"/>
          <p:cNvCxnSpPr/>
          <p:nvPr/>
        </p:nvCxnSpPr>
        <p:spPr>
          <a:xfrm>
            <a:off x="6317380" y="1929369"/>
            <a:ext cx="0" cy="4114800"/>
          </a:xfrm>
          <a:prstGeom prst="straightConnector1">
            <a:avLst/>
          </a:prstGeom>
          <a:noFill/>
          <a:ln w="28575" cap="flat" cmpd="sng">
            <a:solidFill>
              <a:schemeClr val="accent1"/>
            </a:solidFill>
            <a:prstDash val="solid"/>
            <a:round/>
            <a:headEnd type="none" w="sm" len="sm"/>
            <a:tailEnd type="none" w="sm" len="sm"/>
          </a:ln>
        </p:spPr>
      </p:cxnSp>
      <p:cxnSp>
        <p:nvCxnSpPr>
          <p:cNvPr id="359" name="Google Shape;359;p19"/>
          <p:cNvCxnSpPr/>
          <p:nvPr/>
        </p:nvCxnSpPr>
        <p:spPr>
          <a:xfrm>
            <a:off x="9036376" y="1929369"/>
            <a:ext cx="0" cy="4114800"/>
          </a:xfrm>
          <a:prstGeom prst="straightConnector1">
            <a:avLst/>
          </a:prstGeom>
          <a:noFill/>
          <a:ln w="28575" cap="flat" cmpd="sng">
            <a:solidFill>
              <a:schemeClr val="accent1"/>
            </a:solidFill>
            <a:prstDash val="solid"/>
            <a:round/>
            <a:headEnd type="none" w="sm" len="sm"/>
            <a:tailEnd type="none" w="sm" len="sm"/>
          </a:ln>
        </p:spPr>
      </p:cxnSp>
      <p:sp>
        <p:nvSpPr>
          <p:cNvPr id="360" name="Google Shape;360;p19"/>
          <p:cNvSpPr txBox="1"/>
          <p:nvPr/>
        </p:nvSpPr>
        <p:spPr>
          <a:xfrm>
            <a:off x="9218639" y="3933709"/>
            <a:ext cx="2743200" cy="83099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sng" strike="noStrike" cap="none">
                <a:solidFill>
                  <a:schemeClr val="dk1"/>
                </a:solidFill>
                <a:latin typeface="Arial"/>
                <a:ea typeface="Arial"/>
                <a:cs typeface="Arial"/>
                <a:sym typeface="Arial"/>
              </a:rPr>
              <a:t>Recovery</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600"/>
              <a:buFont typeface="Arial"/>
              <a:buNone/>
            </a:pPr>
            <a:endParaRPr sz="1600" b="1" i="0" u="sng" strike="noStrike" cap="none">
              <a:solidFill>
                <a:schemeClr val="dk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Recover assets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Recover from a damage to assets</a:t>
            </a:r>
            <a:endParaRPr sz="1400" b="0" i="0" u="none" strike="noStrike" cap="none">
              <a:solidFill>
                <a:srgbClr val="000000"/>
              </a:solidFill>
              <a:latin typeface="Arial"/>
              <a:ea typeface="Arial"/>
              <a:cs typeface="Arial"/>
              <a:sym typeface="Arial"/>
            </a:endParaRPr>
          </a:p>
        </p:txBody>
      </p:sp>
      <p:pic>
        <p:nvPicPr>
          <p:cNvPr id="361" name="Google Shape;361;p19" descr="Refresh"/>
          <p:cNvPicPr preferRelativeResize="0"/>
          <p:nvPr/>
        </p:nvPicPr>
        <p:blipFill rotWithShape="1">
          <a:blip r:embed="rId3">
            <a:alphaModFix/>
          </a:blip>
          <a:srcRect/>
          <a:stretch/>
        </p:blipFill>
        <p:spPr>
          <a:xfrm flipH="1">
            <a:off x="9675839" y="2068016"/>
            <a:ext cx="1828800" cy="1828800"/>
          </a:xfrm>
          <a:prstGeom prst="rect">
            <a:avLst/>
          </a:prstGeom>
          <a:noFill/>
          <a:ln>
            <a:noFill/>
          </a:ln>
        </p:spPr>
      </p:pic>
      <p:pic>
        <p:nvPicPr>
          <p:cNvPr id="362" name="Google Shape;362;p19" descr="Bug under magnifying glass"/>
          <p:cNvPicPr preferRelativeResize="0"/>
          <p:nvPr/>
        </p:nvPicPr>
        <p:blipFill rotWithShape="1">
          <a:blip r:embed="rId4">
            <a:alphaModFix/>
          </a:blip>
          <a:srcRect/>
          <a:stretch/>
        </p:blipFill>
        <p:spPr>
          <a:xfrm>
            <a:off x="3846612" y="2104909"/>
            <a:ext cx="1828800" cy="1828800"/>
          </a:xfrm>
          <a:prstGeom prst="rect">
            <a:avLst/>
          </a:prstGeom>
          <a:noFill/>
          <a:ln>
            <a:noFill/>
          </a:ln>
        </p:spPr>
      </p:pic>
      <p:pic>
        <p:nvPicPr>
          <p:cNvPr id="363" name="Google Shape;363;p19" descr="Raised hand"/>
          <p:cNvPicPr preferRelativeResize="0"/>
          <p:nvPr/>
        </p:nvPicPr>
        <p:blipFill rotWithShape="1">
          <a:blip r:embed="rId5">
            <a:alphaModFix/>
          </a:blip>
          <a:srcRect/>
          <a:stretch/>
        </p:blipFill>
        <p:spPr>
          <a:xfrm>
            <a:off x="909026" y="2068015"/>
            <a:ext cx="1828800" cy="1828800"/>
          </a:xfrm>
          <a:prstGeom prst="rect">
            <a:avLst/>
          </a:prstGeom>
          <a:noFill/>
          <a:ln>
            <a:noFill/>
          </a:ln>
        </p:spPr>
      </p:pic>
      <p:pic>
        <p:nvPicPr>
          <p:cNvPr id="364" name="Google Shape;364;p19" descr="Exclamation mark"/>
          <p:cNvPicPr preferRelativeResize="0"/>
          <p:nvPr/>
        </p:nvPicPr>
        <p:blipFill rotWithShape="1">
          <a:blip r:embed="rId6">
            <a:alphaModFix/>
          </a:blip>
          <a:srcRect/>
          <a:stretch/>
        </p:blipFill>
        <p:spPr>
          <a:xfrm>
            <a:off x="6932639" y="2104909"/>
            <a:ext cx="1828800" cy="1828800"/>
          </a:xfrm>
          <a:prstGeom prst="rect">
            <a:avLst/>
          </a:prstGeom>
          <a:noFill/>
          <a:ln>
            <a:noFill/>
          </a:ln>
        </p:spPr>
      </p:pic>
    </p:spTree>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2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002060"/>
              </a:buClr>
              <a:buSzPts val="4800"/>
              <a:buFont typeface="Arial"/>
              <a:buNone/>
            </a:pPr>
            <a:r>
              <a:rPr lang="en-US" b="1" dirty="0"/>
              <a:t>Intrusions</a:t>
            </a:r>
            <a:r>
              <a:rPr lang="en-US" dirty="0"/>
              <a:t> </a:t>
            </a:r>
            <a:r>
              <a:rPr lang="en-US" dirty="0">
                <a:solidFill>
                  <a:srgbClr val="7F7F7F"/>
                </a:solidFill>
              </a:rPr>
              <a:t>vs Attacks</a:t>
            </a:r>
            <a:endParaRPr dirty="0">
              <a:solidFill>
                <a:srgbClr val="7F7F7F"/>
              </a:solidFill>
            </a:endParaRPr>
          </a:p>
        </p:txBody>
      </p:sp>
      <p:sp>
        <p:nvSpPr>
          <p:cNvPr id="370" name="Google Shape;370;p20"/>
          <p:cNvSpPr txBox="1">
            <a:spLocks noGrp="1"/>
          </p:cNvSpPr>
          <p:nvPr>
            <p:ph type="body" idx="1"/>
          </p:nvPr>
        </p:nvSpPr>
        <p:spPr>
          <a:xfrm>
            <a:off x="1097280" y="1845735"/>
            <a:ext cx="10115203" cy="1225269"/>
          </a:xfrm>
          <a:prstGeom prst="rect">
            <a:avLst/>
          </a:prstGeom>
          <a:noFill/>
          <a:ln>
            <a:noFill/>
          </a:ln>
        </p:spPr>
        <p:txBody>
          <a:bodyPr spcFirstLastPara="1" wrap="square" lIns="0" tIns="45700" rIns="0" bIns="45700" anchor="t" anchorCtr="0">
            <a:noAutofit/>
          </a:bodyPr>
          <a:lstStyle/>
          <a:p>
            <a:pPr marL="342891" lvl="0" indent="-342891" algn="l" rtl="0">
              <a:lnSpc>
                <a:spcPct val="90000"/>
              </a:lnSpc>
              <a:spcBef>
                <a:spcPts val="0"/>
              </a:spcBef>
              <a:spcAft>
                <a:spcPts val="0"/>
              </a:spcAft>
              <a:buSzPts val="2000"/>
              <a:buChar char=" "/>
            </a:pPr>
            <a:r>
              <a:rPr lang="en-US"/>
              <a:t>Occurs when an attacker accesses your private space without authorization or permission</a:t>
            </a:r>
            <a:endParaRPr/>
          </a:p>
          <a:p>
            <a:pPr marL="342891" lvl="0" indent="-342891" algn="l" rtl="0">
              <a:lnSpc>
                <a:spcPct val="90000"/>
              </a:lnSpc>
              <a:spcBef>
                <a:spcPts val="1600"/>
              </a:spcBef>
              <a:spcAft>
                <a:spcPts val="200"/>
              </a:spcAft>
              <a:buSzPts val="2000"/>
              <a:buChar char=" "/>
            </a:pPr>
            <a:r>
              <a:rPr lang="en-US" b="1"/>
              <a:t>Examples:</a:t>
            </a:r>
            <a:endParaRPr b="1"/>
          </a:p>
        </p:txBody>
      </p:sp>
      <p:grpSp>
        <p:nvGrpSpPr>
          <p:cNvPr id="371" name="Google Shape;371;p20"/>
          <p:cNvGrpSpPr/>
          <p:nvPr/>
        </p:nvGrpSpPr>
        <p:grpSpPr>
          <a:xfrm>
            <a:off x="2091723" y="3071004"/>
            <a:ext cx="2863970" cy="3174077"/>
            <a:chOff x="2134856" y="3211495"/>
            <a:chExt cx="2863970" cy="3174077"/>
          </a:xfrm>
        </p:grpSpPr>
        <p:pic>
          <p:nvPicPr>
            <p:cNvPr id="372" name="Google Shape;372;p20"/>
            <p:cNvPicPr preferRelativeResize="0"/>
            <p:nvPr/>
          </p:nvPicPr>
          <p:blipFill rotWithShape="1">
            <a:blip r:embed="rId3">
              <a:alphaModFix/>
            </a:blip>
            <a:srcRect/>
            <a:stretch/>
          </p:blipFill>
          <p:spPr>
            <a:xfrm>
              <a:off x="2134856" y="3211495"/>
              <a:ext cx="2495550" cy="1828800"/>
            </a:xfrm>
            <a:prstGeom prst="rect">
              <a:avLst/>
            </a:prstGeom>
            <a:noFill/>
            <a:ln>
              <a:noFill/>
            </a:ln>
          </p:spPr>
        </p:pic>
        <p:sp>
          <p:nvSpPr>
            <p:cNvPr id="373" name="Google Shape;373;p20"/>
            <p:cNvSpPr txBox="1"/>
            <p:nvPr/>
          </p:nvSpPr>
          <p:spPr>
            <a:xfrm>
              <a:off x="2134856" y="5369909"/>
              <a:ext cx="2863970" cy="1015663"/>
            </a:xfrm>
            <a:prstGeom prst="rect">
              <a:avLst/>
            </a:prstGeom>
            <a:noFill/>
            <a:ln>
              <a:noFill/>
            </a:ln>
          </p:spPr>
          <p:txBody>
            <a:bodyPr spcFirstLastPara="1" wrap="square" lIns="91425" tIns="45700" rIns="91425" bIns="45700" anchor="t" anchorCtr="0">
              <a:spAutoFit/>
            </a:bodyPr>
            <a:lstStyle/>
            <a:p>
              <a:pPr marL="201163" marR="0" lvl="1" indent="0" algn="just" rtl="0">
                <a:lnSpc>
                  <a:spcPct val="100000"/>
                </a:lnSpc>
                <a:spcBef>
                  <a:spcPts val="0"/>
                </a:spcBef>
                <a:spcAft>
                  <a:spcPts val="0"/>
                </a:spcAft>
                <a:buClr>
                  <a:srgbClr val="000000"/>
                </a:buClr>
                <a:buSzPts val="2000"/>
                <a:buFont typeface="Arial"/>
                <a:buNone/>
              </a:pPr>
              <a:r>
                <a:rPr lang="en-US" sz="2000" b="0" i="0" u="none" strike="noStrike" cap="none" dirty="0">
                  <a:solidFill>
                    <a:schemeClr val="dk1"/>
                  </a:solidFill>
                  <a:latin typeface="Arial"/>
                  <a:ea typeface="Arial"/>
                  <a:cs typeface="Arial"/>
                  <a:sym typeface="Arial"/>
                </a:rPr>
                <a:t>Sniffing data packet from a private network</a:t>
              </a:r>
              <a:endParaRPr sz="1400" b="0" i="0" u="none" strike="noStrike" cap="none" dirty="0">
                <a:solidFill>
                  <a:srgbClr val="000000"/>
                </a:solidFill>
                <a:latin typeface="Arial"/>
                <a:ea typeface="Arial"/>
                <a:cs typeface="Arial"/>
                <a:sym typeface="Arial"/>
              </a:endParaRPr>
            </a:p>
          </p:txBody>
        </p:sp>
      </p:grpSp>
      <p:grpSp>
        <p:nvGrpSpPr>
          <p:cNvPr id="374" name="Google Shape;374;p20"/>
          <p:cNvGrpSpPr/>
          <p:nvPr/>
        </p:nvGrpSpPr>
        <p:grpSpPr>
          <a:xfrm>
            <a:off x="6667146" y="3131209"/>
            <a:ext cx="3433131" cy="3113872"/>
            <a:chOff x="7069712" y="3211495"/>
            <a:chExt cx="3433131" cy="3113872"/>
          </a:xfrm>
        </p:grpSpPr>
        <p:pic>
          <p:nvPicPr>
            <p:cNvPr id="375" name="Google Shape;375;p20"/>
            <p:cNvPicPr preferRelativeResize="0"/>
            <p:nvPr/>
          </p:nvPicPr>
          <p:blipFill rotWithShape="1">
            <a:blip r:embed="rId4">
              <a:alphaModFix/>
            </a:blip>
            <a:srcRect b="11787"/>
            <a:stretch/>
          </p:blipFill>
          <p:spPr>
            <a:xfrm>
              <a:off x="7757577" y="3211495"/>
              <a:ext cx="2057400" cy="1957718"/>
            </a:xfrm>
            <a:prstGeom prst="rect">
              <a:avLst/>
            </a:prstGeom>
            <a:noFill/>
            <a:ln>
              <a:noFill/>
            </a:ln>
          </p:spPr>
        </p:pic>
        <p:sp>
          <p:nvSpPr>
            <p:cNvPr id="376" name="Google Shape;376;p20"/>
            <p:cNvSpPr txBox="1"/>
            <p:nvPr/>
          </p:nvSpPr>
          <p:spPr>
            <a:xfrm>
              <a:off x="7069712" y="5309704"/>
              <a:ext cx="3433131" cy="1015663"/>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Login a website without legitimate User ID and password</a:t>
              </a:r>
              <a:endParaRPr sz="2000" b="0" i="0" u="none" strike="noStrike" cap="none">
                <a:solidFill>
                  <a:schemeClr val="dk1"/>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0">
                                            <p:txEl>
                                              <p:pRg st="0" end="0"/>
                                            </p:txEl>
                                          </p:spTgt>
                                        </p:tgtEl>
                                        <p:attrNameLst>
                                          <p:attrName>style.visibility</p:attrName>
                                        </p:attrNameLst>
                                      </p:cBhvr>
                                      <p:to>
                                        <p:strVal val="visible"/>
                                      </p:to>
                                    </p:set>
                                    <p:animEffect transition="in" filter="fade">
                                      <p:cBhvr>
                                        <p:cTn id="7" dur="500"/>
                                        <p:tgtEl>
                                          <p:spTgt spid="3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0">
                                            <p:txEl>
                                              <p:pRg st="1" end="1"/>
                                            </p:txEl>
                                          </p:spTgt>
                                        </p:tgtEl>
                                        <p:attrNameLst>
                                          <p:attrName>style.visibility</p:attrName>
                                        </p:attrNameLst>
                                      </p:cBhvr>
                                      <p:to>
                                        <p:strVal val="visible"/>
                                      </p:to>
                                    </p:set>
                                    <p:animEffect transition="in" filter="fade">
                                      <p:cBhvr>
                                        <p:cTn id="12" dur="500"/>
                                        <p:tgtEl>
                                          <p:spTgt spid="37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1"/>
                                        </p:tgtEl>
                                        <p:attrNameLst>
                                          <p:attrName>style.visibility</p:attrName>
                                        </p:attrNameLst>
                                      </p:cBhvr>
                                      <p:to>
                                        <p:strVal val="visible"/>
                                      </p:to>
                                    </p:set>
                                    <p:animEffect transition="in" filter="fade">
                                      <p:cBhvr>
                                        <p:cTn id="17" dur="500"/>
                                        <p:tgtEl>
                                          <p:spTgt spid="37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4"/>
                                        </p:tgtEl>
                                        <p:attrNameLst>
                                          <p:attrName>style.visibility</p:attrName>
                                        </p:attrNameLst>
                                      </p:cBhvr>
                                      <p:to>
                                        <p:strVal val="visible"/>
                                      </p:to>
                                    </p:set>
                                    <p:animEffect transition="in" filter="fade">
                                      <p:cBhvr>
                                        <p:cTn id="22" dur="500"/>
                                        <p:tgtEl>
                                          <p:spTgt spid="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7F7F7F"/>
              </a:buClr>
              <a:buSzPts val="4800"/>
              <a:buFont typeface="Arial"/>
              <a:buNone/>
            </a:pPr>
            <a:r>
              <a:rPr lang="en-US">
                <a:solidFill>
                  <a:srgbClr val="7F7F7F"/>
                </a:solidFill>
              </a:rPr>
              <a:t>Intrusions</a:t>
            </a:r>
            <a:r>
              <a:rPr lang="en-US" b="1">
                <a:solidFill>
                  <a:srgbClr val="7F7F7F"/>
                </a:solidFill>
              </a:rPr>
              <a:t> </a:t>
            </a:r>
            <a:r>
              <a:rPr lang="en-US">
                <a:solidFill>
                  <a:srgbClr val="7F7F7F"/>
                </a:solidFill>
              </a:rPr>
              <a:t>vs </a:t>
            </a:r>
            <a:r>
              <a:rPr lang="en-US" b="1"/>
              <a:t>Attacks</a:t>
            </a:r>
            <a:endParaRPr b="1"/>
          </a:p>
        </p:txBody>
      </p:sp>
      <p:sp>
        <p:nvSpPr>
          <p:cNvPr id="382" name="Google Shape;382;p21"/>
          <p:cNvSpPr txBox="1">
            <a:spLocks noGrp="1"/>
          </p:cNvSpPr>
          <p:nvPr>
            <p:ph type="body" idx="1"/>
          </p:nvPr>
        </p:nvSpPr>
        <p:spPr>
          <a:xfrm>
            <a:off x="1222408" y="1845734"/>
            <a:ext cx="10058400" cy="4023360"/>
          </a:xfrm>
          <a:prstGeom prst="rect">
            <a:avLst/>
          </a:prstGeom>
          <a:noFill/>
          <a:ln>
            <a:noFill/>
          </a:ln>
        </p:spPr>
        <p:txBody>
          <a:bodyPr spcFirstLastPara="1" wrap="square" lIns="0" tIns="45700" rIns="0" bIns="45700" anchor="t" anchorCtr="0">
            <a:noAutofit/>
          </a:bodyPr>
          <a:lstStyle/>
          <a:p>
            <a:pPr marL="0" lvl="0" indent="0" algn="just" rtl="0">
              <a:lnSpc>
                <a:spcPct val="100000"/>
              </a:lnSpc>
              <a:spcBef>
                <a:spcPts val="0"/>
              </a:spcBef>
              <a:spcAft>
                <a:spcPts val="0"/>
              </a:spcAft>
              <a:buSzPts val="2000"/>
              <a:buNone/>
            </a:pPr>
            <a:r>
              <a:rPr lang="en-US" dirty="0"/>
              <a:t>An attack is an action/event to exploit a vulnerability in any entities associated with information system using some techniques</a:t>
            </a:r>
            <a:endParaRPr dirty="0"/>
          </a:p>
          <a:p>
            <a:pPr lvl="0" indent="-457200" algn="just" rtl="0">
              <a:lnSpc>
                <a:spcPct val="100000"/>
              </a:lnSpc>
              <a:spcBef>
                <a:spcPts val="1600"/>
              </a:spcBef>
              <a:spcAft>
                <a:spcPts val="0"/>
              </a:spcAft>
              <a:buClrTx/>
              <a:buSzPts val="2000"/>
              <a:buFont typeface="+mj-lt"/>
              <a:buAutoNum type="arabicPeriod"/>
            </a:pPr>
            <a:r>
              <a:rPr lang="en-US" b="1" dirty="0">
                <a:solidFill>
                  <a:srgbClr val="FF0000"/>
                </a:solidFill>
              </a:rPr>
              <a:t>Passive Attacks </a:t>
            </a:r>
            <a:r>
              <a:rPr lang="en-US" dirty="0"/>
              <a:t>– No damages caused</a:t>
            </a:r>
          </a:p>
          <a:p>
            <a:pPr lvl="1" indent="-457200" algn="just">
              <a:lnSpc>
                <a:spcPct val="100000"/>
              </a:lnSpc>
              <a:spcBef>
                <a:spcPts val="1600"/>
              </a:spcBef>
              <a:buClrTx/>
              <a:buSzPts val="2000"/>
              <a:buFont typeface="Wingdings" panose="05000000000000000000" pitchFamily="2" charset="2"/>
              <a:buChar char="§"/>
            </a:pPr>
            <a:r>
              <a:rPr lang="en-US" dirty="0"/>
              <a:t>Sniffing wireless traffic data to determine the presence of Wireless APs,  i.e. War-Driving</a:t>
            </a:r>
          </a:p>
          <a:p>
            <a:pPr indent="-457200" algn="just">
              <a:lnSpc>
                <a:spcPct val="100000"/>
              </a:lnSpc>
              <a:spcBef>
                <a:spcPts val="1600"/>
              </a:spcBef>
              <a:buClrTx/>
              <a:buSzPts val="2000"/>
              <a:buFont typeface="+mj-lt"/>
              <a:buAutoNum type="arabicPeriod"/>
            </a:pPr>
            <a:r>
              <a:rPr lang="en-US" b="1" dirty="0">
                <a:solidFill>
                  <a:srgbClr val="FF0000"/>
                </a:solidFill>
              </a:rPr>
              <a:t>Active Attacks </a:t>
            </a:r>
            <a:r>
              <a:rPr lang="en-US" dirty="0"/>
              <a:t>– Caused some forms of damages</a:t>
            </a:r>
          </a:p>
          <a:p>
            <a:pPr lvl="1" indent="-457200" algn="just">
              <a:lnSpc>
                <a:spcPct val="100000"/>
              </a:lnSpc>
              <a:spcBef>
                <a:spcPts val="1600"/>
              </a:spcBef>
              <a:buClrTx/>
              <a:buSzPts val="2000"/>
              <a:buFont typeface="Wingdings" panose="05000000000000000000" pitchFamily="2" charset="2"/>
              <a:buChar char="§"/>
            </a:pPr>
            <a:r>
              <a:rPr lang="en-US" dirty="0"/>
              <a:t>Use DoS (Denial of Service) attack to disallow a </a:t>
            </a:r>
            <a:r>
              <a:rPr lang="en-US" dirty="0" err="1"/>
              <a:t>WiFi</a:t>
            </a:r>
            <a:r>
              <a:rPr lang="en-US" dirty="0"/>
              <a:t> AP to service a mobile phone user</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2">
                                            <p:txEl>
                                              <p:pRg st="0" end="0"/>
                                            </p:txEl>
                                          </p:spTgt>
                                        </p:tgtEl>
                                        <p:attrNameLst>
                                          <p:attrName>style.visibility</p:attrName>
                                        </p:attrNameLst>
                                      </p:cBhvr>
                                      <p:to>
                                        <p:strVal val="visible"/>
                                      </p:to>
                                    </p:set>
                                    <p:animEffect transition="in" filter="fade">
                                      <p:cBhvr>
                                        <p:cTn id="7" dur="500"/>
                                        <p:tgtEl>
                                          <p:spTgt spid="3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2">
                                            <p:txEl>
                                              <p:pRg st="1" end="1"/>
                                            </p:txEl>
                                          </p:spTgt>
                                        </p:tgtEl>
                                        <p:attrNameLst>
                                          <p:attrName>style.visibility</p:attrName>
                                        </p:attrNameLst>
                                      </p:cBhvr>
                                      <p:to>
                                        <p:strVal val="visible"/>
                                      </p:to>
                                    </p:set>
                                    <p:animEffect transition="in" filter="fade">
                                      <p:cBhvr>
                                        <p:cTn id="12" dur="500"/>
                                        <p:tgtEl>
                                          <p:spTgt spid="3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2">
                                            <p:txEl>
                                              <p:pRg st="2" end="2"/>
                                            </p:txEl>
                                          </p:spTgt>
                                        </p:tgtEl>
                                        <p:attrNameLst>
                                          <p:attrName>style.visibility</p:attrName>
                                        </p:attrNameLst>
                                      </p:cBhvr>
                                      <p:to>
                                        <p:strVal val="visible"/>
                                      </p:to>
                                    </p:set>
                                    <p:animEffect transition="in" filter="fade">
                                      <p:cBhvr>
                                        <p:cTn id="17" dur="500"/>
                                        <p:tgtEl>
                                          <p:spTgt spid="3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82">
                                            <p:txEl>
                                              <p:pRg st="3" end="3"/>
                                            </p:txEl>
                                          </p:spTgt>
                                        </p:tgtEl>
                                        <p:attrNameLst>
                                          <p:attrName>style.visibility</p:attrName>
                                        </p:attrNameLst>
                                      </p:cBhvr>
                                      <p:to>
                                        <p:strVal val="visible"/>
                                      </p:to>
                                    </p:set>
                                    <p:animEffect transition="in" filter="fade">
                                      <p:cBhvr>
                                        <p:cTn id="22" dur="500"/>
                                        <p:tgtEl>
                                          <p:spTgt spid="38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82">
                                            <p:txEl>
                                              <p:pRg st="4" end="4"/>
                                            </p:txEl>
                                          </p:spTgt>
                                        </p:tgtEl>
                                        <p:attrNameLst>
                                          <p:attrName>style.visibility</p:attrName>
                                        </p:attrNameLst>
                                      </p:cBhvr>
                                      <p:to>
                                        <p:strVal val="visible"/>
                                      </p:to>
                                    </p:set>
                                    <p:animEffect transition="in" filter="fade">
                                      <p:cBhvr>
                                        <p:cTn id="27" dur="500"/>
                                        <p:tgtEl>
                                          <p:spTgt spid="38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7F7F7F"/>
              </a:buClr>
              <a:buSzPts val="4800"/>
              <a:buFont typeface="Arial"/>
              <a:buNone/>
            </a:pPr>
            <a:r>
              <a:rPr lang="en-US" dirty="0">
                <a:solidFill>
                  <a:srgbClr val="7F7F7F"/>
                </a:solidFill>
              </a:rPr>
              <a:t>Phishing Attack</a:t>
            </a:r>
            <a:endParaRPr b="1" dirty="0"/>
          </a:p>
        </p:txBody>
      </p:sp>
      <p:sp>
        <p:nvSpPr>
          <p:cNvPr id="382" name="Google Shape;382;p21"/>
          <p:cNvSpPr txBox="1">
            <a:spLocks noGrp="1"/>
          </p:cNvSpPr>
          <p:nvPr>
            <p:ph type="body" idx="1"/>
          </p:nvPr>
        </p:nvSpPr>
        <p:spPr>
          <a:xfrm>
            <a:off x="1222408" y="1845734"/>
            <a:ext cx="9817769" cy="4023360"/>
          </a:xfrm>
          <a:prstGeom prst="rect">
            <a:avLst/>
          </a:prstGeom>
          <a:noFill/>
          <a:ln>
            <a:noFill/>
          </a:ln>
        </p:spPr>
        <p:txBody>
          <a:bodyPr spcFirstLastPara="1" wrap="square" lIns="0" tIns="45700" rIns="0" bIns="45700" anchor="t" anchorCtr="0">
            <a:noAutofit/>
          </a:bodyPr>
          <a:lstStyle/>
          <a:p>
            <a:pPr marL="0" lvl="0" indent="0" algn="just">
              <a:lnSpc>
                <a:spcPct val="100000"/>
              </a:lnSpc>
              <a:spcBef>
                <a:spcPts val="0"/>
              </a:spcBef>
              <a:buSzPts val="2000"/>
              <a:buNone/>
            </a:pPr>
            <a:r>
              <a:rPr lang="en-US" dirty="0"/>
              <a:t>Fraudulent attempt to obtain sensitive information or data, such as usernames, passwords, credit card numbers, or other sensitive details by impersonating oneself as a trustworthy entity</a:t>
            </a:r>
          </a:p>
          <a:p>
            <a:pPr marL="800100" lvl="1" algn="just">
              <a:lnSpc>
                <a:spcPct val="100000"/>
              </a:lnSpc>
              <a:spcBef>
                <a:spcPts val="0"/>
              </a:spcBef>
              <a:buClrTx/>
              <a:buSzPct val="100000"/>
              <a:buFont typeface="Arial" panose="020B0604020202020204" pitchFamily="34" charset="0"/>
              <a:buChar char="•"/>
            </a:pPr>
            <a:r>
              <a:rPr lang="en-US" dirty="0"/>
              <a:t>Phishing Emails/Spam Emails</a:t>
            </a:r>
          </a:p>
          <a:p>
            <a:pPr marL="800100" lvl="1" algn="just">
              <a:lnSpc>
                <a:spcPct val="100000"/>
              </a:lnSpc>
              <a:spcBef>
                <a:spcPts val="0"/>
              </a:spcBef>
              <a:buClrTx/>
              <a:buSzPct val="100000"/>
              <a:buFont typeface="Arial" panose="020B0604020202020204" pitchFamily="34" charset="0"/>
              <a:buChar char="•"/>
            </a:pPr>
            <a:endParaRPr lang="en-US" dirty="0"/>
          </a:p>
          <a:p>
            <a:pPr marL="0" indent="0">
              <a:buSzPts val="2000"/>
              <a:buNone/>
            </a:pPr>
            <a:r>
              <a:rPr lang="en-US" u="sng" dirty="0">
                <a:latin typeface="Arial" panose="020B0604020202020204" pitchFamily="34" charset="0"/>
                <a:cs typeface="Arial" panose="020B0604020202020204" pitchFamily="34" charset="0"/>
              </a:rPr>
              <a:t>Social Engineering </a:t>
            </a:r>
            <a:r>
              <a:rPr lang="en-US" dirty="0">
                <a:latin typeface="Arial" panose="020B0604020202020204" pitchFamily="34" charset="0"/>
                <a:cs typeface="Arial" panose="020B0604020202020204" pitchFamily="34" charset="0"/>
              </a:rPr>
              <a:t>is a kind of attack targeting human behavior by manipulating and playing with their trust, with the aim to gain confidential information, such as banking account, social media, email, even access to target computer</a:t>
            </a:r>
          </a:p>
          <a:p>
            <a:pPr marL="0" indent="0">
              <a:buClr>
                <a:schemeClr val="accent1"/>
              </a:buClr>
              <a:buSzPts val="2000"/>
              <a:buNone/>
            </a:pPr>
            <a:endParaRPr lang="en-US" dirty="0">
              <a:latin typeface="Arial" panose="020B0604020202020204" pitchFamily="34" charset="0"/>
              <a:cs typeface="Arial" panose="020B0604020202020204" pitchFamily="34" charset="0"/>
            </a:endParaRPr>
          </a:p>
          <a:p>
            <a:pPr marL="0" indent="0">
              <a:buClr>
                <a:schemeClr val="accent1"/>
              </a:buClr>
              <a:buSzPts val="2000"/>
              <a:buNone/>
            </a:pPr>
            <a:r>
              <a:rPr lang="en-US" dirty="0">
                <a:latin typeface="Arial" panose="020B0604020202020204" pitchFamily="34" charset="0"/>
                <a:cs typeface="Arial" panose="020B0604020202020204" pitchFamily="34" charset="0"/>
              </a:rPr>
              <a:t>Does not involve breaking into a system directly, instead it is using human social interaction and the attacker is dealing with the victim directly</a:t>
            </a:r>
          </a:p>
          <a:p>
            <a:pPr marL="0" indent="0">
              <a:buSzPts val="2000"/>
              <a:buNone/>
            </a:pPr>
            <a:endParaRPr lang="en-US" dirty="0">
              <a:latin typeface="Arial" panose="020B0604020202020204" pitchFamily="34" charset="0"/>
              <a:cs typeface="Arial" panose="020B0604020202020204" pitchFamily="34" charset="0"/>
            </a:endParaRPr>
          </a:p>
          <a:p>
            <a:pPr marL="0" lvl="0" indent="0" algn="just">
              <a:lnSpc>
                <a:spcPct val="100000"/>
              </a:lnSpc>
              <a:spcBef>
                <a:spcPts val="0"/>
              </a:spcBef>
              <a:buSzPts val="2000"/>
              <a:buNone/>
            </a:pPr>
            <a:endParaRPr dirty="0"/>
          </a:p>
        </p:txBody>
      </p:sp>
    </p:spTree>
    <p:extLst>
      <p:ext uri="{BB962C8B-B14F-4D97-AF65-F5344CB8AC3E}">
        <p14:creationId xmlns:p14="http://schemas.microsoft.com/office/powerpoint/2010/main" val="28853090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7F7F7F"/>
              </a:buClr>
              <a:buSzPts val="4800"/>
              <a:buFont typeface="Arial"/>
              <a:buNone/>
            </a:pPr>
            <a:r>
              <a:rPr lang="en-US" dirty="0">
                <a:solidFill>
                  <a:srgbClr val="7F7F7F"/>
                </a:solidFill>
              </a:rPr>
              <a:t>Phishing Attack </a:t>
            </a:r>
            <a:endParaRPr b="1" dirty="0"/>
          </a:p>
        </p:txBody>
      </p:sp>
      <p:sp>
        <p:nvSpPr>
          <p:cNvPr id="382" name="Google Shape;382;p21"/>
          <p:cNvSpPr txBox="1">
            <a:spLocks noGrp="1"/>
          </p:cNvSpPr>
          <p:nvPr>
            <p:ph type="body" idx="1"/>
          </p:nvPr>
        </p:nvSpPr>
        <p:spPr>
          <a:xfrm>
            <a:off x="1222408" y="1845734"/>
            <a:ext cx="9817769" cy="4023360"/>
          </a:xfrm>
          <a:prstGeom prst="rect">
            <a:avLst/>
          </a:prstGeom>
          <a:noFill/>
          <a:ln>
            <a:noFill/>
          </a:ln>
        </p:spPr>
        <p:txBody>
          <a:bodyPr spcFirstLastPara="1" wrap="square" lIns="0" tIns="45700" rIns="0" bIns="45700" anchor="t" anchorCtr="0">
            <a:noAutofit/>
          </a:bodyPr>
          <a:lstStyle/>
          <a:p>
            <a:pPr marL="0" lvl="0" indent="0" algn="just">
              <a:lnSpc>
                <a:spcPct val="100000"/>
              </a:lnSpc>
              <a:spcBef>
                <a:spcPts val="0"/>
              </a:spcBef>
              <a:buSzPts val="2000"/>
              <a:buNone/>
            </a:pPr>
            <a:r>
              <a:rPr lang="en-US" u="sng" dirty="0"/>
              <a:t>Scenario</a:t>
            </a:r>
          </a:p>
          <a:p>
            <a:pPr marL="0" indent="0">
              <a:buClr>
                <a:schemeClr val="accent1"/>
              </a:buClr>
              <a:buSzPts val="2000"/>
              <a:buNone/>
            </a:pPr>
            <a:r>
              <a:rPr lang="en-US" dirty="0">
                <a:latin typeface="Arial" panose="020B0604020202020204" pitchFamily="34" charset="0"/>
                <a:cs typeface="Arial" panose="020B0604020202020204" pitchFamily="34" charset="0"/>
              </a:rPr>
              <a:t>Most people uses Gmail; hence the scenario would be to use Social Engineering Attack to gain email access to a person Gmail account</a:t>
            </a:r>
          </a:p>
          <a:p>
            <a:pPr marL="0" indent="0">
              <a:buClr>
                <a:schemeClr val="accent1"/>
              </a:buClr>
              <a:buSzPts val="2000"/>
              <a:buNone/>
            </a:pPr>
            <a:r>
              <a:rPr lang="en-US" dirty="0">
                <a:latin typeface="Arial" panose="020B0604020202020204" pitchFamily="34" charset="0"/>
                <a:cs typeface="Arial" panose="020B0604020202020204" pitchFamily="34" charset="0"/>
              </a:rPr>
              <a:t>First, we are going to setup phishing Gmail Account login page in Kali Linux, and trigger it by browsing to that page on another machine</a:t>
            </a:r>
            <a:endParaRPr lang="en-US" u="sng" dirty="0">
              <a:latin typeface="Arial" panose="020B0604020202020204" pitchFamily="34" charset="0"/>
              <a:cs typeface="Arial" panose="020B0604020202020204" pitchFamily="34" charset="0"/>
            </a:endParaRPr>
          </a:p>
          <a:p>
            <a:pPr marL="0" lvl="0" indent="0" algn="just">
              <a:lnSpc>
                <a:spcPct val="100000"/>
              </a:lnSpc>
              <a:spcBef>
                <a:spcPts val="0"/>
              </a:spcBef>
              <a:buSzPts val="2000"/>
              <a:buNone/>
            </a:pPr>
            <a:endParaRPr lang="en-US" u="sng" dirty="0">
              <a:latin typeface="Arial" panose="020B0604020202020204" pitchFamily="34" charset="0"/>
              <a:cs typeface="Arial" panose="020B0604020202020204" pitchFamily="34" charset="0"/>
            </a:endParaRPr>
          </a:p>
          <a:p>
            <a:pPr marL="0" indent="0">
              <a:buSzPts val="2000"/>
              <a:buNone/>
            </a:pPr>
            <a:endParaRPr lang="en-US" dirty="0">
              <a:latin typeface="Arial" panose="020B0604020202020204" pitchFamily="34" charset="0"/>
              <a:cs typeface="Arial" panose="020B0604020202020204" pitchFamily="34" charset="0"/>
            </a:endParaRPr>
          </a:p>
          <a:p>
            <a:pPr marL="0" lvl="0" indent="0" algn="just">
              <a:lnSpc>
                <a:spcPct val="100000"/>
              </a:lnSpc>
              <a:spcBef>
                <a:spcPts val="0"/>
              </a:spcBef>
              <a:buSzPts val="2000"/>
              <a:buNone/>
            </a:pPr>
            <a:endParaRPr dirty="0"/>
          </a:p>
        </p:txBody>
      </p:sp>
    </p:spTree>
    <p:extLst>
      <p:ext uri="{BB962C8B-B14F-4D97-AF65-F5344CB8AC3E}">
        <p14:creationId xmlns:p14="http://schemas.microsoft.com/office/powerpoint/2010/main" val="3528078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9" name="Google Shape;173;p4">
            <a:extLst>
              <a:ext uri="{FF2B5EF4-FFF2-40B4-BE49-F238E27FC236}">
                <a16:creationId xmlns:a16="http://schemas.microsoft.com/office/drawing/2014/main" id="{498DB88C-B883-4746-A078-B3D7430F8365}"/>
              </a:ext>
            </a:extLst>
          </p:cNvPr>
          <p:cNvSpPr txBox="1"/>
          <p:nvPr/>
        </p:nvSpPr>
        <p:spPr>
          <a:xfrm>
            <a:off x="1086933" y="286604"/>
            <a:ext cx="10115203" cy="1450757"/>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None/>
            </a:pPr>
            <a:r>
              <a:rPr lang="en-US" sz="4800" dirty="0">
                <a:solidFill>
                  <a:srgbClr val="3F3F3F"/>
                </a:solidFill>
                <a:latin typeface="Arial"/>
                <a:ea typeface="Arial"/>
                <a:cs typeface="Arial"/>
                <a:sym typeface="Arial"/>
              </a:rPr>
              <a:t>What is Kali Linux?</a:t>
            </a:r>
            <a:endParaRPr sz="4800" dirty="0">
              <a:solidFill>
                <a:srgbClr val="3F3F3F"/>
              </a:solidFill>
              <a:latin typeface="Arial"/>
              <a:ea typeface="Arial"/>
              <a:cs typeface="Arial"/>
              <a:sym typeface="Arial"/>
            </a:endParaRPr>
          </a:p>
        </p:txBody>
      </p:sp>
      <p:sp>
        <p:nvSpPr>
          <p:cNvPr id="10" name="Google Shape;166;p4">
            <a:extLst>
              <a:ext uri="{FF2B5EF4-FFF2-40B4-BE49-F238E27FC236}">
                <a16:creationId xmlns:a16="http://schemas.microsoft.com/office/drawing/2014/main" id="{E3E15365-FC05-47F2-99AD-AC89F8C59574}"/>
              </a:ext>
            </a:extLst>
          </p:cNvPr>
          <p:cNvSpPr txBox="1"/>
          <p:nvPr/>
        </p:nvSpPr>
        <p:spPr>
          <a:xfrm>
            <a:off x="1184003" y="1852864"/>
            <a:ext cx="10018133" cy="3838915"/>
          </a:xfrm>
          <a:prstGeom prst="rect">
            <a:avLst/>
          </a:prstGeom>
          <a:noFill/>
          <a:ln>
            <a:noFill/>
          </a:ln>
        </p:spPr>
        <p:txBody>
          <a:bodyPr spcFirstLastPara="1" wrap="square" lIns="45700" tIns="22850" rIns="45700" bIns="22850" anchor="t" anchorCtr="0">
            <a:noAutofit/>
          </a:bodyPr>
          <a:lstStyle/>
          <a:p>
            <a:pPr>
              <a:buClr>
                <a:schemeClr val="accent1"/>
              </a:buClr>
              <a:buSzPts val="2000"/>
            </a:pPr>
            <a:r>
              <a:rPr lang="en-US" sz="2000" dirty="0">
                <a:solidFill>
                  <a:schemeClr val="dk1"/>
                </a:solidFill>
                <a:latin typeface="Arial"/>
                <a:ea typeface="Arial"/>
                <a:cs typeface="Arial"/>
                <a:sym typeface="Arial"/>
              </a:rPr>
              <a:t>A Debian-derived Linux distribution designed for digital forensics and penetration testing</a:t>
            </a:r>
          </a:p>
          <a:p>
            <a:pPr marL="285744" indent="-285744">
              <a:buClr>
                <a:schemeClr val="accent1"/>
              </a:buClr>
              <a:buSzPts val="2000"/>
              <a:buFont typeface="Arial"/>
              <a:buChar char="•"/>
            </a:pPr>
            <a:endParaRPr lang="en-US" sz="2000" dirty="0">
              <a:solidFill>
                <a:schemeClr val="dk1"/>
              </a:solidFill>
              <a:latin typeface="Arial"/>
              <a:ea typeface="Arial"/>
              <a:cs typeface="Arial"/>
              <a:sym typeface="Arial"/>
            </a:endParaRPr>
          </a:p>
          <a:p>
            <a:pPr>
              <a:buClr>
                <a:schemeClr val="accent1"/>
              </a:buClr>
              <a:buSzPts val="2000"/>
            </a:pPr>
            <a:r>
              <a:rPr lang="en-US" sz="2000" dirty="0">
                <a:solidFill>
                  <a:schemeClr val="dk1"/>
                </a:solidFill>
                <a:latin typeface="Arial"/>
                <a:ea typeface="Arial"/>
                <a:cs typeface="Arial"/>
                <a:sym typeface="Arial"/>
              </a:rPr>
              <a:t>Maintained and funded by Offensive Security</a:t>
            </a:r>
          </a:p>
          <a:p>
            <a:pPr marL="285744" indent="-285744">
              <a:buClr>
                <a:schemeClr val="accent1"/>
              </a:buClr>
              <a:buSzPts val="2000"/>
              <a:buFont typeface="Arial"/>
              <a:buChar char="•"/>
            </a:pPr>
            <a:endParaRPr lang="en-US" sz="2000" dirty="0">
              <a:solidFill>
                <a:schemeClr val="dk1"/>
              </a:solidFill>
              <a:latin typeface="Arial"/>
              <a:ea typeface="Arial"/>
              <a:cs typeface="Arial"/>
              <a:sym typeface="Arial"/>
            </a:endParaRPr>
          </a:p>
          <a:p>
            <a:pPr>
              <a:buClr>
                <a:schemeClr val="accent1"/>
              </a:buClr>
              <a:buSzPts val="2000"/>
            </a:pPr>
            <a:r>
              <a:rPr lang="en-US" sz="2000" dirty="0">
                <a:solidFill>
                  <a:schemeClr val="dk1"/>
                </a:solidFill>
                <a:latin typeface="Arial"/>
                <a:ea typeface="Arial"/>
                <a:cs typeface="Arial"/>
                <a:sym typeface="Arial"/>
              </a:rPr>
              <a:t>More than 600 penetration testing tools</a:t>
            </a:r>
          </a:p>
          <a:p>
            <a:pPr marL="285744" indent="-285744">
              <a:buClr>
                <a:schemeClr val="accent1"/>
              </a:buClr>
              <a:buSzPts val="2000"/>
              <a:buFont typeface="Arial"/>
              <a:buChar char="•"/>
            </a:pPr>
            <a:endParaRPr lang="en-US" sz="2000" dirty="0">
              <a:solidFill>
                <a:schemeClr val="dk1"/>
              </a:solidFill>
              <a:latin typeface="Arial"/>
              <a:ea typeface="Arial"/>
              <a:cs typeface="Arial"/>
              <a:sym typeface="Arial"/>
            </a:endParaRPr>
          </a:p>
          <a:p>
            <a:pPr>
              <a:buClr>
                <a:schemeClr val="accent1"/>
              </a:buClr>
              <a:buSzPts val="2000"/>
            </a:pPr>
            <a:r>
              <a:rPr lang="en-US" sz="2000" dirty="0">
                <a:solidFill>
                  <a:schemeClr val="dk1"/>
                </a:solidFill>
                <a:latin typeface="Arial"/>
                <a:ea typeface="Arial"/>
                <a:cs typeface="Arial"/>
                <a:sym typeface="Arial"/>
              </a:rPr>
              <a:t>Free and Open-Source</a:t>
            </a:r>
            <a:endParaRPr sz="2000" dirty="0">
              <a:solidFill>
                <a:schemeClr val="dk1"/>
              </a:solidFill>
              <a:latin typeface="Arial"/>
              <a:ea typeface="Arial"/>
              <a:cs typeface="Arial"/>
              <a:sym typeface="Arial"/>
            </a:endParaRPr>
          </a:p>
        </p:txBody>
      </p:sp>
      <p:pic>
        <p:nvPicPr>
          <p:cNvPr id="2" name="Picture 1">
            <a:extLst>
              <a:ext uri="{FF2B5EF4-FFF2-40B4-BE49-F238E27FC236}">
                <a16:creationId xmlns:a16="http://schemas.microsoft.com/office/drawing/2014/main" id="{A3FF09EE-4B19-4041-A88B-1091D9F6E7E6}"/>
              </a:ext>
            </a:extLst>
          </p:cNvPr>
          <p:cNvPicPr>
            <a:picLocks noChangeAspect="1"/>
          </p:cNvPicPr>
          <p:nvPr/>
        </p:nvPicPr>
        <p:blipFill rotWithShape="1">
          <a:blip r:embed="rId3"/>
          <a:srcRect l="4679" t="32630" r="67110" b="17461"/>
          <a:stretch/>
        </p:blipFill>
        <p:spPr>
          <a:xfrm>
            <a:off x="6414449" y="2738285"/>
            <a:ext cx="5492000" cy="3415756"/>
          </a:xfrm>
          <a:prstGeom prst="rect">
            <a:avLst/>
          </a:prstGeom>
        </p:spPr>
      </p:pic>
    </p:spTree>
    <p:extLst>
      <p:ext uri="{BB962C8B-B14F-4D97-AF65-F5344CB8AC3E}">
        <p14:creationId xmlns:p14="http://schemas.microsoft.com/office/powerpoint/2010/main" val="89735296"/>
      </p:ext>
    </p:extLst>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Tool Used </a:t>
            </a:r>
            <a:endParaRPr lang="en-SG" dirty="0"/>
          </a:p>
        </p:txBody>
      </p:sp>
      <p:sp>
        <p:nvSpPr>
          <p:cNvPr id="5" name="Google Shape;166;p4">
            <a:extLst>
              <a:ext uri="{FF2B5EF4-FFF2-40B4-BE49-F238E27FC236}">
                <a16:creationId xmlns:a16="http://schemas.microsoft.com/office/drawing/2014/main" id="{C832943C-4F9F-4397-A581-56C4E83BECA7}"/>
              </a:ext>
            </a:extLst>
          </p:cNvPr>
          <p:cNvSpPr txBox="1"/>
          <p:nvPr/>
        </p:nvSpPr>
        <p:spPr>
          <a:xfrm>
            <a:off x="1086933" y="1737361"/>
            <a:ext cx="10018133" cy="3838915"/>
          </a:xfrm>
          <a:prstGeom prst="rect">
            <a:avLst/>
          </a:prstGeom>
          <a:noFill/>
          <a:ln>
            <a:noFill/>
          </a:ln>
        </p:spPr>
        <p:txBody>
          <a:bodyPr spcFirstLastPara="1" wrap="square" lIns="45700" tIns="22850" rIns="45700" bIns="22850" anchor="t" anchorCtr="0">
            <a:noAutofit/>
          </a:bodyPr>
          <a:lstStyle/>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Social Engineering Toolkit, is designed to perform human-side penetration test</a:t>
            </a:r>
          </a:p>
          <a:p>
            <a:pPr marL="285744" indent="-285744">
              <a:buClr>
                <a:schemeClr val="accent1"/>
              </a:buClr>
              <a:buSzPts val="2000"/>
              <a:buFont typeface="Arial"/>
              <a:buChar char="•"/>
            </a:pPr>
            <a:endParaRPr lang="en-US" sz="2000" dirty="0">
              <a:latin typeface="Arial" panose="020B0604020202020204" pitchFamily="34" charset="0"/>
              <a:ea typeface="Arial"/>
              <a:cs typeface="Arial" panose="020B0604020202020204" pitchFamily="34" charset="0"/>
              <a:sym typeface="Arial"/>
            </a:endParaRPr>
          </a:p>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SET, in short, is developed by the founder of </a:t>
            </a:r>
            <a:r>
              <a:rPr lang="en-US" sz="2000" dirty="0" err="1">
                <a:latin typeface="Arial" panose="020B0604020202020204" pitchFamily="34" charset="0"/>
                <a:ea typeface="Arial"/>
                <a:cs typeface="Arial" panose="020B0604020202020204" pitchFamily="34" charset="0"/>
                <a:sym typeface="Arial"/>
              </a:rPr>
              <a:t>TrustedSec</a:t>
            </a:r>
            <a:r>
              <a:rPr lang="en-US" sz="2000" dirty="0">
                <a:latin typeface="Arial" panose="020B0604020202020204" pitchFamily="34" charset="0"/>
                <a:ea typeface="Arial"/>
                <a:cs typeface="Arial" panose="020B0604020202020204" pitchFamily="34" charset="0"/>
                <a:sym typeface="Arial"/>
              </a:rPr>
              <a:t> (https://www.trustedsec.com/social-engineer-toolkit-set/), which is written in Python, and it is open source</a:t>
            </a:r>
          </a:p>
          <a:p>
            <a:pPr marL="285744" indent="-285744">
              <a:buClr>
                <a:schemeClr val="accent1"/>
              </a:buClr>
              <a:buSzPts val="2000"/>
              <a:buFont typeface="Arial"/>
              <a:buChar char="•"/>
            </a:pPr>
            <a:endParaRPr lang="en-US" sz="2000" dirty="0">
              <a:latin typeface="Arial" panose="020B0604020202020204" pitchFamily="34" charset="0"/>
              <a:ea typeface="Arial"/>
              <a:cs typeface="Arial" panose="020B0604020202020204" pitchFamily="34" charset="0"/>
              <a:sym typeface="Arial"/>
            </a:endParaRPr>
          </a:p>
        </p:txBody>
      </p:sp>
    </p:spTree>
    <p:extLst>
      <p:ext uri="{BB962C8B-B14F-4D97-AF65-F5344CB8AC3E}">
        <p14:creationId xmlns:p14="http://schemas.microsoft.com/office/powerpoint/2010/main" val="4090454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Hands-On Session</a:t>
            </a:r>
            <a:endParaRPr lang="en-SG" dirty="0"/>
          </a:p>
        </p:txBody>
      </p:sp>
      <p:sp>
        <p:nvSpPr>
          <p:cNvPr id="5" name="Google Shape;166;p4">
            <a:extLst>
              <a:ext uri="{FF2B5EF4-FFF2-40B4-BE49-F238E27FC236}">
                <a16:creationId xmlns:a16="http://schemas.microsoft.com/office/drawing/2014/main" id="{C832943C-4F9F-4397-A581-56C4E83BECA7}"/>
              </a:ext>
            </a:extLst>
          </p:cNvPr>
          <p:cNvSpPr txBox="1"/>
          <p:nvPr/>
        </p:nvSpPr>
        <p:spPr>
          <a:xfrm>
            <a:off x="1097280" y="1737360"/>
            <a:ext cx="10018133" cy="3838915"/>
          </a:xfrm>
          <a:prstGeom prst="rect">
            <a:avLst/>
          </a:prstGeom>
          <a:noFill/>
          <a:ln>
            <a:noFill/>
          </a:ln>
        </p:spPr>
        <p:txBody>
          <a:bodyPr spcFirstLastPara="1" wrap="square" lIns="45700" tIns="22850" rIns="45700" bIns="22850" anchor="t" anchorCtr="0">
            <a:noAutofit/>
          </a:bodyPr>
          <a:lstStyle/>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Ensure the Network Adapter for your </a:t>
            </a:r>
            <a:r>
              <a:rPr lang="en-US" sz="2000" i="1" dirty="0">
                <a:latin typeface="Arial" panose="020B0604020202020204" pitchFamily="34" charset="0"/>
                <a:ea typeface="Arial"/>
                <a:cs typeface="Arial" panose="020B0604020202020204" pitchFamily="34" charset="0"/>
                <a:sym typeface="Arial"/>
              </a:rPr>
              <a:t>kali</a:t>
            </a:r>
            <a:r>
              <a:rPr lang="en-US" sz="2000" dirty="0">
                <a:latin typeface="Arial" panose="020B0604020202020204" pitchFamily="34" charset="0"/>
                <a:ea typeface="Arial"/>
                <a:cs typeface="Arial" panose="020B0604020202020204" pitchFamily="34" charset="0"/>
                <a:sym typeface="Arial"/>
              </a:rPr>
              <a:t> Linux is set to Host-Only </a:t>
            </a:r>
          </a:p>
        </p:txBody>
      </p:sp>
      <p:pic>
        <p:nvPicPr>
          <p:cNvPr id="4" name="Picture 3">
            <a:extLst>
              <a:ext uri="{FF2B5EF4-FFF2-40B4-BE49-F238E27FC236}">
                <a16:creationId xmlns:a16="http://schemas.microsoft.com/office/drawing/2014/main" id="{6360B8F5-8582-4466-A845-E0DF971772A9}"/>
              </a:ext>
            </a:extLst>
          </p:cNvPr>
          <p:cNvPicPr>
            <a:picLocks noChangeAspect="1"/>
          </p:cNvPicPr>
          <p:nvPr/>
        </p:nvPicPr>
        <p:blipFill rotWithShape="1">
          <a:blip r:embed="rId2"/>
          <a:srcRect l="11830" t="36800" r="74407" b="24653"/>
          <a:stretch/>
        </p:blipFill>
        <p:spPr>
          <a:xfrm>
            <a:off x="3676454" y="2214176"/>
            <a:ext cx="3987538" cy="3926334"/>
          </a:xfrm>
          <a:prstGeom prst="rect">
            <a:avLst/>
          </a:prstGeom>
        </p:spPr>
      </p:pic>
    </p:spTree>
    <p:extLst>
      <p:ext uri="{BB962C8B-B14F-4D97-AF65-F5344CB8AC3E}">
        <p14:creationId xmlns:p14="http://schemas.microsoft.com/office/powerpoint/2010/main" val="1953568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Hands-On Session</a:t>
            </a:r>
            <a:endParaRPr lang="en-SG" dirty="0"/>
          </a:p>
        </p:txBody>
      </p:sp>
      <p:sp>
        <p:nvSpPr>
          <p:cNvPr id="5" name="Google Shape;166;p4">
            <a:extLst>
              <a:ext uri="{FF2B5EF4-FFF2-40B4-BE49-F238E27FC236}">
                <a16:creationId xmlns:a16="http://schemas.microsoft.com/office/drawing/2014/main" id="{C832943C-4F9F-4397-A581-56C4E83BECA7}"/>
              </a:ext>
            </a:extLst>
          </p:cNvPr>
          <p:cNvSpPr txBox="1"/>
          <p:nvPr/>
        </p:nvSpPr>
        <p:spPr>
          <a:xfrm>
            <a:off x="1086933" y="1737360"/>
            <a:ext cx="10018133" cy="3838915"/>
          </a:xfrm>
          <a:prstGeom prst="rect">
            <a:avLst/>
          </a:prstGeom>
          <a:noFill/>
          <a:ln>
            <a:noFill/>
          </a:ln>
        </p:spPr>
        <p:txBody>
          <a:bodyPr spcFirstLastPara="1" wrap="square" lIns="45700" tIns="22850" rIns="45700" bIns="22850" anchor="t" anchorCtr="0">
            <a:noAutofit/>
          </a:bodyPr>
          <a:lstStyle/>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Open terminal in </a:t>
            </a:r>
            <a:r>
              <a:rPr lang="en-US" sz="2000" i="1" dirty="0">
                <a:latin typeface="Arial" panose="020B0604020202020204" pitchFamily="34" charset="0"/>
                <a:ea typeface="Arial"/>
                <a:cs typeface="Arial" panose="020B0604020202020204" pitchFamily="34" charset="0"/>
                <a:sym typeface="Arial"/>
              </a:rPr>
              <a:t>kali </a:t>
            </a:r>
            <a:r>
              <a:rPr lang="en-US" sz="2000" dirty="0">
                <a:latin typeface="Arial" panose="020B0604020202020204" pitchFamily="34" charset="0"/>
                <a:ea typeface="Arial"/>
                <a:cs typeface="Arial" panose="020B0604020202020204" pitchFamily="34" charset="0"/>
                <a:sym typeface="Arial"/>
              </a:rPr>
              <a:t>Linux and enter the following command</a:t>
            </a:r>
          </a:p>
          <a:p>
            <a:pPr marL="285744" indent="-285744">
              <a:buClr>
                <a:schemeClr val="accent1"/>
              </a:buClr>
              <a:buSzPts val="2000"/>
              <a:buFont typeface="Arial"/>
              <a:buChar char="•"/>
            </a:pPr>
            <a:endParaRPr lang="en-US" sz="2000" i="1" dirty="0">
              <a:latin typeface="Arial" panose="020B0604020202020204" pitchFamily="34" charset="0"/>
              <a:ea typeface="Arial"/>
              <a:cs typeface="Arial" panose="020B0604020202020204" pitchFamily="34" charset="0"/>
              <a:sym typeface="Arial"/>
            </a:endParaRPr>
          </a:p>
          <a:p>
            <a:pPr marL="285744" indent="-285744">
              <a:buClr>
                <a:schemeClr val="accent1"/>
              </a:buClr>
              <a:buSzPts val="2000"/>
              <a:buFont typeface="Arial"/>
              <a:buChar char="•"/>
            </a:pPr>
            <a:endParaRPr lang="en-US" sz="2000" i="1" dirty="0">
              <a:latin typeface="Arial" panose="020B0604020202020204" pitchFamily="34" charset="0"/>
              <a:ea typeface="Arial"/>
              <a:cs typeface="Arial" panose="020B0604020202020204" pitchFamily="34" charset="0"/>
              <a:sym typeface="Arial"/>
            </a:endParaRPr>
          </a:p>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Set up the phishing page</a:t>
            </a:r>
          </a:p>
          <a:p>
            <a:pPr marL="285744" indent="-285744">
              <a:buClr>
                <a:schemeClr val="accent1"/>
              </a:buClr>
              <a:buSzPts val="2000"/>
              <a:buFont typeface="Arial"/>
              <a:buChar char="•"/>
            </a:pPr>
            <a:endParaRPr lang="en-US" sz="2000" dirty="0">
              <a:latin typeface="Arial" panose="020B0604020202020204" pitchFamily="34" charset="0"/>
              <a:ea typeface="Arial"/>
              <a:cs typeface="Arial" panose="020B0604020202020204" pitchFamily="34" charset="0"/>
              <a:sym typeface="Arial"/>
            </a:endParaRPr>
          </a:p>
        </p:txBody>
      </p:sp>
      <p:graphicFrame>
        <p:nvGraphicFramePr>
          <p:cNvPr id="3" name="Table 2">
            <a:extLst>
              <a:ext uri="{FF2B5EF4-FFF2-40B4-BE49-F238E27FC236}">
                <a16:creationId xmlns:a16="http://schemas.microsoft.com/office/drawing/2014/main" id="{EA5D8844-81D6-4F25-A091-027AB41E1E38}"/>
              </a:ext>
            </a:extLst>
          </p:cNvPr>
          <p:cNvGraphicFramePr>
            <a:graphicFrameLocks noGrp="1"/>
          </p:cNvGraphicFramePr>
          <p:nvPr/>
        </p:nvGraphicFramePr>
        <p:xfrm>
          <a:off x="2338719" y="2227972"/>
          <a:ext cx="6862132" cy="412568"/>
        </p:xfrm>
        <a:graphic>
          <a:graphicData uri="http://schemas.openxmlformats.org/drawingml/2006/table">
            <a:tbl>
              <a:tblPr/>
              <a:tblGrid>
                <a:gridCol w="6862132">
                  <a:extLst>
                    <a:ext uri="{9D8B030D-6E8A-4147-A177-3AD203B41FA5}">
                      <a16:colId xmlns:a16="http://schemas.microsoft.com/office/drawing/2014/main" val="2313348124"/>
                    </a:ext>
                  </a:extLst>
                </a:gridCol>
              </a:tblGrid>
              <a:tr h="288471">
                <a:tc>
                  <a:txBody>
                    <a:bodyPr/>
                    <a:lstStyle/>
                    <a:p>
                      <a:pPr algn="ctr" rtl="0" fontAlgn="ctr">
                        <a:spcBef>
                          <a:spcPts val="0"/>
                        </a:spcBef>
                        <a:spcAft>
                          <a:spcPts val="0"/>
                        </a:spcAft>
                      </a:pPr>
                      <a:r>
                        <a:rPr lang="en-SG" sz="2350" b="0" i="0" u="none" strike="noStrike" dirty="0">
                          <a:solidFill>
                            <a:srgbClr val="000000"/>
                          </a:solidFill>
                          <a:effectLst/>
                          <a:latin typeface="Consolas" panose="020B0609020204030204" pitchFamily="49" charset="0"/>
                        </a:rPr>
                        <a:t>echo  1 &gt; /proc/sys/net/ipv4/</a:t>
                      </a:r>
                      <a:r>
                        <a:rPr lang="en-SG" sz="2350" b="0" i="0" u="none" strike="noStrike" dirty="0" err="1">
                          <a:solidFill>
                            <a:srgbClr val="000000"/>
                          </a:solidFill>
                          <a:effectLst/>
                          <a:latin typeface="Consolas" panose="020B0609020204030204" pitchFamily="49" charset="0"/>
                        </a:rPr>
                        <a:t>ip_forward</a:t>
                      </a:r>
                      <a:endParaRPr lang="en-SG" dirty="0">
                        <a:effectLst/>
                      </a:endParaRPr>
                    </a:p>
                  </a:txBody>
                  <a:tcPr marL="54429" marR="54429" marT="27214" marB="27214" anchor="ctr">
                    <a:lnL w="5443" cap="flat" cmpd="sng" algn="ctr">
                      <a:solidFill>
                        <a:srgbClr val="000000"/>
                      </a:solidFill>
                      <a:prstDash val="solid"/>
                      <a:round/>
                      <a:headEnd type="none" w="med" len="med"/>
                      <a:tailEnd type="none" w="med" len="med"/>
                    </a:lnL>
                    <a:lnR w="5443" cap="flat" cmpd="sng" algn="ctr">
                      <a:solidFill>
                        <a:srgbClr val="000000"/>
                      </a:solidFill>
                      <a:prstDash val="solid"/>
                      <a:round/>
                      <a:headEnd type="none" w="med" len="med"/>
                      <a:tailEnd type="none" w="med" len="med"/>
                    </a:lnR>
                    <a:lnT w="5443" cap="flat" cmpd="sng" algn="ctr">
                      <a:solidFill>
                        <a:srgbClr val="000000"/>
                      </a:solidFill>
                      <a:prstDash val="solid"/>
                      <a:round/>
                      <a:headEnd type="none" w="med" len="med"/>
                      <a:tailEnd type="none" w="med" len="med"/>
                    </a:lnT>
                    <a:lnB w="5443"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2105039379"/>
                  </a:ext>
                </a:extLst>
              </a:tr>
            </a:tbl>
          </a:graphicData>
        </a:graphic>
      </p:graphicFrame>
      <p:graphicFrame>
        <p:nvGraphicFramePr>
          <p:cNvPr id="6" name="Table 5">
            <a:extLst>
              <a:ext uri="{FF2B5EF4-FFF2-40B4-BE49-F238E27FC236}">
                <a16:creationId xmlns:a16="http://schemas.microsoft.com/office/drawing/2014/main" id="{1344F0F8-DF6E-4DCD-AC87-CFE567039BE4}"/>
              </a:ext>
            </a:extLst>
          </p:cNvPr>
          <p:cNvGraphicFramePr>
            <a:graphicFrameLocks noGrp="1"/>
          </p:cNvGraphicFramePr>
          <p:nvPr>
            <p:extLst>
              <p:ext uri="{D42A27DB-BD31-4B8C-83A1-F6EECF244321}">
                <p14:modId xmlns:p14="http://schemas.microsoft.com/office/powerpoint/2010/main" val="3471694257"/>
              </p:ext>
            </p:extLst>
          </p:nvPr>
        </p:nvGraphicFramePr>
        <p:xfrm>
          <a:off x="2338719" y="3131152"/>
          <a:ext cx="6862132" cy="412568"/>
        </p:xfrm>
        <a:graphic>
          <a:graphicData uri="http://schemas.openxmlformats.org/drawingml/2006/table">
            <a:tbl>
              <a:tblPr/>
              <a:tblGrid>
                <a:gridCol w="6862132">
                  <a:extLst>
                    <a:ext uri="{9D8B030D-6E8A-4147-A177-3AD203B41FA5}">
                      <a16:colId xmlns:a16="http://schemas.microsoft.com/office/drawing/2014/main" val="2313348124"/>
                    </a:ext>
                  </a:extLst>
                </a:gridCol>
              </a:tblGrid>
              <a:tr h="288471">
                <a:tc>
                  <a:txBody>
                    <a:bodyPr/>
                    <a:lstStyle/>
                    <a:p>
                      <a:pPr algn="ctr" rtl="0" fontAlgn="ctr">
                        <a:spcBef>
                          <a:spcPts val="0"/>
                        </a:spcBef>
                        <a:spcAft>
                          <a:spcPts val="0"/>
                        </a:spcAft>
                      </a:pPr>
                      <a:r>
                        <a:rPr lang="en-SG" sz="2350" b="0" i="0" u="none" strike="noStrike" dirty="0" err="1">
                          <a:solidFill>
                            <a:srgbClr val="000000"/>
                          </a:solidFill>
                          <a:effectLst/>
                          <a:latin typeface="Consolas" panose="020B0609020204030204" pitchFamily="49" charset="0"/>
                        </a:rPr>
                        <a:t>setoolkit</a:t>
                      </a:r>
                      <a:endParaRPr lang="en-SG" dirty="0">
                        <a:effectLst/>
                      </a:endParaRPr>
                    </a:p>
                  </a:txBody>
                  <a:tcPr marL="54429" marR="54429" marT="27214" marB="27214" anchor="ctr">
                    <a:lnL w="5443" cap="flat" cmpd="sng" algn="ctr">
                      <a:solidFill>
                        <a:srgbClr val="000000"/>
                      </a:solidFill>
                      <a:prstDash val="solid"/>
                      <a:round/>
                      <a:headEnd type="none" w="med" len="med"/>
                      <a:tailEnd type="none" w="med" len="med"/>
                    </a:lnL>
                    <a:lnR w="5443" cap="flat" cmpd="sng" algn="ctr">
                      <a:solidFill>
                        <a:srgbClr val="000000"/>
                      </a:solidFill>
                      <a:prstDash val="solid"/>
                      <a:round/>
                      <a:headEnd type="none" w="med" len="med"/>
                      <a:tailEnd type="none" w="med" len="med"/>
                    </a:lnR>
                    <a:lnT w="5443" cap="flat" cmpd="sng" algn="ctr">
                      <a:solidFill>
                        <a:srgbClr val="000000"/>
                      </a:solidFill>
                      <a:prstDash val="solid"/>
                      <a:round/>
                      <a:headEnd type="none" w="med" len="med"/>
                      <a:tailEnd type="none" w="med" len="med"/>
                    </a:lnT>
                    <a:lnB w="5443"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2105039379"/>
                  </a:ext>
                </a:extLst>
              </a:tr>
            </a:tbl>
          </a:graphicData>
        </a:graphic>
      </p:graphicFrame>
      <p:pic>
        <p:nvPicPr>
          <p:cNvPr id="13315" name="Picture 3">
            <a:extLst>
              <a:ext uri="{FF2B5EF4-FFF2-40B4-BE49-F238E27FC236}">
                <a16:creationId xmlns:a16="http://schemas.microsoft.com/office/drawing/2014/main" id="{3F4D1733-4266-4BF9-A3C9-96F36A2C45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3773" y="3676068"/>
            <a:ext cx="6038190" cy="2618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39911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Hands-On Session</a:t>
            </a:r>
            <a:endParaRPr lang="en-SG" dirty="0"/>
          </a:p>
        </p:txBody>
      </p:sp>
      <p:sp>
        <p:nvSpPr>
          <p:cNvPr id="5" name="Google Shape;166;p4">
            <a:extLst>
              <a:ext uri="{FF2B5EF4-FFF2-40B4-BE49-F238E27FC236}">
                <a16:creationId xmlns:a16="http://schemas.microsoft.com/office/drawing/2014/main" id="{C832943C-4F9F-4397-A581-56C4E83BECA7}"/>
              </a:ext>
            </a:extLst>
          </p:cNvPr>
          <p:cNvSpPr txBox="1"/>
          <p:nvPr/>
        </p:nvSpPr>
        <p:spPr>
          <a:xfrm>
            <a:off x="1046666" y="1843235"/>
            <a:ext cx="10018133" cy="3838915"/>
          </a:xfrm>
          <a:prstGeom prst="rect">
            <a:avLst/>
          </a:prstGeom>
          <a:noFill/>
          <a:ln>
            <a:noFill/>
          </a:ln>
        </p:spPr>
        <p:txBody>
          <a:bodyPr spcFirstLastPara="1" wrap="square" lIns="45700" tIns="22850" rIns="45700" bIns="22850" anchor="t" anchorCtr="0">
            <a:noAutofit/>
          </a:bodyPr>
          <a:lstStyle/>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Input 	       (Social-Engineering Attacks)</a:t>
            </a:r>
          </a:p>
          <a:p>
            <a:pPr marL="285744" indent="-285744">
              <a:buClr>
                <a:schemeClr val="accent1"/>
              </a:buClr>
              <a:buSzPts val="2000"/>
              <a:buFont typeface="Arial"/>
              <a:buChar char="•"/>
            </a:pPr>
            <a:endParaRPr lang="en-US" sz="2000" dirty="0">
              <a:latin typeface="Arial" panose="020B0604020202020204" pitchFamily="34" charset="0"/>
              <a:ea typeface="Arial"/>
              <a:cs typeface="Arial" panose="020B0604020202020204" pitchFamily="34" charset="0"/>
              <a:sym typeface="Arial"/>
            </a:endParaRPr>
          </a:p>
          <a:p>
            <a:pPr marL="285744" indent="-285744">
              <a:buClr>
                <a:schemeClr val="accent1"/>
              </a:buClr>
              <a:buSzPts val="2000"/>
              <a:buFont typeface="Arial"/>
              <a:buChar char="•"/>
            </a:pPr>
            <a:endParaRPr lang="en-US" sz="2000" dirty="0">
              <a:latin typeface="Arial" panose="020B0604020202020204" pitchFamily="34" charset="0"/>
              <a:ea typeface="Arial"/>
              <a:cs typeface="Arial" panose="020B0604020202020204" pitchFamily="34" charset="0"/>
              <a:sym typeface="Arial"/>
            </a:endParaRPr>
          </a:p>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Input 	       (Website Attack Vectors)</a:t>
            </a:r>
          </a:p>
          <a:p>
            <a:pPr marL="285744" indent="-285744">
              <a:buClr>
                <a:schemeClr val="accent1"/>
              </a:buClr>
              <a:buSzPts val="2000"/>
              <a:buFont typeface="Arial"/>
              <a:buChar char="•"/>
            </a:pPr>
            <a:endParaRPr lang="en-US" sz="2000" dirty="0">
              <a:latin typeface="Arial" panose="020B0604020202020204" pitchFamily="34" charset="0"/>
              <a:ea typeface="Arial"/>
              <a:cs typeface="Arial" panose="020B0604020202020204" pitchFamily="34" charset="0"/>
              <a:sym typeface="Arial"/>
            </a:endParaRPr>
          </a:p>
          <a:p>
            <a:pPr marL="285744" indent="-285744">
              <a:buClr>
                <a:schemeClr val="accent1"/>
              </a:buClr>
              <a:buSzPts val="2000"/>
              <a:buFont typeface="Arial"/>
              <a:buChar char="•"/>
            </a:pPr>
            <a:endParaRPr lang="en-US" sz="2000" dirty="0">
              <a:latin typeface="Arial" panose="020B0604020202020204" pitchFamily="34" charset="0"/>
              <a:ea typeface="Arial"/>
              <a:cs typeface="Arial" panose="020B0604020202020204" pitchFamily="34" charset="0"/>
              <a:sym typeface="Arial"/>
            </a:endParaRPr>
          </a:p>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Input	                    (Credential Harvester Attack Method)</a:t>
            </a:r>
          </a:p>
          <a:p>
            <a:pPr marL="285744" indent="-285744">
              <a:buClr>
                <a:schemeClr val="accent1"/>
              </a:buClr>
              <a:buSzPts val="2000"/>
              <a:buFont typeface="Arial"/>
              <a:buChar char="•"/>
            </a:pPr>
            <a:endParaRPr lang="en-US" sz="2000" dirty="0">
              <a:latin typeface="Arial" panose="020B0604020202020204" pitchFamily="34" charset="0"/>
              <a:ea typeface="Arial"/>
              <a:cs typeface="Arial" panose="020B0604020202020204" pitchFamily="34" charset="0"/>
              <a:sym typeface="Arial"/>
            </a:endParaRPr>
          </a:p>
          <a:p>
            <a:pPr marL="285744" indent="-285744">
              <a:buClr>
                <a:schemeClr val="accent1"/>
              </a:buClr>
              <a:buSzPts val="2000"/>
              <a:buFont typeface="Arial"/>
              <a:buChar char="•"/>
            </a:pPr>
            <a:endParaRPr lang="en-US" sz="2000" dirty="0">
              <a:latin typeface="Arial" panose="020B0604020202020204" pitchFamily="34" charset="0"/>
              <a:ea typeface="Arial"/>
              <a:cs typeface="Arial" panose="020B0604020202020204" pitchFamily="34" charset="0"/>
              <a:sym typeface="Arial"/>
            </a:endParaRPr>
          </a:p>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Input 	       (Web Templates)</a:t>
            </a:r>
          </a:p>
        </p:txBody>
      </p:sp>
      <p:graphicFrame>
        <p:nvGraphicFramePr>
          <p:cNvPr id="4" name="Table 3">
            <a:extLst>
              <a:ext uri="{FF2B5EF4-FFF2-40B4-BE49-F238E27FC236}">
                <a16:creationId xmlns:a16="http://schemas.microsoft.com/office/drawing/2014/main" id="{6273B433-EF3B-4C39-BA1C-18DB7282204D}"/>
              </a:ext>
            </a:extLst>
          </p:cNvPr>
          <p:cNvGraphicFramePr>
            <a:graphicFrameLocks noGrp="1"/>
          </p:cNvGraphicFramePr>
          <p:nvPr>
            <p:extLst>
              <p:ext uri="{D42A27DB-BD31-4B8C-83A1-F6EECF244321}">
                <p14:modId xmlns:p14="http://schemas.microsoft.com/office/powerpoint/2010/main" val="2105794330"/>
              </p:ext>
            </p:extLst>
          </p:nvPr>
        </p:nvGraphicFramePr>
        <p:xfrm>
          <a:off x="2450462" y="1873656"/>
          <a:ext cx="413657" cy="412568"/>
        </p:xfrm>
        <a:graphic>
          <a:graphicData uri="http://schemas.openxmlformats.org/drawingml/2006/table">
            <a:tbl>
              <a:tblPr/>
              <a:tblGrid>
                <a:gridCol w="413657">
                  <a:extLst>
                    <a:ext uri="{9D8B030D-6E8A-4147-A177-3AD203B41FA5}">
                      <a16:colId xmlns:a16="http://schemas.microsoft.com/office/drawing/2014/main" val="2160205330"/>
                    </a:ext>
                  </a:extLst>
                </a:gridCol>
              </a:tblGrid>
              <a:tr h="304881">
                <a:tc>
                  <a:txBody>
                    <a:bodyPr/>
                    <a:lstStyle/>
                    <a:p>
                      <a:pPr algn="ctr" rtl="0" fontAlgn="ctr">
                        <a:spcBef>
                          <a:spcPts val="0"/>
                        </a:spcBef>
                        <a:spcAft>
                          <a:spcPts val="0"/>
                        </a:spcAft>
                      </a:pPr>
                      <a:r>
                        <a:rPr lang="en-SG" sz="2350" b="0" i="0" u="none" strike="noStrike" dirty="0">
                          <a:solidFill>
                            <a:srgbClr val="000000"/>
                          </a:solidFill>
                          <a:effectLst/>
                          <a:latin typeface="Consolas" panose="020B0609020204030204" pitchFamily="49" charset="0"/>
                        </a:rPr>
                        <a:t>1</a:t>
                      </a:r>
                      <a:endParaRPr lang="en-SG" dirty="0">
                        <a:effectLst/>
                      </a:endParaRPr>
                    </a:p>
                  </a:txBody>
                  <a:tcPr marL="54429" marR="54429" marT="27214" marB="27214" anchor="ctr">
                    <a:lnL w="5443" cap="flat" cmpd="sng" algn="ctr">
                      <a:solidFill>
                        <a:srgbClr val="000000"/>
                      </a:solidFill>
                      <a:prstDash val="solid"/>
                      <a:round/>
                      <a:headEnd type="none" w="med" len="med"/>
                      <a:tailEnd type="none" w="med" len="med"/>
                    </a:lnL>
                    <a:lnR w="5443" cap="flat" cmpd="sng" algn="ctr">
                      <a:solidFill>
                        <a:srgbClr val="000000"/>
                      </a:solidFill>
                      <a:prstDash val="solid"/>
                      <a:round/>
                      <a:headEnd type="none" w="med" len="med"/>
                      <a:tailEnd type="none" w="med" len="med"/>
                    </a:lnR>
                    <a:lnT w="5443" cap="flat" cmpd="sng" algn="ctr">
                      <a:solidFill>
                        <a:srgbClr val="000000"/>
                      </a:solidFill>
                      <a:prstDash val="solid"/>
                      <a:round/>
                      <a:headEnd type="none" w="med" len="med"/>
                      <a:tailEnd type="none" w="med" len="med"/>
                    </a:lnT>
                    <a:lnB w="5443"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689558130"/>
                  </a:ext>
                </a:extLst>
              </a:tr>
            </a:tbl>
          </a:graphicData>
        </a:graphic>
      </p:graphicFrame>
      <p:graphicFrame>
        <p:nvGraphicFramePr>
          <p:cNvPr id="9" name="Table 8">
            <a:extLst>
              <a:ext uri="{FF2B5EF4-FFF2-40B4-BE49-F238E27FC236}">
                <a16:creationId xmlns:a16="http://schemas.microsoft.com/office/drawing/2014/main" id="{3581F9F5-B711-408E-A112-89E3640C8518}"/>
              </a:ext>
            </a:extLst>
          </p:cNvPr>
          <p:cNvGraphicFramePr>
            <a:graphicFrameLocks noGrp="1"/>
          </p:cNvGraphicFramePr>
          <p:nvPr>
            <p:extLst>
              <p:ext uri="{D42A27DB-BD31-4B8C-83A1-F6EECF244321}">
                <p14:modId xmlns:p14="http://schemas.microsoft.com/office/powerpoint/2010/main" val="662457554"/>
              </p:ext>
            </p:extLst>
          </p:nvPr>
        </p:nvGraphicFramePr>
        <p:xfrm>
          <a:off x="2445535" y="2762675"/>
          <a:ext cx="413657" cy="412568"/>
        </p:xfrm>
        <a:graphic>
          <a:graphicData uri="http://schemas.openxmlformats.org/drawingml/2006/table">
            <a:tbl>
              <a:tblPr/>
              <a:tblGrid>
                <a:gridCol w="413657">
                  <a:extLst>
                    <a:ext uri="{9D8B030D-6E8A-4147-A177-3AD203B41FA5}">
                      <a16:colId xmlns:a16="http://schemas.microsoft.com/office/drawing/2014/main" val="2160205330"/>
                    </a:ext>
                  </a:extLst>
                </a:gridCol>
              </a:tblGrid>
              <a:tr h="288471">
                <a:tc>
                  <a:txBody>
                    <a:bodyPr/>
                    <a:lstStyle/>
                    <a:p>
                      <a:pPr algn="ctr" rtl="0" fontAlgn="ctr">
                        <a:spcBef>
                          <a:spcPts val="0"/>
                        </a:spcBef>
                        <a:spcAft>
                          <a:spcPts val="0"/>
                        </a:spcAft>
                      </a:pPr>
                      <a:r>
                        <a:rPr lang="en-US" sz="2350" b="0" i="0" u="none" strike="noStrike" dirty="0">
                          <a:solidFill>
                            <a:srgbClr val="000000"/>
                          </a:solidFill>
                          <a:effectLst/>
                          <a:latin typeface="Consolas" panose="020B0609020204030204" pitchFamily="49" charset="0"/>
                        </a:rPr>
                        <a:t>2</a:t>
                      </a:r>
                      <a:endParaRPr lang="en-SG" dirty="0">
                        <a:effectLst/>
                      </a:endParaRPr>
                    </a:p>
                  </a:txBody>
                  <a:tcPr marL="54429" marR="54429" marT="27214" marB="27214" anchor="ctr">
                    <a:lnL w="5443" cap="flat" cmpd="sng" algn="ctr">
                      <a:solidFill>
                        <a:srgbClr val="000000"/>
                      </a:solidFill>
                      <a:prstDash val="solid"/>
                      <a:round/>
                      <a:headEnd type="none" w="med" len="med"/>
                      <a:tailEnd type="none" w="med" len="med"/>
                    </a:lnL>
                    <a:lnR w="5443" cap="flat" cmpd="sng" algn="ctr">
                      <a:solidFill>
                        <a:srgbClr val="000000"/>
                      </a:solidFill>
                      <a:prstDash val="solid"/>
                      <a:round/>
                      <a:headEnd type="none" w="med" len="med"/>
                      <a:tailEnd type="none" w="med" len="med"/>
                    </a:lnR>
                    <a:lnT w="5443" cap="flat" cmpd="sng" algn="ctr">
                      <a:solidFill>
                        <a:srgbClr val="000000"/>
                      </a:solidFill>
                      <a:prstDash val="solid"/>
                      <a:round/>
                      <a:headEnd type="none" w="med" len="med"/>
                      <a:tailEnd type="none" w="med" len="med"/>
                    </a:lnT>
                    <a:lnB w="5443"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689558130"/>
                  </a:ext>
                </a:extLst>
              </a:tr>
            </a:tbl>
          </a:graphicData>
        </a:graphic>
      </p:graphicFrame>
      <p:graphicFrame>
        <p:nvGraphicFramePr>
          <p:cNvPr id="10" name="Table 9">
            <a:extLst>
              <a:ext uri="{FF2B5EF4-FFF2-40B4-BE49-F238E27FC236}">
                <a16:creationId xmlns:a16="http://schemas.microsoft.com/office/drawing/2014/main" id="{555B8DCD-ECEF-4D30-B4A1-819249DE6983}"/>
              </a:ext>
            </a:extLst>
          </p:cNvPr>
          <p:cNvGraphicFramePr>
            <a:graphicFrameLocks noGrp="1"/>
          </p:cNvGraphicFramePr>
          <p:nvPr>
            <p:extLst>
              <p:ext uri="{D42A27DB-BD31-4B8C-83A1-F6EECF244321}">
                <p14:modId xmlns:p14="http://schemas.microsoft.com/office/powerpoint/2010/main" val="1491904067"/>
              </p:ext>
            </p:extLst>
          </p:nvPr>
        </p:nvGraphicFramePr>
        <p:xfrm>
          <a:off x="2442827" y="3665608"/>
          <a:ext cx="413657" cy="412568"/>
        </p:xfrm>
        <a:graphic>
          <a:graphicData uri="http://schemas.openxmlformats.org/drawingml/2006/table">
            <a:tbl>
              <a:tblPr/>
              <a:tblGrid>
                <a:gridCol w="413657">
                  <a:extLst>
                    <a:ext uri="{9D8B030D-6E8A-4147-A177-3AD203B41FA5}">
                      <a16:colId xmlns:a16="http://schemas.microsoft.com/office/drawing/2014/main" val="2160205330"/>
                    </a:ext>
                  </a:extLst>
                </a:gridCol>
              </a:tblGrid>
              <a:tr h="288471">
                <a:tc>
                  <a:txBody>
                    <a:bodyPr/>
                    <a:lstStyle/>
                    <a:p>
                      <a:pPr algn="ctr" rtl="0" fontAlgn="ctr">
                        <a:spcBef>
                          <a:spcPts val="0"/>
                        </a:spcBef>
                        <a:spcAft>
                          <a:spcPts val="0"/>
                        </a:spcAft>
                      </a:pPr>
                      <a:r>
                        <a:rPr lang="en-US" sz="2350" b="0" i="0" u="none" strike="noStrike" dirty="0">
                          <a:solidFill>
                            <a:srgbClr val="000000"/>
                          </a:solidFill>
                          <a:effectLst/>
                          <a:latin typeface="Consolas" panose="020B0609020204030204" pitchFamily="49" charset="0"/>
                        </a:rPr>
                        <a:t>3</a:t>
                      </a:r>
                      <a:endParaRPr lang="en-SG" dirty="0">
                        <a:effectLst/>
                      </a:endParaRPr>
                    </a:p>
                  </a:txBody>
                  <a:tcPr marL="54429" marR="54429" marT="27214" marB="27214" anchor="ctr">
                    <a:lnL w="5443" cap="flat" cmpd="sng" algn="ctr">
                      <a:solidFill>
                        <a:srgbClr val="000000"/>
                      </a:solidFill>
                      <a:prstDash val="solid"/>
                      <a:round/>
                      <a:headEnd type="none" w="med" len="med"/>
                      <a:tailEnd type="none" w="med" len="med"/>
                    </a:lnL>
                    <a:lnR w="5443" cap="flat" cmpd="sng" algn="ctr">
                      <a:solidFill>
                        <a:srgbClr val="000000"/>
                      </a:solidFill>
                      <a:prstDash val="solid"/>
                      <a:round/>
                      <a:headEnd type="none" w="med" len="med"/>
                      <a:tailEnd type="none" w="med" len="med"/>
                    </a:lnR>
                    <a:lnT w="5443" cap="flat" cmpd="sng" algn="ctr">
                      <a:solidFill>
                        <a:srgbClr val="000000"/>
                      </a:solidFill>
                      <a:prstDash val="solid"/>
                      <a:round/>
                      <a:headEnd type="none" w="med" len="med"/>
                      <a:tailEnd type="none" w="med" len="med"/>
                    </a:lnT>
                    <a:lnB w="5443"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689558130"/>
                  </a:ext>
                </a:extLst>
              </a:tr>
            </a:tbl>
          </a:graphicData>
        </a:graphic>
      </p:graphicFrame>
      <p:graphicFrame>
        <p:nvGraphicFramePr>
          <p:cNvPr id="11" name="Table 10">
            <a:extLst>
              <a:ext uri="{FF2B5EF4-FFF2-40B4-BE49-F238E27FC236}">
                <a16:creationId xmlns:a16="http://schemas.microsoft.com/office/drawing/2014/main" id="{9A497294-15B1-4861-9BF1-D2391ADDC795}"/>
              </a:ext>
            </a:extLst>
          </p:cNvPr>
          <p:cNvGraphicFramePr>
            <a:graphicFrameLocks noGrp="1"/>
          </p:cNvGraphicFramePr>
          <p:nvPr>
            <p:extLst>
              <p:ext uri="{D42A27DB-BD31-4B8C-83A1-F6EECF244321}">
                <p14:modId xmlns:p14="http://schemas.microsoft.com/office/powerpoint/2010/main" val="3059712682"/>
              </p:ext>
            </p:extLst>
          </p:nvPr>
        </p:nvGraphicFramePr>
        <p:xfrm>
          <a:off x="2445535" y="4660600"/>
          <a:ext cx="413657" cy="412568"/>
        </p:xfrm>
        <a:graphic>
          <a:graphicData uri="http://schemas.openxmlformats.org/drawingml/2006/table">
            <a:tbl>
              <a:tblPr/>
              <a:tblGrid>
                <a:gridCol w="413657">
                  <a:extLst>
                    <a:ext uri="{9D8B030D-6E8A-4147-A177-3AD203B41FA5}">
                      <a16:colId xmlns:a16="http://schemas.microsoft.com/office/drawing/2014/main" val="2160205330"/>
                    </a:ext>
                  </a:extLst>
                </a:gridCol>
              </a:tblGrid>
              <a:tr h="288471">
                <a:tc>
                  <a:txBody>
                    <a:bodyPr/>
                    <a:lstStyle/>
                    <a:p>
                      <a:pPr algn="ctr" rtl="0" fontAlgn="ctr">
                        <a:spcBef>
                          <a:spcPts val="0"/>
                        </a:spcBef>
                        <a:spcAft>
                          <a:spcPts val="0"/>
                        </a:spcAft>
                      </a:pPr>
                      <a:r>
                        <a:rPr lang="en-US" sz="2350" b="0" i="0" u="none" strike="noStrike" dirty="0">
                          <a:solidFill>
                            <a:srgbClr val="000000"/>
                          </a:solidFill>
                          <a:effectLst/>
                          <a:latin typeface="Consolas" panose="020B0609020204030204" pitchFamily="49" charset="0"/>
                        </a:rPr>
                        <a:t>1</a:t>
                      </a:r>
                      <a:endParaRPr lang="en-SG" dirty="0">
                        <a:effectLst/>
                      </a:endParaRPr>
                    </a:p>
                  </a:txBody>
                  <a:tcPr marL="54429" marR="54429" marT="27214" marB="27214" anchor="ctr">
                    <a:lnL w="5443" cap="flat" cmpd="sng" algn="ctr">
                      <a:solidFill>
                        <a:srgbClr val="000000"/>
                      </a:solidFill>
                      <a:prstDash val="solid"/>
                      <a:round/>
                      <a:headEnd type="none" w="med" len="med"/>
                      <a:tailEnd type="none" w="med" len="med"/>
                    </a:lnL>
                    <a:lnR w="5443" cap="flat" cmpd="sng" algn="ctr">
                      <a:solidFill>
                        <a:srgbClr val="000000"/>
                      </a:solidFill>
                      <a:prstDash val="solid"/>
                      <a:round/>
                      <a:headEnd type="none" w="med" len="med"/>
                      <a:tailEnd type="none" w="med" len="med"/>
                    </a:lnR>
                    <a:lnT w="5443" cap="flat" cmpd="sng" algn="ctr">
                      <a:solidFill>
                        <a:srgbClr val="000000"/>
                      </a:solidFill>
                      <a:prstDash val="solid"/>
                      <a:round/>
                      <a:headEnd type="none" w="med" len="med"/>
                      <a:tailEnd type="none" w="med" len="med"/>
                    </a:lnT>
                    <a:lnB w="5443"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689558130"/>
                  </a:ext>
                </a:extLst>
              </a:tr>
            </a:tbl>
          </a:graphicData>
        </a:graphic>
      </p:graphicFrame>
    </p:spTree>
    <p:extLst>
      <p:ext uri="{BB962C8B-B14F-4D97-AF65-F5344CB8AC3E}">
        <p14:creationId xmlns:p14="http://schemas.microsoft.com/office/powerpoint/2010/main" val="11861593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Hands-On Session</a:t>
            </a:r>
            <a:endParaRPr lang="en-SG" dirty="0"/>
          </a:p>
        </p:txBody>
      </p:sp>
      <p:pic>
        <p:nvPicPr>
          <p:cNvPr id="21506" name="Picture 2">
            <a:extLst>
              <a:ext uri="{FF2B5EF4-FFF2-40B4-BE49-F238E27FC236}">
                <a16:creationId xmlns:a16="http://schemas.microsoft.com/office/drawing/2014/main" id="{B0AE7EF2-07F6-457E-8F7E-831D0633D8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3048" y="1897704"/>
            <a:ext cx="7056846" cy="41001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15948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Hands-On Session</a:t>
            </a:r>
            <a:endParaRPr lang="en-SG" dirty="0"/>
          </a:p>
        </p:txBody>
      </p:sp>
      <p:sp>
        <p:nvSpPr>
          <p:cNvPr id="4" name="Google Shape;166;p4">
            <a:extLst>
              <a:ext uri="{FF2B5EF4-FFF2-40B4-BE49-F238E27FC236}">
                <a16:creationId xmlns:a16="http://schemas.microsoft.com/office/drawing/2014/main" id="{D728B746-859C-4FC6-9D21-D22EAE862915}"/>
              </a:ext>
            </a:extLst>
          </p:cNvPr>
          <p:cNvSpPr txBox="1"/>
          <p:nvPr/>
        </p:nvSpPr>
        <p:spPr>
          <a:xfrm>
            <a:off x="1086933" y="1971925"/>
            <a:ext cx="10018133" cy="3838915"/>
          </a:xfrm>
          <a:prstGeom prst="rect">
            <a:avLst/>
          </a:prstGeom>
          <a:noFill/>
          <a:ln>
            <a:noFill/>
          </a:ln>
        </p:spPr>
        <p:txBody>
          <a:bodyPr spcFirstLastPara="1" wrap="square" lIns="45700" tIns="22850" rIns="45700" bIns="22850" anchor="t" anchorCtr="0">
            <a:noAutofit/>
          </a:bodyPr>
          <a:lstStyle/>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Input		                    of your Kali Linux machine which is assisted by </a:t>
            </a:r>
            <a:r>
              <a:rPr lang="en-US" sz="2000" dirty="0" err="1">
                <a:latin typeface="Arial" panose="020B0604020202020204" pitchFamily="34" charset="0"/>
                <a:ea typeface="Arial"/>
                <a:cs typeface="Arial" panose="020B0604020202020204" pitchFamily="34" charset="0"/>
                <a:sym typeface="Arial"/>
              </a:rPr>
              <a:t>setoolkit</a:t>
            </a:r>
            <a:r>
              <a:rPr lang="en-US" sz="2000" dirty="0">
                <a:latin typeface="Arial" panose="020B0604020202020204" pitchFamily="34" charset="0"/>
                <a:ea typeface="Arial"/>
                <a:cs typeface="Arial" panose="020B0604020202020204" pitchFamily="34" charset="0"/>
                <a:sym typeface="Arial"/>
              </a:rPr>
              <a:t>, IP within the square brackets</a:t>
            </a:r>
          </a:p>
          <a:p>
            <a:pPr marL="285744" indent="-285744">
              <a:buClr>
                <a:schemeClr val="accent1"/>
              </a:buClr>
              <a:buSzPts val="2000"/>
              <a:buFont typeface="Arial"/>
              <a:buChar char="•"/>
            </a:pPr>
            <a:endParaRPr lang="en-US" sz="2000" dirty="0">
              <a:latin typeface="Arial" panose="020B0604020202020204" pitchFamily="34" charset="0"/>
              <a:ea typeface="Arial"/>
              <a:cs typeface="Arial" panose="020B0604020202020204" pitchFamily="34" charset="0"/>
              <a:sym typeface="Arial"/>
            </a:endParaRPr>
          </a:p>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Input	        to your machine to clone Gmail’s page</a:t>
            </a:r>
          </a:p>
          <a:p>
            <a:pPr marL="285744" indent="-285744">
              <a:buClr>
                <a:schemeClr val="accent1"/>
              </a:buClr>
              <a:buSzPts val="2000"/>
              <a:buFont typeface="Arial"/>
              <a:buChar char="•"/>
            </a:pPr>
            <a:endParaRPr lang="en-US" sz="2000" dirty="0">
              <a:latin typeface="Arial" panose="020B0604020202020204" pitchFamily="34" charset="0"/>
              <a:ea typeface="Arial"/>
              <a:cs typeface="Arial" panose="020B0604020202020204" pitchFamily="34" charset="0"/>
              <a:sym typeface="Arial"/>
            </a:endParaRPr>
          </a:p>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Hit Enter when prompted for acknowledgment</a:t>
            </a:r>
          </a:p>
          <a:p>
            <a:pPr marL="285744" indent="-285744">
              <a:buClr>
                <a:schemeClr val="accent1"/>
              </a:buClr>
              <a:buSzPts val="2000"/>
              <a:buFont typeface="Arial"/>
              <a:buChar char="•"/>
            </a:pPr>
            <a:endParaRPr lang="en-US" sz="2000" dirty="0">
              <a:latin typeface="Arial" panose="020B0604020202020204" pitchFamily="34" charset="0"/>
              <a:ea typeface="Arial"/>
              <a:cs typeface="Arial" panose="020B0604020202020204" pitchFamily="34" charset="0"/>
              <a:sym typeface="Arial"/>
            </a:endParaRPr>
          </a:p>
        </p:txBody>
      </p:sp>
      <p:graphicFrame>
        <p:nvGraphicFramePr>
          <p:cNvPr id="3" name="Table 2">
            <a:extLst>
              <a:ext uri="{FF2B5EF4-FFF2-40B4-BE49-F238E27FC236}">
                <a16:creationId xmlns:a16="http://schemas.microsoft.com/office/drawing/2014/main" id="{96E84E23-7569-49BB-82B8-75C356DE16D6}"/>
              </a:ext>
            </a:extLst>
          </p:cNvPr>
          <p:cNvGraphicFramePr>
            <a:graphicFrameLocks noGrp="1"/>
          </p:cNvGraphicFramePr>
          <p:nvPr>
            <p:extLst>
              <p:ext uri="{D42A27DB-BD31-4B8C-83A1-F6EECF244321}">
                <p14:modId xmlns:p14="http://schemas.microsoft.com/office/powerpoint/2010/main" val="737715476"/>
              </p:ext>
            </p:extLst>
          </p:nvPr>
        </p:nvGraphicFramePr>
        <p:xfrm>
          <a:off x="2172953" y="1916747"/>
          <a:ext cx="1983077" cy="412568"/>
        </p:xfrm>
        <a:graphic>
          <a:graphicData uri="http://schemas.openxmlformats.org/drawingml/2006/table">
            <a:tbl>
              <a:tblPr/>
              <a:tblGrid>
                <a:gridCol w="1983077">
                  <a:extLst>
                    <a:ext uri="{9D8B030D-6E8A-4147-A177-3AD203B41FA5}">
                      <a16:colId xmlns:a16="http://schemas.microsoft.com/office/drawing/2014/main" val="3231375525"/>
                    </a:ext>
                  </a:extLst>
                </a:gridCol>
              </a:tblGrid>
              <a:tr h="288471">
                <a:tc>
                  <a:txBody>
                    <a:bodyPr/>
                    <a:lstStyle/>
                    <a:p>
                      <a:pPr algn="ctr" rtl="0" fontAlgn="ctr">
                        <a:spcBef>
                          <a:spcPts val="0"/>
                        </a:spcBef>
                        <a:spcAft>
                          <a:spcPts val="0"/>
                        </a:spcAft>
                      </a:pPr>
                      <a:r>
                        <a:rPr lang="en-SG" sz="2350" b="0" i="0" u="none" strike="noStrike" dirty="0">
                          <a:solidFill>
                            <a:srgbClr val="000000"/>
                          </a:solidFill>
                          <a:effectLst/>
                          <a:latin typeface="Consolas" panose="020B0609020204030204" pitchFamily="49" charset="0"/>
                        </a:rPr>
                        <a:t>&lt;IP </a:t>
                      </a:r>
                      <a:r>
                        <a:rPr lang="en-SG" sz="2350" b="0" i="0" u="none" strike="noStrike" dirty="0" err="1">
                          <a:solidFill>
                            <a:srgbClr val="000000"/>
                          </a:solidFill>
                          <a:effectLst/>
                          <a:latin typeface="Consolas" panose="020B0609020204030204" pitchFamily="49" charset="0"/>
                        </a:rPr>
                        <a:t>addr</a:t>
                      </a:r>
                      <a:r>
                        <a:rPr lang="en-SG" sz="2350" b="0" i="0" u="none" strike="noStrike" dirty="0">
                          <a:solidFill>
                            <a:srgbClr val="000000"/>
                          </a:solidFill>
                          <a:effectLst/>
                          <a:latin typeface="Consolas" panose="020B0609020204030204" pitchFamily="49" charset="0"/>
                        </a:rPr>
                        <a:t>&gt;</a:t>
                      </a:r>
                      <a:endParaRPr lang="en-SG" dirty="0">
                        <a:effectLst/>
                      </a:endParaRPr>
                    </a:p>
                  </a:txBody>
                  <a:tcPr marL="54429" marR="54429" marT="27214" marB="27214" anchor="ctr">
                    <a:lnL w="5443" cap="flat" cmpd="sng" algn="ctr">
                      <a:solidFill>
                        <a:srgbClr val="000000"/>
                      </a:solidFill>
                      <a:prstDash val="solid"/>
                      <a:round/>
                      <a:headEnd type="none" w="med" len="med"/>
                      <a:tailEnd type="none" w="med" len="med"/>
                    </a:lnL>
                    <a:lnR w="5443" cap="flat" cmpd="sng" algn="ctr">
                      <a:solidFill>
                        <a:srgbClr val="000000"/>
                      </a:solidFill>
                      <a:prstDash val="solid"/>
                      <a:round/>
                      <a:headEnd type="none" w="med" len="med"/>
                      <a:tailEnd type="none" w="med" len="med"/>
                    </a:lnR>
                    <a:lnT w="5443" cap="flat" cmpd="sng" algn="ctr">
                      <a:solidFill>
                        <a:srgbClr val="000000"/>
                      </a:solidFill>
                      <a:prstDash val="solid"/>
                      <a:round/>
                      <a:headEnd type="none" w="med" len="med"/>
                      <a:tailEnd type="none" w="med" len="med"/>
                    </a:lnT>
                    <a:lnB w="5443"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4037249733"/>
                  </a:ext>
                </a:extLst>
              </a:tr>
            </a:tbl>
          </a:graphicData>
        </a:graphic>
      </p:graphicFrame>
      <p:graphicFrame>
        <p:nvGraphicFramePr>
          <p:cNvPr id="6" name="Table 5">
            <a:extLst>
              <a:ext uri="{FF2B5EF4-FFF2-40B4-BE49-F238E27FC236}">
                <a16:creationId xmlns:a16="http://schemas.microsoft.com/office/drawing/2014/main" id="{6DB99C2C-0B0C-413B-B43E-25C2439B3DF2}"/>
              </a:ext>
            </a:extLst>
          </p:cNvPr>
          <p:cNvGraphicFramePr>
            <a:graphicFrameLocks noGrp="1"/>
          </p:cNvGraphicFramePr>
          <p:nvPr>
            <p:extLst>
              <p:ext uri="{D42A27DB-BD31-4B8C-83A1-F6EECF244321}">
                <p14:modId xmlns:p14="http://schemas.microsoft.com/office/powerpoint/2010/main" val="780724677"/>
              </p:ext>
            </p:extLst>
          </p:nvPr>
        </p:nvGraphicFramePr>
        <p:xfrm>
          <a:off x="2077068" y="2859270"/>
          <a:ext cx="413657" cy="412568"/>
        </p:xfrm>
        <a:graphic>
          <a:graphicData uri="http://schemas.openxmlformats.org/drawingml/2006/table">
            <a:tbl>
              <a:tblPr/>
              <a:tblGrid>
                <a:gridCol w="413657">
                  <a:extLst>
                    <a:ext uri="{9D8B030D-6E8A-4147-A177-3AD203B41FA5}">
                      <a16:colId xmlns:a16="http://schemas.microsoft.com/office/drawing/2014/main" val="900128043"/>
                    </a:ext>
                  </a:extLst>
                </a:gridCol>
              </a:tblGrid>
              <a:tr h="288471">
                <a:tc>
                  <a:txBody>
                    <a:bodyPr/>
                    <a:lstStyle/>
                    <a:p>
                      <a:pPr algn="ctr" rtl="0" fontAlgn="ctr">
                        <a:spcBef>
                          <a:spcPts val="0"/>
                        </a:spcBef>
                        <a:spcAft>
                          <a:spcPts val="0"/>
                        </a:spcAft>
                      </a:pPr>
                      <a:r>
                        <a:rPr lang="en-SG" sz="2350" b="0" i="0" u="none" strike="noStrike" dirty="0">
                          <a:solidFill>
                            <a:srgbClr val="000000"/>
                          </a:solidFill>
                          <a:effectLst/>
                          <a:latin typeface="Consolas" panose="020B0609020204030204" pitchFamily="49" charset="0"/>
                        </a:rPr>
                        <a:t>2</a:t>
                      </a:r>
                      <a:endParaRPr lang="en-SG" dirty="0">
                        <a:effectLst/>
                      </a:endParaRPr>
                    </a:p>
                  </a:txBody>
                  <a:tcPr marL="54429" marR="54429" marT="27214" marB="27214" anchor="ctr">
                    <a:lnL w="7255" cap="flat" cmpd="sng" algn="ctr">
                      <a:solidFill>
                        <a:srgbClr val="FFFFFF"/>
                      </a:solidFill>
                      <a:prstDash val="solid"/>
                      <a:round/>
                      <a:headEnd type="none" w="med" len="med"/>
                      <a:tailEnd type="none" w="med" len="med"/>
                    </a:lnL>
                    <a:lnR w="7255" cap="flat" cmpd="sng" algn="ctr">
                      <a:solidFill>
                        <a:srgbClr val="FFFFFF"/>
                      </a:solidFill>
                      <a:prstDash val="solid"/>
                      <a:round/>
                      <a:headEnd type="none" w="med" len="med"/>
                      <a:tailEnd type="none" w="med" len="med"/>
                    </a:lnR>
                    <a:lnT w="7255" cap="flat" cmpd="sng" algn="ctr">
                      <a:solidFill>
                        <a:srgbClr val="FFFFFF"/>
                      </a:solidFill>
                      <a:prstDash val="solid"/>
                      <a:round/>
                      <a:headEnd type="none" w="med" len="med"/>
                      <a:tailEnd type="none" w="med" len="med"/>
                    </a:lnT>
                    <a:lnB w="21771" cap="flat" cmpd="sng" algn="ctr">
                      <a:solidFill>
                        <a:srgbClr val="FFFFFF"/>
                      </a:solidFill>
                      <a:prstDash val="solid"/>
                      <a:round/>
                      <a:headEnd type="none" w="med" len="med"/>
                      <a:tailEnd type="none" w="med" len="med"/>
                    </a:lnB>
                    <a:solidFill>
                      <a:srgbClr val="D8D8D8"/>
                    </a:solidFill>
                  </a:tcPr>
                </a:tc>
                <a:extLst>
                  <a:ext uri="{0D108BD9-81ED-4DB2-BD59-A6C34878D82A}">
                    <a16:rowId xmlns:a16="http://schemas.microsoft.com/office/drawing/2014/main" val="2709603594"/>
                  </a:ext>
                </a:extLst>
              </a:tr>
            </a:tbl>
          </a:graphicData>
        </a:graphic>
      </p:graphicFrame>
      <p:pic>
        <p:nvPicPr>
          <p:cNvPr id="22532" name="Picture 4">
            <a:extLst>
              <a:ext uri="{FF2B5EF4-FFF2-40B4-BE49-F238E27FC236}">
                <a16:creationId xmlns:a16="http://schemas.microsoft.com/office/drawing/2014/main" id="{E99CCD06-665B-4952-8347-705200675C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4759" y="3891382"/>
            <a:ext cx="6683509" cy="2326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175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a:xfrm>
            <a:off x="1066800" y="295149"/>
            <a:ext cx="10058400" cy="1450757"/>
          </a:xfrm>
        </p:spPr>
        <p:txBody>
          <a:bodyPr/>
          <a:lstStyle/>
          <a:p>
            <a:r>
              <a:rPr lang="en-US" dirty="0"/>
              <a:t>Hands-On Session</a:t>
            </a:r>
            <a:endParaRPr lang="en-SG" dirty="0"/>
          </a:p>
        </p:txBody>
      </p:sp>
      <p:sp>
        <p:nvSpPr>
          <p:cNvPr id="5" name="Rectangle 1">
            <a:extLst>
              <a:ext uri="{FF2B5EF4-FFF2-40B4-BE49-F238E27FC236}">
                <a16:creationId xmlns:a16="http://schemas.microsoft.com/office/drawing/2014/main" id="{D2CEFF31-0345-4B83-84DB-F3B4BEF2ABF9}"/>
              </a:ext>
            </a:extLst>
          </p:cNvPr>
          <p:cNvSpPr>
            <a:spLocks noChangeArrowheads="1"/>
          </p:cNvSpPr>
          <p:nvPr/>
        </p:nvSpPr>
        <p:spPr bwMode="auto">
          <a:xfrm>
            <a:off x="5653088" y="34718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SG"/>
          </a:p>
        </p:txBody>
      </p:sp>
      <p:sp>
        <p:nvSpPr>
          <p:cNvPr id="8" name="Google Shape;166;p4">
            <a:extLst>
              <a:ext uri="{FF2B5EF4-FFF2-40B4-BE49-F238E27FC236}">
                <a16:creationId xmlns:a16="http://schemas.microsoft.com/office/drawing/2014/main" id="{478F2121-3B37-48A4-8B52-FED6CB53DC83}"/>
              </a:ext>
            </a:extLst>
          </p:cNvPr>
          <p:cNvSpPr txBox="1"/>
          <p:nvPr/>
        </p:nvSpPr>
        <p:spPr>
          <a:xfrm>
            <a:off x="1086933" y="1737361"/>
            <a:ext cx="10018133" cy="3838915"/>
          </a:xfrm>
          <a:prstGeom prst="rect">
            <a:avLst/>
          </a:prstGeom>
          <a:noFill/>
          <a:ln>
            <a:noFill/>
          </a:ln>
        </p:spPr>
        <p:txBody>
          <a:bodyPr spcFirstLastPara="1" wrap="square" lIns="45700" tIns="22850" rIns="45700" bIns="22850" anchor="t" anchorCtr="0">
            <a:noAutofit/>
          </a:bodyPr>
          <a:lstStyle/>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At this point, you can navigate to the IP in your browser and see a cloned site of google</a:t>
            </a:r>
          </a:p>
          <a:p>
            <a:pPr marL="285744" indent="-285744">
              <a:buClr>
                <a:schemeClr val="accent1"/>
              </a:buClr>
              <a:buSzPts val="2000"/>
              <a:buFont typeface="Arial"/>
              <a:buChar char="•"/>
            </a:pPr>
            <a:endParaRPr lang="en-US" sz="2000" dirty="0">
              <a:latin typeface="Arial" panose="020B0604020202020204" pitchFamily="34" charset="0"/>
              <a:ea typeface="Arial"/>
              <a:cs typeface="Arial" panose="020B0604020202020204" pitchFamily="34" charset="0"/>
              <a:sym typeface="Arial"/>
            </a:endParaRPr>
          </a:p>
          <a:p>
            <a:pPr marL="285744" indent="-285744">
              <a:buClr>
                <a:schemeClr val="accent1"/>
              </a:buClr>
              <a:buSzPts val="2000"/>
              <a:buFont typeface="Arial"/>
              <a:buChar char="•"/>
            </a:pPr>
            <a:r>
              <a:rPr lang="en-US" sz="2000" dirty="0">
                <a:latin typeface="Arial" panose="020B0604020202020204" pitchFamily="34" charset="0"/>
                <a:ea typeface="Arial"/>
                <a:cs typeface="Arial" panose="020B0604020202020204" pitchFamily="34" charset="0"/>
                <a:sym typeface="Arial"/>
              </a:rPr>
              <a:t>Try entering some dummy/fake account detail and see it being captured by </a:t>
            </a:r>
            <a:r>
              <a:rPr lang="en-US" sz="2000" dirty="0" err="1">
                <a:latin typeface="Arial" panose="020B0604020202020204" pitchFamily="34" charset="0"/>
                <a:ea typeface="Arial"/>
                <a:cs typeface="Arial" panose="020B0604020202020204" pitchFamily="34" charset="0"/>
                <a:sym typeface="Arial"/>
              </a:rPr>
              <a:t>setoolkit</a:t>
            </a:r>
            <a:r>
              <a:rPr lang="en-US" sz="2000" dirty="0">
                <a:latin typeface="Arial" panose="020B0604020202020204" pitchFamily="34" charset="0"/>
                <a:ea typeface="Arial"/>
                <a:cs typeface="Arial" panose="020B0604020202020204" pitchFamily="34" charset="0"/>
                <a:sym typeface="Arial"/>
              </a:rPr>
              <a:t> in the background</a:t>
            </a:r>
          </a:p>
        </p:txBody>
      </p:sp>
      <p:pic>
        <p:nvPicPr>
          <p:cNvPr id="7" name="Picture 6">
            <a:extLst>
              <a:ext uri="{FF2B5EF4-FFF2-40B4-BE49-F238E27FC236}">
                <a16:creationId xmlns:a16="http://schemas.microsoft.com/office/drawing/2014/main" id="{32E5F053-F3EC-4E6E-9B46-033BF552A22C}"/>
              </a:ext>
            </a:extLst>
          </p:cNvPr>
          <p:cNvPicPr>
            <a:picLocks noChangeAspect="1"/>
          </p:cNvPicPr>
          <p:nvPr/>
        </p:nvPicPr>
        <p:blipFill rotWithShape="1">
          <a:blip r:embed="rId2"/>
          <a:srcRect l="9142" t="39717" r="76495" b="35581"/>
          <a:stretch/>
        </p:blipFill>
        <p:spPr>
          <a:xfrm>
            <a:off x="3774442" y="3111116"/>
            <a:ext cx="5107156" cy="3087958"/>
          </a:xfrm>
          <a:prstGeom prst="rect">
            <a:avLst/>
          </a:prstGeom>
        </p:spPr>
      </p:pic>
    </p:spTree>
    <p:extLst>
      <p:ext uri="{BB962C8B-B14F-4D97-AF65-F5344CB8AC3E}">
        <p14:creationId xmlns:p14="http://schemas.microsoft.com/office/powerpoint/2010/main" val="1959642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2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Hackers and Attackers</a:t>
            </a:r>
            <a:endParaRPr/>
          </a:p>
        </p:txBody>
      </p:sp>
      <p:sp>
        <p:nvSpPr>
          <p:cNvPr id="388" name="Google Shape;388;p22"/>
          <p:cNvSpPr txBox="1">
            <a:spLocks noGrp="1"/>
          </p:cNvSpPr>
          <p:nvPr>
            <p:ph type="body" idx="1"/>
          </p:nvPr>
        </p:nvSpPr>
        <p:spPr>
          <a:xfrm>
            <a:off x="1280555" y="4405030"/>
            <a:ext cx="5092772" cy="1766431"/>
          </a:xfrm>
          <a:prstGeom prst="rect">
            <a:avLst/>
          </a:prstGeom>
          <a:noFill/>
          <a:ln>
            <a:noFill/>
          </a:ln>
        </p:spPr>
        <p:txBody>
          <a:bodyPr spcFirstLastPara="1" wrap="square" lIns="0" tIns="45700" rIns="0" bIns="45700" anchor="t" anchorCtr="0">
            <a:noAutofit/>
          </a:bodyPr>
          <a:lstStyle/>
          <a:p>
            <a:pPr marL="0" lvl="0" indent="0" algn="ctr" rtl="0">
              <a:lnSpc>
                <a:spcPct val="100000"/>
              </a:lnSpc>
              <a:spcBef>
                <a:spcPts val="0"/>
              </a:spcBef>
              <a:spcAft>
                <a:spcPts val="0"/>
              </a:spcAft>
              <a:buSzPts val="2000"/>
              <a:buNone/>
            </a:pPr>
            <a:r>
              <a:rPr lang="en-US" b="1" dirty="0"/>
              <a:t>Hackers</a:t>
            </a:r>
          </a:p>
          <a:p>
            <a:pPr marL="0" lvl="0" indent="0" algn="ctr" rtl="0">
              <a:lnSpc>
                <a:spcPct val="100000"/>
              </a:lnSpc>
              <a:spcBef>
                <a:spcPts val="0"/>
              </a:spcBef>
              <a:spcAft>
                <a:spcPts val="0"/>
              </a:spcAft>
              <a:buSzPts val="2000"/>
              <a:buNone/>
            </a:pPr>
            <a:r>
              <a:rPr lang="en-US" dirty="0"/>
              <a:t>Individuals who have the knowledge and skills to gain access into the computer systems and related entities through unauthorized means</a:t>
            </a:r>
            <a:endParaRPr dirty="0"/>
          </a:p>
        </p:txBody>
      </p:sp>
      <p:grpSp>
        <p:nvGrpSpPr>
          <p:cNvPr id="389" name="Google Shape;389;p22"/>
          <p:cNvGrpSpPr/>
          <p:nvPr/>
        </p:nvGrpSpPr>
        <p:grpSpPr>
          <a:xfrm>
            <a:off x="7606397" y="2005784"/>
            <a:ext cx="2817964" cy="3361922"/>
            <a:chOff x="7170649" y="1963716"/>
            <a:chExt cx="2817964" cy="3361922"/>
          </a:xfrm>
        </p:grpSpPr>
        <p:pic>
          <p:nvPicPr>
            <p:cNvPr id="390" name="Google Shape;390;p22"/>
            <p:cNvPicPr preferRelativeResize="0"/>
            <p:nvPr/>
          </p:nvPicPr>
          <p:blipFill rotWithShape="1">
            <a:blip r:embed="rId3">
              <a:alphaModFix/>
            </a:blip>
            <a:srcRect b="13091"/>
            <a:stretch/>
          </p:blipFill>
          <p:spPr>
            <a:xfrm>
              <a:off x="7504982" y="1963716"/>
              <a:ext cx="2149298" cy="2252565"/>
            </a:xfrm>
            <a:prstGeom prst="rect">
              <a:avLst/>
            </a:prstGeom>
            <a:noFill/>
            <a:ln>
              <a:noFill/>
            </a:ln>
          </p:spPr>
        </p:pic>
        <p:sp>
          <p:nvSpPr>
            <p:cNvPr id="391" name="Google Shape;391;p22"/>
            <p:cNvSpPr txBox="1"/>
            <p:nvPr/>
          </p:nvSpPr>
          <p:spPr>
            <a:xfrm>
              <a:off x="7170649" y="4362962"/>
              <a:ext cx="2817964" cy="962676"/>
            </a:xfrm>
            <a:prstGeom prst="rect">
              <a:avLst/>
            </a:prstGeom>
            <a:noFill/>
            <a:ln>
              <a:noFill/>
            </a:ln>
          </p:spPr>
          <p:txBody>
            <a:bodyPr spcFirstLastPara="1" wrap="square" lIns="0" tIns="45700" rIns="0" bIns="45700" anchor="t" anchorCtr="0">
              <a:noAutofit/>
            </a:bodyPr>
            <a:lstStyle/>
            <a:p>
              <a:pPr marL="0" marR="0" lvl="0" indent="0" algn="ctr" rtl="0">
                <a:lnSpc>
                  <a:spcPct val="100000"/>
                </a:lnSpc>
                <a:spcBef>
                  <a:spcPts val="0"/>
                </a:spcBef>
                <a:spcAft>
                  <a:spcPts val="0"/>
                </a:spcAft>
                <a:buClr>
                  <a:schemeClr val="accent1"/>
                </a:buClr>
                <a:buSzPts val="2000"/>
                <a:buFont typeface="Arial"/>
                <a:buNone/>
              </a:pPr>
              <a:r>
                <a:rPr lang="en-US" sz="2000" b="1" i="0" u="none" strike="noStrike" cap="none" dirty="0">
                  <a:solidFill>
                    <a:srgbClr val="3F3F3F"/>
                  </a:solidFill>
                  <a:latin typeface="Arial"/>
                  <a:ea typeface="Arial"/>
                  <a:cs typeface="Arial"/>
                  <a:sym typeface="Arial"/>
                </a:rPr>
                <a:t>Attackers</a:t>
              </a:r>
              <a:endParaRPr lang="en-US" dirty="0"/>
            </a:p>
            <a:p>
              <a:pPr marL="0" marR="0" lvl="0" indent="0" algn="ctr" rtl="0">
                <a:lnSpc>
                  <a:spcPct val="100000"/>
                </a:lnSpc>
                <a:spcBef>
                  <a:spcPts val="0"/>
                </a:spcBef>
                <a:spcAft>
                  <a:spcPts val="0"/>
                </a:spcAft>
                <a:buClr>
                  <a:schemeClr val="accent1"/>
                </a:buClr>
                <a:buSzPts val="2000"/>
                <a:buFont typeface="Arial"/>
                <a:buNone/>
              </a:pPr>
              <a:r>
                <a:rPr lang="en-US" sz="1800" b="0" i="0" u="none" strike="noStrike" cap="none" dirty="0">
                  <a:solidFill>
                    <a:srgbClr val="3F3F3F"/>
                  </a:solidFill>
                  <a:latin typeface="Arial"/>
                  <a:ea typeface="Arial"/>
                  <a:cs typeface="Arial"/>
                  <a:sym typeface="Arial"/>
                </a:rPr>
                <a:t>Hackers with malicious intents</a:t>
              </a:r>
              <a:endParaRPr sz="1400" b="0" i="0" u="none" strike="noStrike" cap="none" dirty="0">
                <a:solidFill>
                  <a:srgbClr val="000000"/>
                </a:solidFill>
                <a:latin typeface="Arial"/>
                <a:ea typeface="Arial"/>
                <a:cs typeface="Arial"/>
                <a:sym typeface="Arial"/>
              </a:endParaRPr>
            </a:p>
          </p:txBody>
        </p:sp>
      </p:grpSp>
      <p:pic>
        <p:nvPicPr>
          <p:cNvPr id="392" name="Google Shape;392;p22"/>
          <p:cNvPicPr preferRelativeResize="0"/>
          <p:nvPr/>
        </p:nvPicPr>
        <p:blipFill rotWithShape="1">
          <a:blip r:embed="rId4">
            <a:alphaModFix/>
          </a:blip>
          <a:srcRect l="11263" t="9046" r="10672" b="10197"/>
          <a:stretch/>
        </p:blipFill>
        <p:spPr>
          <a:xfrm>
            <a:off x="2817650" y="2005783"/>
            <a:ext cx="2018582" cy="225256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8">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2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just" rtl="0">
              <a:lnSpc>
                <a:spcPct val="85000"/>
              </a:lnSpc>
              <a:spcBef>
                <a:spcPts val="0"/>
              </a:spcBef>
              <a:spcAft>
                <a:spcPts val="0"/>
              </a:spcAft>
              <a:buClr>
                <a:srgbClr val="3F3F3F"/>
              </a:buClr>
              <a:buSzPts val="4800"/>
              <a:buFont typeface="Arial"/>
              <a:buNone/>
            </a:pPr>
            <a:r>
              <a:rPr lang="en-US" dirty="0"/>
              <a:t>Types of Hacker</a:t>
            </a:r>
            <a:endParaRPr dirty="0"/>
          </a:p>
        </p:txBody>
      </p:sp>
      <p:sp>
        <p:nvSpPr>
          <p:cNvPr id="398" name="Google Shape;398;p23"/>
          <p:cNvSpPr txBox="1">
            <a:spLocks noGrp="1"/>
          </p:cNvSpPr>
          <p:nvPr>
            <p:ph type="body" idx="1"/>
          </p:nvPr>
        </p:nvSpPr>
        <p:spPr>
          <a:xfrm>
            <a:off x="1198459" y="1895205"/>
            <a:ext cx="10058400" cy="4023360"/>
          </a:xfrm>
          <a:prstGeom prst="rect">
            <a:avLst/>
          </a:prstGeom>
          <a:noFill/>
          <a:ln>
            <a:noFill/>
          </a:ln>
        </p:spPr>
        <p:txBody>
          <a:bodyPr spcFirstLastPara="1" wrap="square" lIns="0" tIns="45700" rIns="0" bIns="45700" anchor="t" anchorCtr="0">
            <a:noAutofit/>
          </a:bodyPr>
          <a:lstStyle/>
          <a:p>
            <a:pPr lvl="0" indent="-457200" algn="just" rtl="0">
              <a:lnSpc>
                <a:spcPct val="150000"/>
              </a:lnSpc>
              <a:spcBef>
                <a:spcPts val="0"/>
              </a:spcBef>
              <a:spcAft>
                <a:spcPts val="0"/>
              </a:spcAft>
              <a:buClrTx/>
              <a:buSzPts val="2000"/>
              <a:buFont typeface="+mj-lt"/>
              <a:buAutoNum type="arabicPeriod"/>
            </a:pPr>
            <a:r>
              <a:rPr lang="en-US" b="1" dirty="0"/>
              <a:t>White Hat</a:t>
            </a:r>
            <a:endParaRPr lang="en-US" dirty="0"/>
          </a:p>
          <a:p>
            <a:pPr lvl="1" indent="-457200" algn="just">
              <a:lnSpc>
                <a:spcPct val="100000"/>
              </a:lnSpc>
              <a:spcBef>
                <a:spcPts val="0"/>
              </a:spcBef>
              <a:buClrTx/>
              <a:buSzPts val="2000"/>
              <a:buFont typeface="Wingdings" panose="05000000000000000000" pitchFamily="2" charset="2"/>
              <a:buChar char="§"/>
            </a:pPr>
            <a:r>
              <a:rPr lang="en-US" dirty="0"/>
              <a:t>Discovers and exposes security flaws so that the originator can fix before they become widespread problems</a:t>
            </a:r>
          </a:p>
          <a:p>
            <a:pPr lvl="1" indent="-457200" algn="just">
              <a:lnSpc>
                <a:spcPct val="100000"/>
              </a:lnSpc>
              <a:spcBef>
                <a:spcPts val="0"/>
              </a:spcBef>
              <a:buClrTx/>
              <a:buSzPts val="2000"/>
              <a:buFont typeface="Wingdings" panose="05000000000000000000" pitchFamily="2" charset="2"/>
              <a:buChar char="§"/>
            </a:pPr>
            <a:r>
              <a:rPr lang="en-US" dirty="0"/>
              <a:t>Security Professional/Ethical Hacker</a:t>
            </a:r>
          </a:p>
          <a:p>
            <a:pPr lvl="1" indent="-457200" algn="just">
              <a:lnSpc>
                <a:spcPct val="100000"/>
              </a:lnSpc>
              <a:spcBef>
                <a:spcPts val="0"/>
              </a:spcBef>
              <a:buClrTx/>
              <a:buSzPts val="2000"/>
              <a:buFont typeface="Courier New" panose="02070309020205020404" pitchFamily="49" charset="0"/>
              <a:buChar char="o"/>
            </a:pPr>
            <a:endParaRPr lang="en-US" dirty="0"/>
          </a:p>
          <a:p>
            <a:pPr indent="-457200" algn="just">
              <a:lnSpc>
                <a:spcPct val="100000"/>
              </a:lnSpc>
              <a:spcBef>
                <a:spcPts val="0"/>
              </a:spcBef>
              <a:buClrTx/>
              <a:buSzPts val="2000"/>
              <a:buFont typeface="+mj-lt"/>
              <a:buAutoNum type="arabicPeriod"/>
            </a:pPr>
            <a:r>
              <a:rPr lang="en-US" b="1" dirty="0"/>
              <a:t>Black Hat</a:t>
            </a:r>
            <a:endParaRPr lang="en-US" dirty="0"/>
          </a:p>
          <a:p>
            <a:pPr lvl="1" indent="-457200" algn="just">
              <a:lnSpc>
                <a:spcPct val="100000"/>
              </a:lnSpc>
              <a:spcBef>
                <a:spcPts val="0"/>
              </a:spcBef>
              <a:buClrTx/>
              <a:buSzPts val="2000"/>
              <a:buFont typeface="Wingdings" panose="05000000000000000000" pitchFamily="2" charset="2"/>
              <a:buChar char="§"/>
            </a:pPr>
            <a:r>
              <a:rPr lang="en-US" dirty="0"/>
              <a:t>Discovers and exposes security vulnerabilities for monetary gains and/or for malicious purpose</a:t>
            </a:r>
            <a:endParaRPr dirty="0"/>
          </a:p>
        </p:txBody>
      </p:sp>
      <p:pic>
        <p:nvPicPr>
          <p:cNvPr id="399" name="Google Shape;399;p23"/>
          <p:cNvPicPr preferRelativeResize="0"/>
          <p:nvPr/>
        </p:nvPicPr>
        <p:blipFill rotWithShape="1">
          <a:blip r:embed="rId3">
            <a:alphaModFix/>
          </a:blip>
          <a:srcRect/>
          <a:stretch/>
        </p:blipFill>
        <p:spPr>
          <a:xfrm>
            <a:off x="2825129" y="4557173"/>
            <a:ext cx="2282404" cy="1709600"/>
          </a:xfrm>
          <a:prstGeom prst="rect">
            <a:avLst/>
          </a:prstGeom>
          <a:noFill/>
          <a:ln>
            <a:noFill/>
          </a:ln>
        </p:spPr>
      </p:pic>
      <p:pic>
        <p:nvPicPr>
          <p:cNvPr id="400" name="Google Shape;400;p23"/>
          <p:cNvPicPr preferRelativeResize="0"/>
          <p:nvPr/>
        </p:nvPicPr>
        <p:blipFill rotWithShape="1">
          <a:blip r:embed="rId4">
            <a:alphaModFix/>
          </a:blip>
          <a:srcRect/>
          <a:stretch/>
        </p:blipFill>
        <p:spPr>
          <a:xfrm>
            <a:off x="7447540" y="4527440"/>
            <a:ext cx="2086426" cy="173933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Categories of Attacker</a:t>
            </a:r>
            <a:endParaRPr/>
          </a:p>
        </p:txBody>
      </p:sp>
      <p:grpSp>
        <p:nvGrpSpPr>
          <p:cNvPr id="406" name="Google Shape;406;p24"/>
          <p:cNvGrpSpPr/>
          <p:nvPr/>
        </p:nvGrpSpPr>
        <p:grpSpPr>
          <a:xfrm>
            <a:off x="531587" y="1990661"/>
            <a:ext cx="1141575" cy="1097009"/>
            <a:chOff x="851860" y="2181199"/>
            <a:chExt cx="1548924" cy="1488457"/>
          </a:xfrm>
        </p:grpSpPr>
        <p:pic>
          <p:nvPicPr>
            <p:cNvPr id="407" name="Google Shape;407;p24"/>
            <p:cNvPicPr preferRelativeResize="0"/>
            <p:nvPr/>
          </p:nvPicPr>
          <p:blipFill rotWithShape="1">
            <a:blip r:embed="rId3">
              <a:alphaModFix/>
            </a:blip>
            <a:srcRect/>
            <a:stretch/>
          </p:blipFill>
          <p:spPr>
            <a:xfrm>
              <a:off x="851860" y="2181199"/>
              <a:ext cx="907492" cy="1488457"/>
            </a:xfrm>
            <a:prstGeom prst="rect">
              <a:avLst/>
            </a:prstGeom>
            <a:noFill/>
            <a:ln>
              <a:noFill/>
            </a:ln>
          </p:spPr>
        </p:pic>
        <p:pic>
          <p:nvPicPr>
            <p:cNvPr id="408" name="Google Shape;408;p24"/>
            <p:cNvPicPr preferRelativeResize="0"/>
            <p:nvPr/>
          </p:nvPicPr>
          <p:blipFill rotWithShape="1">
            <a:blip r:embed="rId4">
              <a:alphaModFix/>
            </a:blip>
            <a:srcRect/>
            <a:stretch/>
          </p:blipFill>
          <p:spPr>
            <a:xfrm>
              <a:off x="1611952" y="2181199"/>
              <a:ext cx="788832" cy="788832"/>
            </a:xfrm>
            <a:prstGeom prst="rect">
              <a:avLst/>
            </a:prstGeom>
            <a:noFill/>
            <a:ln>
              <a:noFill/>
            </a:ln>
          </p:spPr>
        </p:pic>
      </p:grpSp>
      <p:pic>
        <p:nvPicPr>
          <p:cNvPr id="409" name="Google Shape;409;p24"/>
          <p:cNvPicPr preferRelativeResize="0"/>
          <p:nvPr/>
        </p:nvPicPr>
        <p:blipFill rotWithShape="1">
          <a:blip r:embed="rId5">
            <a:alphaModFix/>
          </a:blip>
          <a:srcRect/>
          <a:stretch/>
        </p:blipFill>
        <p:spPr>
          <a:xfrm>
            <a:off x="386107" y="3316097"/>
            <a:ext cx="1296680" cy="1296680"/>
          </a:xfrm>
          <a:prstGeom prst="rect">
            <a:avLst/>
          </a:prstGeom>
          <a:noFill/>
          <a:ln>
            <a:noFill/>
          </a:ln>
        </p:spPr>
      </p:pic>
      <p:sp>
        <p:nvSpPr>
          <p:cNvPr id="410" name="Google Shape;410;p24"/>
          <p:cNvSpPr txBox="1"/>
          <p:nvPr/>
        </p:nvSpPr>
        <p:spPr>
          <a:xfrm>
            <a:off x="1230861" y="1990661"/>
            <a:ext cx="3982309" cy="969496"/>
          </a:xfrm>
          <a:prstGeom prst="rect">
            <a:avLst/>
          </a:prstGeom>
          <a:noFill/>
          <a:ln>
            <a:noFill/>
          </a:ln>
        </p:spPr>
        <p:txBody>
          <a:bodyPr spcFirstLastPara="1" wrap="square" lIns="91425" tIns="45700" rIns="91425" bIns="45700" anchor="t" anchorCtr="0">
            <a:noAutofit/>
          </a:bodyPr>
          <a:lstStyle/>
          <a:p>
            <a:pPr marL="457189" marR="0" lvl="1" indent="0" algn="l" rtl="0">
              <a:lnSpc>
                <a:spcPct val="100000"/>
              </a:lnSpc>
              <a:spcBef>
                <a:spcPts val="0"/>
              </a:spcBef>
              <a:spcAft>
                <a:spcPts val="0"/>
              </a:spcAft>
              <a:buClr>
                <a:srgbClr val="000000"/>
              </a:buClr>
              <a:buSzPts val="1900"/>
              <a:buFont typeface="Arial"/>
              <a:buNone/>
            </a:pPr>
            <a:r>
              <a:rPr lang="en-US" sz="1900" b="1" i="0" u="none" strike="noStrike" cap="none" dirty="0">
                <a:solidFill>
                  <a:schemeClr val="dk1"/>
                </a:solidFill>
                <a:latin typeface="Arial"/>
                <a:ea typeface="Arial"/>
                <a:cs typeface="Arial"/>
                <a:sym typeface="Arial"/>
              </a:rPr>
              <a:t>Cyber Terrorist/Cyber Army: </a:t>
            </a:r>
            <a:endParaRPr sz="1800" b="0" i="0" u="none" strike="noStrike" cap="none" dirty="0">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dirty="0">
                <a:solidFill>
                  <a:schemeClr val="dk1"/>
                </a:solidFill>
                <a:latin typeface="Arial"/>
                <a:ea typeface="Arial"/>
                <a:cs typeface="Arial"/>
                <a:sym typeface="Arial"/>
              </a:rPr>
              <a:t>Nation before self</a:t>
            </a:r>
            <a:endParaRPr sz="1800" b="0" i="0" u="none" strike="noStrike" cap="none" dirty="0">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dirty="0">
                <a:solidFill>
                  <a:schemeClr val="dk1"/>
                </a:solidFill>
                <a:latin typeface="Arial"/>
                <a:ea typeface="Arial"/>
                <a:cs typeface="Arial"/>
                <a:sym typeface="Arial"/>
              </a:rPr>
              <a:t>Cause disruption and chaos </a:t>
            </a:r>
            <a:endParaRPr sz="1800" b="0" i="0" u="none" strike="noStrike" cap="none" dirty="0">
              <a:solidFill>
                <a:schemeClr val="dk1"/>
              </a:solidFill>
              <a:latin typeface="Arial"/>
              <a:ea typeface="Arial"/>
              <a:cs typeface="Arial"/>
              <a:sym typeface="Arial"/>
            </a:endParaRPr>
          </a:p>
        </p:txBody>
      </p:sp>
      <p:sp>
        <p:nvSpPr>
          <p:cNvPr id="411" name="Google Shape;411;p24"/>
          <p:cNvSpPr txBox="1"/>
          <p:nvPr/>
        </p:nvSpPr>
        <p:spPr>
          <a:xfrm>
            <a:off x="1218826" y="3393928"/>
            <a:ext cx="3292889" cy="969496"/>
          </a:xfrm>
          <a:prstGeom prst="rect">
            <a:avLst/>
          </a:prstGeom>
          <a:noFill/>
          <a:ln>
            <a:noFill/>
          </a:ln>
        </p:spPr>
        <p:txBody>
          <a:bodyPr spcFirstLastPara="1" wrap="square" lIns="91425" tIns="45700" rIns="91425" bIns="45700" anchor="t" anchorCtr="0">
            <a:noAutofit/>
          </a:bodyPr>
          <a:lstStyle/>
          <a:p>
            <a:pPr marL="457189" marR="0" lvl="1" indent="0" algn="l" rtl="0">
              <a:lnSpc>
                <a:spcPct val="100000"/>
              </a:lnSpc>
              <a:spcBef>
                <a:spcPts val="0"/>
              </a:spcBef>
              <a:spcAft>
                <a:spcPts val="0"/>
              </a:spcAft>
              <a:buClr>
                <a:srgbClr val="000000"/>
              </a:buClr>
              <a:buSzPts val="1900"/>
              <a:buFont typeface="Arial"/>
              <a:buNone/>
            </a:pPr>
            <a:r>
              <a:rPr lang="en-US" sz="1900" b="1" i="0" u="none" strike="noStrike" cap="none" dirty="0">
                <a:solidFill>
                  <a:schemeClr val="dk1"/>
                </a:solidFill>
                <a:latin typeface="Arial"/>
                <a:ea typeface="Arial"/>
                <a:cs typeface="Arial"/>
                <a:sym typeface="Arial"/>
              </a:rPr>
              <a:t>Data Thief:</a:t>
            </a:r>
            <a:endParaRPr sz="1800" b="0" i="0" u="none" strike="noStrike" cap="none" dirty="0">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dirty="0">
                <a:solidFill>
                  <a:schemeClr val="dk1"/>
                </a:solidFill>
                <a:latin typeface="Arial"/>
                <a:ea typeface="Arial"/>
                <a:cs typeface="Arial"/>
                <a:sym typeface="Arial"/>
              </a:rPr>
              <a:t>Professional black hats </a:t>
            </a:r>
            <a:endParaRPr sz="1800" b="0" i="0" u="none" strike="noStrike" cap="none" dirty="0">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dirty="0">
                <a:solidFill>
                  <a:schemeClr val="dk1"/>
                </a:solidFill>
                <a:latin typeface="Arial"/>
                <a:ea typeface="Arial"/>
                <a:cs typeface="Arial"/>
                <a:sym typeface="Arial"/>
              </a:rPr>
              <a:t>Personal/financial gain</a:t>
            </a:r>
            <a:endParaRPr sz="1800" b="0" i="0" u="none" strike="noStrike" cap="none" dirty="0">
              <a:solidFill>
                <a:schemeClr val="dk1"/>
              </a:solidFill>
              <a:latin typeface="Arial"/>
              <a:ea typeface="Arial"/>
              <a:cs typeface="Arial"/>
              <a:sym typeface="Arial"/>
            </a:endParaRPr>
          </a:p>
        </p:txBody>
      </p:sp>
      <p:sp>
        <p:nvSpPr>
          <p:cNvPr id="412" name="Google Shape;412;p24"/>
          <p:cNvSpPr txBox="1"/>
          <p:nvPr/>
        </p:nvSpPr>
        <p:spPr>
          <a:xfrm>
            <a:off x="1150037" y="4809402"/>
            <a:ext cx="5279009" cy="1261884"/>
          </a:xfrm>
          <a:prstGeom prst="rect">
            <a:avLst/>
          </a:prstGeom>
          <a:noFill/>
          <a:ln>
            <a:noFill/>
          </a:ln>
        </p:spPr>
        <p:txBody>
          <a:bodyPr spcFirstLastPara="1" wrap="square" lIns="91425" tIns="45700" rIns="91425" bIns="45700" anchor="t" anchorCtr="0">
            <a:noAutofit/>
          </a:bodyPr>
          <a:lstStyle/>
          <a:p>
            <a:pPr marL="457189" marR="0" lvl="1" indent="0" algn="l" rtl="0">
              <a:lnSpc>
                <a:spcPct val="100000"/>
              </a:lnSpc>
              <a:spcBef>
                <a:spcPts val="0"/>
              </a:spcBef>
              <a:spcAft>
                <a:spcPts val="0"/>
              </a:spcAft>
              <a:buClr>
                <a:srgbClr val="000000"/>
              </a:buClr>
              <a:buSzPts val="1900"/>
              <a:buFont typeface="Arial"/>
              <a:buNone/>
            </a:pPr>
            <a:r>
              <a:rPr lang="en-US" sz="1900" b="1" i="0" u="none" strike="noStrike" cap="none" dirty="0">
                <a:solidFill>
                  <a:schemeClr val="dk1"/>
                </a:solidFill>
                <a:latin typeface="Arial"/>
                <a:ea typeface="Arial"/>
                <a:cs typeface="Arial"/>
                <a:sym typeface="Arial"/>
              </a:rPr>
              <a:t>Malicious Insiders – </a:t>
            </a:r>
            <a:endParaRPr sz="1800" b="0" i="0" u="none" strike="noStrike" cap="none" dirty="0">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1" i="0" u="none" strike="noStrike" cap="none" dirty="0">
                <a:solidFill>
                  <a:schemeClr val="dk1"/>
                </a:solidFill>
                <a:latin typeface="Arial"/>
                <a:ea typeface="Arial"/>
                <a:cs typeface="Arial"/>
                <a:sym typeface="Arial"/>
              </a:rPr>
              <a:t>Employees and contractors: </a:t>
            </a:r>
            <a:endParaRPr sz="1900" b="0" i="0" u="none" strike="noStrike" cap="none" dirty="0">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dirty="0">
                <a:solidFill>
                  <a:schemeClr val="dk1"/>
                </a:solidFill>
                <a:latin typeface="Arial"/>
                <a:ea typeface="Arial"/>
                <a:cs typeface="Arial"/>
                <a:sym typeface="Arial"/>
              </a:rPr>
              <a:t>Get revenge, cause damage or disruption </a:t>
            </a:r>
            <a:endParaRPr sz="1800" b="0" i="0" u="none" strike="noStrike" cap="none" dirty="0">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dirty="0">
                <a:solidFill>
                  <a:schemeClr val="dk1"/>
                </a:solidFill>
                <a:latin typeface="Arial"/>
                <a:ea typeface="Arial"/>
                <a:cs typeface="Arial"/>
                <a:sym typeface="Arial"/>
              </a:rPr>
              <a:t>Personal satisfaction and/or financial gain</a:t>
            </a:r>
            <a:endParaRPr sz="1800" b="0" i="0" u="none" strike="noStrike" cap="none" dirty="0">
              <a:solidFill>
                <a:schemeClr val="dk1"/>
              </a:solidFill>
              <a:latin typeface="Arial"/>
              <a:ea typeface="Arial"/>
              <a:cs typeface="Arial"/>
              <a:sym typeface="Arial"/>
            </a:endParaRPr>
          </a:p>
        </p:txBody>
      </p:sp>
      <p:pic>
        <p:nvPicPr>
          <p:cNvPr id="413" name="Google Shape;413;p24"/>
          <p:cNvPicPr preferRelativeResize="0"/>
          <p:nvPr/>
        </p:nvPicPr>
        <p:blipFill rotWithShape="1">
          <a:blip r:embed="rId6">
            <a:alphaModFix/>
          </a:blip>
          <a:srcRect/>
          <a:stretch/>
        </p:blipFill>
        <p:spPr>
          <a:xfrm>
            <a:off x="386676" y="4806666"/>
            <a:ext cx="1234091" cy="1234091"/>
          </a:xfrm>
          <a:prstGeom prst="rect">
            <a:avLst/>
          </a:prstGeom>
          <a:noFill/>
          <a:ln>
            <a:noFill/>
          </a:ln>
        </p:spPr>
      </p:pic>
      <p:sp>
        <p:nvSpPr>
          <p:cNvPr id="414" name="Google Shape;414;p24"/>
          <p:cNvSpPr txBox="1"/>
          <p:nvPr/>
        </p:nvSpPr>
        <p:spPr>
          <a:xfrm>
            <a:off x="6731124" y="1894594"/>
            <a:ext cx="5320687" cy="1261884"/>
          </a:xfrm>
          <a:prstGeom prst="rect">
            <a:avLst/>
          </a:prstGeom>
          <a:noFill/>
          <a:ln>
            <a:noFill/>
          </a:ln>
        </p:spPr>
        <p:txBody>
          <a:bodyPr spcFirstLastPara="1" wrap="square" lIns="91425" tIns="45700" rIns="91425" bIns="45700" anchor="t" anchorCtr="0">
            <a:noAutofit/>
          </a:bodyPr>
          <a:lstStyle/>
          <a:p>
            <a:pPr marL="457189" marR="0" lvl="1" indent="0" algn="l" rtl="0">
              <a:lnSpc>
                <a:spcPct val="100000"/>
              </a:lnSpc>
              <a:spcBef>
                <a:spcPts val="0"/>
              </a:spcBef>
              <a:spcAft>
                <a:spcPts val="0"/>
              </a:spcAft>
              <a:buClr>
                <a:srgbClr val="000000"/>
              </a:buClr>
              <a:buSzPts val="1900"/>
              <a:buFont typeface="Arial"/>
              <a:buNone/>
            </a:pPr>
            <a:r>
              <a:rPr lang="en-US" sz="1900" b="1" i="0" u="none" strike="noStrike" cap="none" dirty="0">
                <a:solidFill>
                  <a:schemeClr val="dk1"/>
                </a:solidFill>
                <a:latin typeface="Arial"/>
                <a:ea typeface="Arial"/>
                <a:cs typeface="Arial"/>
                <a:sym typeface="Arial"/>
              </a:rPr>
              <a:t>Electronic Vandal:</a:t>
            </a:r>
            <a:endParaRPr sz="1800" b="0" i="0" u="none" strike="noStrike" cap="none" dirty="0">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dirty="0">
                <a:solidFill>
                  <a:schemeClr val="dk1"/>
                </a:solidFill>
                <a:latin typeface="Arial"/>
                <a:ea typeface="Arial"/>
                <a:cs typeface="Arial"/>
                <a:sym typeface="Arial"/>
              </a:rPr>
              <a:t>Causes damage and disruption  </a:t>
            </a:r>
            <a:endParaRPr sz="1800" b="0" i="0" u="none" strike="noStrike" cap="none" dirty="0">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dirty="0">
                <a:solidFill>
                  <a:schemeClr val="dk1"/>
                </a:solidFill>
                <a:latin typeface="Arial"/>
                <a:ea typeface="Arial"/>
                <a:cs typeface="Arial"/>
                <a:sym typeface="Arial"/>
              </a:rPr>
              <a:t>For fun, gain attention/admiration</a:t>
            </a:r>
            <a:endParaRPr sz="1800" b="0" i="0" u="none" strike="noStrike" cap="none" dirty="0">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dirty="0">
                <a:solidFill>
                  <a:schemeClr val="dk1"/>
                </a:solidFill>
                <a:latin typeface="Arial"/>
                <a:ea typeface="Arial"/>
                <a:cs typeface="Arial"/>
                <a:sym typeface="Arial"/>
              </a:rPr>
              <a:t>Resentment toward a person /organization </a:t>
            </a:r>
            <a:endParaRPr sz="1800" b="0" i="0" u="none" strike="noStrike" cap="none" dirty="0">
              <a:solidFill>
                <a:schemeClr val="dk1"/>
              </a:solidFill>
              <a:latin typeface="Arial"/>
              <a:ea typeface="Arial"/>
              <a:cs typeface="Arial"/>
              <a:sym typeface="Arial"/>
            </a:endParaRPr>
          </a:p>
        </p:txBody>
      </p:sp>
      <p:sp>
        <p:nvSpPr>
          <p:cNvPr id="415" name="Google Shape;415;p24"/>
          <p:cNvSpPr txBox="1"/>
          <p:nvPr/>
        </p:nvSpPr>
        <p:spPr>
          <a:xfrm>
            <a:off x="6731122" y="3374580"/>
            <a:ext cx="5195653" cy="1261884"/>
          </a:xfrm>
          <a:prstGeom prst="rect">
            <a:avLst/>
          </a:prstGeom>
          <a:noFill/>
          <a:ln>
            <a:noFill/>
          </a:ln>
        </p:spPr>
        <p:txBody>
          <a:bodyPr spcFirstLastPara="1" wrap="square" lIns="91425" tIns="45700" rIns="91425" bIns="45700" anchor="t" anchorCtr="0">
            <a:noAutofit/>
          </a:bodyPr>
          <a:lstStyle/>
          <a:p>
            <a:pPr marL="457189" marR="0" lvl="1" indent="0" algn="l" rtl="0">
              <a:lnSpc>
                <a:spcPct val="100000"/>
              </a:lnSpc>
              <a:spcBef>
                <a:spcPts val="0"/>
              </a:spcBef>
              <a:spcAft>
                <a:spcPts val="0"/>
              </a:spcAft>
              <a:buClr>
                <a:srgbClr val="000000"/>
              </a:buClr>
              <a:buSzPts val="1900"/>
              <a:buFont typeface="Arial"/>
              <a:buNone/>
            </a:pPr>
            <a:r>
              <a:rPr lang="en-US" sz="1900" b="1" i="0" u="none" strike="noStrike" cap="none">
                <a:solidFill>
                  <a:schemeClr val="dk1"/>
                </a:solidFill>
                <a:latin typeface="Arial"/>
                <a:ea typeface="Arial"/>
                <a:cs typeface="Arial"/>
                <a:sym typeface="Arial"/>
              </a:rPr>
              <a:t>Script Kiddie:</a:t>
            </a:r>
            <a:endParaRPr sz="1900" b="0" i="0" u="none" strike="noStrike" cap="none">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a:solidFill>
                  <a:schemeClr val="dk1"/>
                </a:solidFill>
                <a:latin typeface="Arial"/>
                <a:ea typeface="Arial"/>
                <a:cs typeface="Arial"/>
                <a:sym typeface="Arial"/>
              </a:rPr>
              <a:t>Novice</a:t>
            </a:r>
            <a:endParaRPr sz="1800" b="0" i="0" u="none" strike="noStrike" cap="none">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a:solidFill>
                  <a:schemeClr val="dk1"/>
                </a:solidFill>
                <a:latin typeface="Arial"/>
                <a:ea typeface="Arial"/>
                <a:cs typeface="Arial"/>
                <a:sym typeface="Arial"/>
              </a:rPr>
              <a:t>Uses automated attack tools found online </a:t>
            </a:r>
            <a:endParaRPr sz="1800" b="0" i="0" u="none" strike="noStrike" cap="none">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a:solidFill>
                  <a:schemeClr val="dk1"/>
                </a:solidFill>
                <a:latin typeface="Arial"/>
                <a:ea typeface="Arial"/>
                <a:cs typeface="Arial"/>
                <a:sym typeface="Arial"/>
              </a:rPr>
              <a:t>Gain attention/proving technical abilities</a:t>
            </a:r>
            <a:r>
              <a:rPr lang="en-US" sz="1900" b="1" i="0" u="none" strike="noStrike" cap="none">
                <a:solidFill>
                  <a:schemeClr val="dk1"/>
                </a:solidFill>
                <a:latin typeface="Arial"/>
                <a:ea typeface="Arial"/>
                <a:cs typeface="Arial"/>
                <a:sym typeface="Arial"/>
              </a:rPr>
              <a:t> </a:t>
            </a:r>
            <a:endParaRPr sz="1800" b="0" i="0" u="none" strike="noStrike" cap="none">
              <a:solidFill>
                <a:schemeClr val="dk1"/>
              </a:solidFill>
              <a:latin typeface="Arial"/>
              <a:ea typeface="Arial"/>
              <a:cs typeface="Arial"/>
              <a:sym typeface="Arial"/>
            </a:endParaRPr>
          </a:p>
        </p:txBody>
      </p:sp>
      <p:sp>
        <p:nvSpPr>
          <p:cNvPr id="416" name="Google Shape;416;p24"/>
          <p:cNvSpPr txBox="1"/>
          <p:nvPr/>
        </p:nvSpPr>
        <p:spPr>
          <a:xfrm>
            <a:off x="6731122" y="4854566"/>
            <a:ext cx="4573688" cy="1261884"/>
          </a:xfrm>
          <a:prstGeom prst="rect">
            <a:avLst/>
          </a:prstGeom>
          <a:noFill/>
          <a:ln>
            <a:noFill/>
          </a:ln>
        </p:spPr>
        <p:txBody>
          <a:bodyPr spcFirstLastPara="1" wrap="square" lIns="91425" tIns="45700" rIns="91425" bIns="45700" anchor="t" anchorCtr="0">
            <a:noAutofit/>
          </a:bodyPr>
          <a:lstStyle/>
          <a:p>
            <a:pPr marL="457189" marR="0" lvl="1" indent="0" algn="l" rtl="0">
              <a:lnSpc>
                <a:spcPct val="100000"/>
              </a:lnSpc>
              <a:spcBef>
                <a:spcPts val="0"/>
              </a:spcBef>
              <a:spcAft>
                <a:spcPts val="0"/>
              </a:spcAft>
              <a:buClr>
                <a:srgbClr val="000000"/>
              </a:buClr>
              <a:buSzPts val="1900"/>
              <a:buFont typeface="Arial"/>
              <a:buNone/>
            </a:pPr>
            <a:r>
              <a:rPr lang="en-US" sz="1900" b="1" i="0" u="none" strike="noStrike" cap="none">
                <a:solidFill>
                  <a:schemeClr val="dk1"/>
                </a:solidFill>
                <a:latin typeface="Arial"/>
                <a:ea typeface="Arial"/>
                <a:cs typeface="Arial"/>
                <a:sym typeface="Arial"/>
              </a:rPr>
              <a:t>Hacktivist – Electronic Activist</a:t>
            </a:r>
            <a:endParaRPr sz="1900" b="0" i="0" u="none" strike="noStrike" cap="none">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a:solidFill>
                  <a:schemeClr val="dk1"/>
                </a:solidFill>
                <a:latin typeface="Arial"/>
                <a:ea typeface="Arial"/>
                <a:cs typeface="Arial"/>
                <a:sym typeface="Arial"/>
              </a:rPr>
              <a:t>Desire to cause social change</a:t>
            </a:r>
            <a:endParaRPr sz="1800" b="0" i="0" u="none" strike="noStrike" cap="none">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a:solidFill>
                  <a:schemeClr val="dk1"/>
                </a:solidFill>
                <a:latin typeface="Arial"/>
                <a:ea typeface="Arial"/>
                <a:cs typeface="Arial"/>
                <a:sym typeface="Arial"/>
              </a:rPr>
              <a:t>Gain attention</a:t>
            </a:r>
            <a:endParaRPr sz="1800" b="0" i="0" u="none" strike="noStrike" cap="none">
              <a:solidFill>
                <a:schemeClr val="dk1"/>
              </a:solidFill>
              <a:latin typeface="Arial"/>
              <a:ea typeface="Arial"/>
              <a:cs typeface="Arial"/>
              <a:sym typeface="Arial"/>
            </a:endParaRPr>
          </a:p>
          <a:p>
            <a:pPr marL="457189" marR="0" lvl="1" indent="0" algn="l" rtl="0">
              <a:lnSpc>
                <a:spcPct val="100000"/>
              </a:lnSpc>
              <a:spcBef>
                <a:spcPts val="0"/>
              </a:spcBef>
              <a:spcAft>
                <a:spcPts val="0"/>
              </a:spcAft>
              <a:buClr>
                <a:srgbClr val="000000"/>
              </a:buClr>
              <a:buSzPts val="1900"/>
              <a:buFont typeface="Arial"/>
              <a:buNone/>
            </a:pPr>
            <a:r>
              <a:rPr lang="en-US" sz="1900" b="0" i="0" u="none" strike="noStrike" cap="none">
                <a:solidFill>
                  <a:schemeClr val="dk1"/>
                </a:solidFill>
                <a:latin typeface="Arial"/>
                <a:ea typeface="Arial"/>
                <a:cs typeface="Arial"/>
                <a:sym typeface="Arial"/>
              </a:rPr>
              <a:t>May cause disruption and damages</a:t>
            </a:r>
            <a:endParaRPr sz="1800" b="0" i="0" u="none" strike="noStrike" cap="none">
              <a:solidFill>
                <a:schemeClr val="dk1"/>
              </a:solidFill>
              <a:latin typeface="Arial"/>
              <a:ea typeface="Arial"/>
              <a:cs typeface="Arial"/>
              <a:sym typeface="Arial"/>
            </a:endParaRPr>
          </a:p>
        </p:txBody>
      </p:sp>
      <p:grpSp>
        <p:nvGrpSpPr>
          <p:cNvPr id="417" name="Google Shape;417;p24"/>
          <p:cNvGrpSpPr/>
          <p:nvPr/>
        </p:nvGrpSpPr>
        <p:grpSpPr>
          <a:xfrm>
            <a:off x="5858596" y="2041653"/>
            <a:ext cx="1228012" cy="1064447"/>
            <a:chOff x="-73124" y="3612238"/>
            <a:chExt cx="2211144" cy="1916631"/>
          </a:xfrm>
        </p:grpSpPr>
        <p:pic>
          <p:nvPicPr>
            <p:cNvPr id="418" name="Google Shape;418;p24"/>
            <p:cNvPicPr preferRelativeResize="0"/>
            <p:nvPr/>
          </p:nvPicPr>
          <p:blipFill rotWithShape="1">
            <a:blip r:embed="rId7">
              <a:alphaModFix/>
            </a:blip>
            <a:srcRect/>
            <a:stretch/>
          </p:blipFill>
          <p:spPr>
            <a:xfrm>
              <a:off x="1305606" y="3612238"/>
              <a:ext cx="832414" cy="832414"/>
            </a:xfrm>
            <a:prstGeom prst="rect">
              <a:avLst/>
            </a:prstGeom>
            <a:noFill/>
            <a:ln>
              <a:noFill/>
            </a:ln>
          </p:spPr>
        </p:pic>
        <p:pic>
          <p:nvPicPr>
            <p:cNvPr id="419" name="Google Shape;419;p24"/>
            <p:cNvPicPr preferRelativeResize="0"/>
            <p:nvPr/>
          </p:nvPicPr>
          <p:blipFill rotWithShape="1">
            <a:blip r:embed="rId8">
              <a:alphaModFix/>
            </a:blip>
            <a:srcRect/>
            <a:stretch/>
          </p:blipFill>
          <p:spPr>
            <a:xfrm>
              <a:off x="-73124" y="3846626"/>
              <a:ext cx="1690870" cy="1682243"/>
            </a:xfrm>
            <a:prstGeom prst="rect">
              <a:avLst/>
            </a:prstGeom>
            <a:noFill/>
            <a:ln>
              <a:noFill/>
            </a:ln>
          </p:spPr>
        </p:pic>
      </p:grpSp>
      <p:pic>
        <p:nvPicPr>
          <p:cNvPr id="420" name="Google Shape;420;p24"/>
          <p:cNvPicPr preferRelativeResize="0"/>
          <p:nvPr/>
        </p:nvPicPr>
        <p:blipFill rotWithShape="1">
          <a:blip r:embed="rId9">
            <a:alphaModFix/>
          </a:blip>
          <a:srcRect/>
          <a:stretch/>
        </p:blipFill>
        <p:spPr>
          <a:xfrm>
            <a:off x="5812897" y="3441391"/>
            <a:ext cx="1189817" cy="1189817"/>
          </a:xfrm>
          <a:prstGeom prst="rect">
            <a:avLst/>
          </a:prstGeom>
          <a:noFill/>
          <a:ln>
            <a:noFill/>
          </a:ln>
        </p:spPr>
      </p:pic>
      <p:grpSp>
        <p:nvGrpSpPr>
          <p:cNvPr id="421" name="Google Shape;421;p24"/>
          <p:cNvGrpSpPr/>
          <p:nvPr/>
        </p:nvGrpSpPr>
        <p:grpSpPr>
          <a:xfrm>
            <a:off x="5729001" y="4836015"/>
            <a:ext cx="1357607" cy="1360541"/>
            <a:chOff x="5465381" y="3759248"/>
            <a:chExt cx="2208483" cy="2213257"/>
          </a:xfrm>
        </p:grpSpPr>
        <p:pic>
          <p:nvPicPr>
            <p:cNvPr id="422" name="Google Shape;422;p24"/>
            <p:cNvPicPr preferRelativeResize="0"/>
            <p:nvPr/>
          </p:nvPicPr>
          <p:blipFill rotWithShape="1">
            <a:blip r:embed="rId10">
              <a:alphaModFix/>
            </a:blip>
            <a:srcRect/>
            <a:stretch/>
          </p:blipFill>
          <p:spPr>
            <a:xfrm>
              <a:off x="5465381" y="3764022"/>
              <a:ext cx="2208483" cy="2208483"/>
            </a:xfrm>
            <a:prstGeom prst="rect">
              <a:avLst/>
            </a:prstGeom>
            <a:noFill/>
            <a:ln>
              <a:noFill/>
            </a:ln>
          </p:spPr>
        </p:pic>
        <p:pic>
          <p:nvPicPr>
            <p:cNvPr id="423" name="Google Shape;423;p24"/>
            <p:cNvPicPr preferRelativeResize="0"/>
            <p:nvPr/>
          </p:nvPicPr>
          <p:blipFill rotWithShape="1">
            <a:blip r:embed="rId11">
              <a:alphaModFix/>
            </a:blip>
            <a:srcRect/>
            <a:stretch/>
          </p:blipFill>
          <p:spPr>
            <a:xfrm>
              <a:off x="6274794" y="3759248"/>
              <a:ext cx="581714" cy="581714"/>
            </a:xfrm>
            <a:prstGeom prst="rect">
              <a:avLst/>
            </a:prstGeom>
            <a:noFill/>
            <a:ln>
              <a:noFill/>
            </a:ln>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3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Singapore’s Cyber Crime Law</a:t>
            </a:r>
            <a:endParaRPr/>
          </a:p>
        </p:txBody>
      </p:sp>
      <p:sp>
        <p:nvSpPr>
          <p:cNvPr id="462" name="Google Shape;462;p30"/>
          <p:cNvSpPr txBox="1">
            <a:spLocks noGrp="1"/>
          </p:cNvSpPr>
          <p:nvPr>
            <p:ph type="body" idx="1"/>
          </p:nvPr>
        </p:nvSpPr>
        <p:spPr>
          <a:xfrm>
            <a:off x="1183908" y="1603687"/>
            <a:ext cx="10058400" cy="4594982"/>
          </a:xfrm>
          <a:prstGeom prst="rect">
            <a:avLst/>
          </a:prstGeom>
          <a:noFill/>
          <a:ln>
            <a:noFill/>
          </a:ln>
        </p:spPr>
        <p:txBody>
          <a:bodyPr spcFirstLastPara="1" wrap="square" lIns="0" tIns="45700" rIns="0" bIns="45700" anchor="t" anchorCtr="0">
            <a:noAutofit/>
          </a:bodyPr>
          <a:lstStyle/>
          <a:p>
            <a:pPr marL="0" lvl="0" indent="0" algn="just" rtl="0">
              <a:lnSpc>
                <a:spcPct val="100000"/>
              </a:lnSpc>
              <a:spcBef>
                <a:spcPts val="1400"/>
              </a:spcBef>
              <a:spcAft>
                <a:spcPts val="0"/>
              </a:spcAft>
              <a:buSzPts val="1800"/>
              <a:buNone/>
            </a:pPr>
            <a:r>
              <a:rPr lang="en-US" sz="1800" u="sng" dirty="0">
                <a:solidFill>
                  <a:schemeClr val="hlink"/>
                </a:solidFill>
                <a:hlinkClick r:id="rId3"/>
              </a:rPr>
              <a:t>Computer Misuse Act (Chapter 50A)</a:t>
            </a:r>
            <a:endParaRPr sz="1800" dirty="0"/>
          </a:p>
          <a:p>
            <a:pPr marL="285750" indent="-285750" algn="just">
              <a:lnSpc>
                <a:spcPct val="100000"/>
              </a:lnSpc>
              <a:spcBef>
                <a:spcPts val="1600"/>
              </a:spcBef>
              <a:buClrTx/>
              <a:buFont typeface="Arial" panose="020B0604020202020204" pitchFamily="34" charset="0"/>
              <a:buChar char="•"/>
            </a:pPr>
            <a:r>
              <a:rPr lang="en-US" sz="1800" dirty="0"/>
              <a:t>Prohibits:</a:t>
            </a:r>
          </a:p>
          <a:p>
            <a:pPr marL="742950" lvl="1" indent="-285750" algn="just">
              <a:lnSpc>
                <a:spcPct val="100000"/>
              </a:lnSpc>
              <a:spcBef>
                <a:spcPts val="1600"/>
              </a:spcBef>
              <a:buClrTx/>
              <a:buFont typeface="Wingdings" panose="05000000000000000000" pitchFamily="2" charset="2"/>
              <a:buChar char="§"/>
            </a:pPr>
            <a:r>
              <a:rPr lang="en-US" dirty="0"/>
              <a:t>Unauthorized access to computer material</a:t>
            </a:r>
          </a:p>
          <a:p>
            <a:pPr marL="742950" lvl="1" indent="-285750" algn="just">
              <a:lnSpc>
                <a:spcPct val="100000"/>
              </a:lnSpc>
              <a:spcBef>
                <a:spcPts val="1600"/>
              </a:spcBef>
              <a:buClrTx/>
              <a:buFont typeface="Wingdings" panose="05000000000000000000" pitchFamily="2" charset="2"/>
              <a:buChar char="§"/>
            </a:pPr>
            <a:r>
              <a:rPr lang="en-US" dirty="0"/>
              <a:t>Access with Intent to commit or facilitate commission of offence</a:t>
            </a:r>
          </a:p>
          <a:p>
            <a:pPr marL="742950" lvl="1" indent="-285750" algn="just">
              <a:lnSpc>
                <a:spcPct val="100000"/>
              </a:lnSpc>
              <a:spcBef>
                <a:spcPts val="1600"/>
              </a:spcBef>
              <a:buClrTx/>
              <a:buFont typeface="Wingdings" panose="05000000000000000000" pitchFamily="2" charset="2"/>
              <a:buChar char="§"/>
            </a:pPr>
            <a:r>
              <a:rPr lang="en-US" dirty="0"/>
              <a:t>Unauthorized modification of computer material</a:t>
            </a:r>
          </a:p>
          <a:p>
            <a:pPr marL="742950" lvl="1" indent="-285750" algn="just">
              <a:lnSpc>
                <a:spcPct val="100000"/>
              </a:lnSpc>
              <a:spcBef>
                <a:spcPts val="1600"/>
              </a:spcBef>
              <a:buClrTx/>
              <a:buFont typeface="Wingdings" panose="05000000000000000000" pitchFamily="2" charset="2"/>
              <a:buChar char="§"/>
            </a:pPr>
            <a:r>
              <a:rPr lang="en-US" dirty="0"/>
              <a:t>Unauthorized use or interception of computer service</a:t>
            </a:r>
          </a:p>
          <a:p>
            <a:pPr marL="742950" lvl="1" indent="-285750" algn="just">
              <a:lnSpc>
                <a:spcPct val="100000"/>
              </a:lnSpc>
              <a:spcBef>
                <a:spcPts val="1600"/>
              </a:spcBef>
              <a:buClrTx/>
              <a:buFont typeface="Wingdings" panose="05000000000000000000" pitchFamily="2" charset="2"/>
              <a:buChar char="§"/>
            </a:pPr>
            <a:r>
              <a:rPr lang="en-US" dirty="0"/>
              <a:t>Unauthorized obstruction of use of computer</a:t>
            </a:r>
          </a:p>
          <a:p>
            <a:pPr marL="742950" lvl="1" indent="-285750" algn="just">
              <a:lnSpc>
                <a:spcPct val="100000"/>
              </a:lnSpc>
              <a:spcBef>
                <a:spcPts val="1600"/>
              </a:spcBef>
              <a:buClrTx/>
              <a:buFont typeface="Wingdings" panose="05000000000000000000" pitchFamily="2" charset="2"/>
              <a:buChar char="§"/>
            </a:pPr>
            <a:r>
              <a:rPr lang="en-US" dirty="0"/>
              <a:t>Unauthorized disclosure of access code</a:t>
            </a:r>
          </a:p>
          <a:p>
            <a:pPr marL="742950" lvl="1" indent="-285750" algn="just">
              <a:lnSpc>
                <a:spcPct val="100000"/>
              </a:lnSpc>
              <a:spcBef>
                <a:spcPts val="1600"/>
              </a:spcBef>
              <a:buClrTx/>
              <a:buFont typeface="Wingdings" panose="05000000000000000000" pitchFamily="2" charset="2"/>
              <a:buChar char="§"/>
            </a:pPr>
            <a:r>
              <a:rPr lang="en-US" dirty="0"/>
              <a:t>Abetting any of the above</a:t>
            </a:r>
            <a:endParaRPr dirty="0"/>
          </a:p>
        </p:txBody>
      </p:sp>
      <p:pic>
        <p:nvPicPr>
          <p:cNvPr id="463" name="Google Shape;463;p30" descr="Court"/>
          <p:cNvPicPr preferRelativeResize="0"/>
          <p:nvPr/>
        </p:nvPicPr>
        <p:blipFill rotWithShape="1">
          <a:blip r:embed="rId4">
            <a:alphaModFix/>
          </a:blip>
          <a:srcRect/>
          <a:stretch/>
        </p:blipFill>
        <p:spPr>
          <a:xfrm>
            <a:off x="8010884" y="1980490"/>
            <a:ext cx="3841376" cy="38413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3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Singapore’s Cyber Crime Law</a:t>
            </a:r>
            <a:endParaRPr/>
          </a:p>
        </p:txBody>
      </p:sp>
      <p:pic>
        <p:nvPicPr>
          <p:cNvPr id="463" name="Google Shape;463;p30" descr="Court"/>
          <p:cNvPicPr preferRelativeResize="0"/>
          <p:nvPr/>
        </p:nvPicPr>
        <p:blipFill rotWithShape="1">
          <a:blip r:embed="rId3">
            <a:alphaModFix/>
          </a:blip>
          <a:srcRect/>
          <a:stretch/>
        </p:blipFill>
        <p:spPr>
          <a:xfrm>
            <a:off x="8010884" y="1980490"/>
            <a:ext cx="3841376" cy="3841376"/>
          </a:xfrm>
          <a:prstGeom prst="rect">
            <a:avLst/>
          </a:prstGeom>
          <a:noFill/>
          <a:ln>
            <a:noFill/>
          </a:ln>
        </p:spPr>
      </p:pic>
      <p:sp>
        <p:nvSpPr>
          <p:cNvPr id="10" name="Google Shape;462;p30">
            <a:extLst>
              <a:ext uri="{FF2B5EF4-FFF2-40B4-BE49-F238E27FC236}">
                <a16:creationId xmlns:a16="http://schemas.microsoft.com/office/drawing/2014/main" id="{280D97F0-3C3A-4683-97FA-95B76BDEA717}"/>
              </a:ext>
            </a:extLst>
          </p:cNvPr>
          <p:cNvSpPr txBox="1">
            <a:spLocks/>
          </p:cNvSpPr>
          <p:nvPr/>
        </p:nvSpPr>
        <p:spPr>
          <a:xfrm>
            <a:off x="1183908" y="1603687"/>
            <a:ext cx="10058400" cy="4594982"/>
          </a:xfrm>
          <a:prstGeom prst="rect">
            <a:avLst/>
          </a:prstGeom>
          <a:noFill/>
          <a:ln>
            <a:noFill/>
          </a:ln>
        </p:spPr>
        <p:txBody>
          <a:bodyPr spcFirstLastPara="1" wrap="square" lIns="0" tIns="45700" rIns="0"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200"/>
              </a:spcBef>
              <a:spcAft>
                <a:spcPts val="0"/>
              </a:spcAft>
              <a:buClr>
                <a:schemeClr val="accent1"/>
              </a:buClr>
              <a:buSzPts val="1800"/>
              <a:buFont typeface="Calibri"/>
              <a:buChar char=" "/>
              <a:defRPr sz="2000" b="0" i="0" u="none" strike="noStrike" cap="none">
                <a:solidFill>
                  <a:srgbClr val="3F3F3F"/>
                </a:solidFill>
                <a:latin typeface="Arial"/>
                <a:ea typeface="Arial"/>
                <a:cs typeface="Arial"/>
                <a:sym typeface="Arial"/>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Arial"/>
                <a:ea typeface="Arial"/>
                <a:cs typeface="Arial"/>
                <a:sym typeface="Arial"/>
              </a:defRPr>
            </a:lvl2pPr>
            <a:lvl3pPr marL="1371600" marR="0" lvl="2" indent="-342900" algn="l" rtl="0">
              <a:lnSpc>
                <a:spcPct val="90000"/>
              </a:lnSpc>
              <a:spcBef>
                <a:spcPts val="400"/>
              </a:spcBef>
              <a:spcAft>
                <a:spcPts val="0"/>
              </a:spcAft>
              <a:buClr>
                <a:schemeClr val="accent1"/>
              </a:buClr>
              <a:buSzPts val="1800"/>
              <a:buFont typeface="Calibri"/>
              <a:buChar char="◦"/>
              <a:defRPr sz="1400" b="0" i="0" u="none" strike="noStrike" cap="none">
                <a:solidFill>
                  <a:srgbClr val="3F3F3F"/>
                </a:solidFill>
                <a:latin typeface="Arial"/>
                <a:ea typeface="Arial"/>
                <a:cs typeface="Arial"/>
                <a:sym typeface="Arial"/>
              </a:defRPr>
            </a:lvl3pPr>
            <a:lvl4pPr marL="1828800" marR="0" lvl="3" indent="-342900" algn="l" rtl="0">
              <a:lnSpc>
                <a:spcPct val="90000"/>
              </a:lnSpc>
              <a:spcBef>
                <a:spcPts val="400"/>
              </a:spcBef>
              <a:spcAft>
                <a:spcPts val="0"/>
              </a:spcAft>
              <a:buClr>
                <a:schemeClr val="accent1"/>
              </a:buClr>
              <a:buSzPts val="1800"/>
              <a:buFont typeface="Calibri"/>
              <a:buChar char="◦"/>
              <a:defRPr sz="1400" b="0" i="0" u="none" strike="noStrike" cap="none">
                <a:solidFill>
                  <a:srgbClr val="3F3F3F"/>
                </a:solidFill>
                <a:latin typeface="Arial"/>
                <a:ea typeface="Arial"/>
                <a:cs typeface="Arial"/>
                <a:sym typeface="Arial"/>
              </a:defRPr>
            </a:lvl4pPr>
            <a:lvl5pPr marL="2286000" marR="0" lvl="4" indent="-342900" algn="l" rtl="0">
              <a:lnSpc>
                <a:spcPct val="90000"/>
              </a:lnSpc>
              <a:spcBef>
                <a:spcPts val="400"/>
              </a:spcBef>
              <a:spcAft>
                <a:spcPts val="0"/>
              </a:spcAft>
              <a:buClr>
                <a:schemeClr val="accent1"/>
              </a:buClr>
              <a:buSzPts val="1800"/>
              <a:buFont typeface="Calibri"/>
              <a:buChar char="◦"/>
              <a:defRPr sz="1400" b="0" i="0" u="none" strike="noStrike" cap="none">
                <a:solidFill>
                  <a:srgbClr val="3F3F3F"/>
                </a:solidFill>
                <a:latin typeface="Arial"/>
                <a:ea typeface="Arial"/>
                <a:cs typeface="Arial"/>
                <a:sym typeface="Arial"/>
              </a:defRPr>
            </a:lvl5pPr>
            <a:lvl6pPr marL="2743200" marR="0" lvl="5" indent="-342900" algn="l" rtl="0">
              <a:lnSpc>
                <a:spcPct val="90000"/>
              </a:lnSpc>
              <a:spcBef>
                <a:spcPts val="40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6pPr>
            <a:lvl7pPr marL="3200400" marR="0" lvl="6" indent="-342900" algn="l" rtl="0">
              <a:lnSpc>
                <a:spcPct val="90000"/>
              </a:lnSpc>
              <a:spcBef>
                <a:spcPts val="40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7pPr>
            <a:lvl8pPr marL="3657600" marR="0" lvl="7" indent="-342900" algn="l" rtl="0">
              <a:lnSpc>
                <a:spcPct val="90000"/>
              </a:lnSpc>
              <a:spcBef>
                <a:spcPts val="400"/>
              </a:spcBef>
              <a:spcAft>
                <a:spcPts val="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8pPr>
            <a:lvl9pPr marL="4114800" marR="0" lvl="8" indent="-342900" algn="l" rtl="0">
              <a:lnSpc>
                <a:spcPct val="90000"/>
              </a:lnSpc>
              <a:spcBef>
                <a:spcPts val="400"/>
              </a:spcBef>
              <a:spcAft>
                <a:spcPts val="400"/>
              </a:spcAft>
              <a:buClr>
                <a:schemeClr val="accent1"/>
              </a:buClr>
              <a:buSzPts val="1800"/>
              <a:buFont typeface="Calibri"/>
              <a:buChar char="◦"/>
              <a:defRPr sz="1400" b="0" i="0" u="none" strike="noStrike" cap="none">
                <a:solidFill>
                  <a:srgbClr val="3F3F3F"/>
                </a:solidFill>
                <a:latin typeface="Calibri"/>
                <a:ea typeface="Calibri"/>
                <a:cs typeface="Calibri"/>
                <a:sym typeface="Calibri"/>
              </a:defRPr>
            </a:lvl9pPr>
          </a:lstStyle>
          <a:p>
            <a:pPr marL="0" indent="0" algn="just">
              <a:lnSpc>
                <a:spcPct val="100000"/>
              </a:lnSpc>
              <a:spcBef>
                <a:spcPts val="1400"/>
              </a:spcBef>
              <a:buFont typeface="Calibri"/>
              <a:buNone/>
            </a:pPr>
            <a:r>
              <a:rPr lang="en-US" sz="1800" u="sng" dirty="0">
                <a:solidFill>
                  <a:schemeClr val="hlink"/>
                </a:solidFill>
                <a:hlinkClick r:id="rId4"/>
              </a:rPr>
              <a:t>Computer Misuse Act (Chapter 50A)</a:t>
            </a:r>
            <a:endParaRPr lang="en-US" sz="1800" u="sng" dirty="0">
              <a:solidFill>
                <a:schemeClr val="hlink"/>
              </a:solidFill>
            </a:endParaRPr>
          </a:p>
          <a:p>
            <a:pPr marL="285750" indent="-285750" algn="just">
              <a:lnSpc>
                <a:spcPct val="100000"/>
              </a:lnSpc>
              <a:spcBef>
                <a:spcPts val="1400"/>
              </a:spcBef>
              <a:buClrTx/>
              <a:buFont typeface="Arial" panose="020B0604020202020204" pitchFamily="34" charset="0"/>
              <a:buChar char="•"/>
            </a:pPr>
            <a:r>
              <a:rPr lang="en-US" sz="1800" dirty="0"/>
              <a:t>Cover various aspects of Information Security</a:t>
            </a:r>
          </a:p>
          <a:p>
            <a:pPr marL="742950" lvl="1" indent="-285750" algn="just">
              <a:lnSpc>
                <a:spcPct val="100000"/>
              </a:lnSpc>
              <a:spcBef>
                <a:spcPts val="1400"/>
              </a:spcBef>
              <a:buClrTx/>
              <a:buFont typeface="Wingdings" panose="05000000000000000000" pitchFamily="2" charset="2"/>
              <a:buChar char="§"/>
            </a:pPr>
            <a:r>
              <a:rPr lang="en-US" sz="1600" dirty="0"/>
              <a:t>Access Control</a:t>
            </a:r>
          </a:p>
          <a:p>
            <a:pPr marL="742950" lvl="1" indent="-285750" algn="just">
              <a:lnSpc>
                <a:spcPct val="100000"/>
              </a:lnSpc>
              <a:spcBef>
                <a:spcPts val="1400"/>
              </a:spcBef>
              <a:buClrTx/>
              <a:buFont typeface="Wingdings" panose="05000000000000000000" pitchFamily="2" charset="2"/>
              <a:buChar char="§"/>
            </a:pPr>
            <a:r>
              <a:rPr lang="en-US" sz="1600" dirty="0"/>
              <a:t>Integrity</a:t>
            </a:r>
          </a:p>
          <a:p>
            <a:pPr marL="742950" lvl="1" indent="-285750" algn="just">
              <a:lnSpc>
                <a:spcPct val="100000"/>
              </a:lnSpc>
              <a:spcBef>
                <a:spcPts val="1400"/>
              </a:spcBef>
              <a:buClrTx/>
              <a:buFont typeface="Wingdings" panose="05000000000000000000" pitchFamily="2" charset="2"/>
              <a:buChar char="§"/>
            </a:pPr>
            <a:r>
              <a:rPr lang="en-US" sz="1600" dirty="0"/>
              <a:t>Confidentiality</a:t>
            </a:r>
          </a:p>
          <a:p>
            <a:pPr marL="742950" lvl="1" indent="-285750" algn="just">
              <a:lnSpc>
                <a:spcPct val="100000"/>
              </a:lnSpc>
              <a:spcBef>
                <a:spcPts val="1400"/>
              </a:spcBef>
              <a:buClrTx/>
              <a:buFont typeface="Wingdings" panose="05000000000000000000" pitchFamily="2" charset="2"/>
              <a:buChar char="§"/>
            </a:pPr>
            <a:r>
              <a:rPr lang="en-US" sz="1600" dirty="0"/>
              <a:t>Availability</a:t>
            </a:r>
          </a:p>
          <a:p>
            <a:pPr marL="742950" lvl="1" indent="-285750" algn="just">
              <a:lnSpc>
                <a:spcPct val="100000"/>
              </a:lnSpc>
              <a:spcBef>
                <a:spcPts val="1400"/>
              </a:spcBef>
              <a:buClrTx/>
              <a:buFont typeface="Wingdings" panose="05000000000000000000" pitchFamily="2" charset="2"/>
              <a:buChar char="§"/>
            </a:pPr>
            <a:r>
              <a:rPr lang="en-US" sz="1600" dirty="0"/>
              <a:t>Authentication</a:t>
            </a:r>
          </a:p>
          <a:p>
            <a:pPr marL="285750" indent="-285750" algn="just">
              <a:lnSpc>
                <a:spcPct val="100000"/>
              </a:lnSpc>
              <a:spcBef>
                <a:spcPts val="1400"/>
              </a:spcBef>
              <a:buClrTx/>
              <a:buFont typeface="Arial" panose="020B0604020202020204" pitchFamily="34" charset="0"/>
              <a:buChar char="•"/>
            </a:pPr>
            <a:r>
              <a:rPr lang="en-US" sz="1800" b="1" dirty="0">
                <a:solidFill>
                  <a:srgbClr val="FF0000"/>
                </a:solidFill>
              </a:rPr>
              <a:t> Fines up to $100,000 and imprisonment up to 20 years.</a:t>
            </a:r>
          </a:p>
          <a:p>
            <a:pPr marL="285750" indent="-285750" algn="just">
              <a:lnSpc>
                <a:spcPct val="100000"/>
              </a:lnSpc>
              <a:spcBef>
                <a:spcPts val="1400"/>
              </a:spcBef>
              <a:buClrTx/>
              <a:buFont typeface="Arial" panose="020B0604020202020204" pitchFamily="34" charset="0"/>
              <a:buChar char="•"/>
            </a:pPr>
            <a:endParaRPr lang="en-US" sz="1800" dirty="0"/>
          </a:p>
          <a:p>
            <a:pPr marL="742950" lvl="1" indent="-285750" algn="just">
              <a:lnSpc>
                <a:spcPct val="100000"/>
              </a:lnSpc>
              <a:spcBef>
                <a:spcPts val="1400"/>
              </a:spcBef>
              <a:buClrTx/>
              <a:buFont typeface="Arial" panose="020B0604020202020204" pitchFamily="34" charset="0"/>
              <a:buChar char="•"/>
            </a:pPr>
            <a:endParaRPr lang="en-US" sz="1600" dirty="0"/>
          </a:p>
          <a:p>
            <a:pPr marL="742950" lvl="1" indent="-285750" algn="just">
              <a:lnSpc>
                <a:spcPct val="100000"/>
              </a:lnSpc>
              <a:spcBef>
                <a:spcPts val="1400"/>
              </a:spcBef>
              <a:buClrTx/>
              <a:buFont typeface="Arial" panose="020B0604020202020204" pitchFamily="34" charset="0"/>
              <a:buChar char="•"/>
            </a:pPr>
            <a:endParaRPr lang="en-US" sz="1600" dirty="0"/>
          </a:p>
        </p:txBody>
      </p:sp>
    </p:spTree>
    <p:extLst>
      <p:ext uri="{BB962C8B-B14F-4D97-AF65-F5344CB8AC3E}">
        <p14:creationId xmlns:p14="http://schemas.microsoft.com/office/powerpoint/2010/main" val="3025541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25"/>
          <p:cNvSpPr txBox="1"/>
          <p:nvPr/>
        </p:nvSpPr>
        <p:spPr>
          <a:xfrm>
            <a:off x="817567" y="898258"/>
            <a:ext cx="5459989" cy="900247"/>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Arial"/>
              <a:ea typeface="Arial"/>
              <a:cs typeface="Arial"/>
              <a:sym typeface="Arial"/>
            </a:endParaRPr>
          </a:p>
        </p:txBody>
      </p:sp>
      <p:sp>
        <p:nvSpPr>
          <p:cNvPr id="429" name="Google Shape;429;p2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What’s Covered So Far…</a:t>
            </a:r>
            <a:endParaRPr/>
          </a:p>
        </p:txBody>
      </p:sp>
      <p:sp>
        <p:nvSpPr>
          <p:cNvPr id="430" name="Google Shape;430;p25"/>
          <p:cNvSpPr txBox="1">
            <a:spLocks noGrp="1"/>
          </p:cNvSpPr>
          <p:nvPr>
            <p:ph type="body" idx="1"/>
          </p:nvPr>
        </p:nvSpPr>
        <p:spPr>
          <a:xfrm>
            <a:off x="1219954" y="1845735"/>
            <a:ext cx="10115203" cy="4114007"/>
          </a:xfrm>
          <a:prstGeom prst="rect">
            <a:avLst/>
          </a:prstGeom>
          <a:noFill/>
          <a:ln>
            <a:noFill/>
          </a:ln>
        </p:spPr>
        <p:txBody>
          <a:bodyPr spcFirstLastPara="1" wrap="square" lIns="0" tIns="45700" rIns="0" bIns="45700" anchor="t" anchorCtr="0">
            <a:noAutofit/>
          </a:bodyPr>
          <a:lstStyle/>
          <a:p>
            <a:pPr marL="91440" lvl="0" indent="-91440" algn="l" rtl="0">
              <a:lnSpc>
                <a:spcPct val="150000"/>
              </a:lnSpc>
              <a:spcBef>
                <a:spcPts val="0"/>
              </a:spcBef>
              <a:spcAft>
                <a:spcPts val="0"/>
              </a:spcAft>
              <a:buSzPts val="2000"/>
              <a:buFont typeface="Noto Sans Symbols"/>
              <a:buChar char="✔"/>
            </a:pPr>
            <a:r>
              <a:rPr lang="en-US" dirty="0"/>
              <a:t> Information Security</a:t>
            </a:r>
            <a:endParaRPr dirty="0"/>
          </a:p>
          <a:p>
            <a:pPr marL="544068" lvl="1" algn="l" rtl="0">
              <a:lnSpc>
                <a:spcPct val="150000"/>
              </a:lnSpc>
              <a:spcBef>
                <a:spcPts val="200"/>
              </a:spcBef>
              <a:spcAft>
                <a:spcPts val="0"/>
              </a:spcAft>
              <a:buSzPts val="2000"/>
              <a:buFont typeface="Wingdings" panose="05000000000000000000" pitchFamily="2" charset="2"/>
              <a:buChar char="§"/>
            </a:pPr>
            <a:r>
              <a:rPr lang="en-US" sz="2000" dirty="0"/>
              <a:t>What do we protect?</a:t>
            </a:r>
          </a:p>
          <a:p>
            <a:pPr marL="544068" lvl="1" algn="l" rtl="0">
              <a:lnSpc>
                <a:spcPct val="150000"/>
              </a:lnSpc>
              <a:spcBef>
                <a:spcPts val="200"/>
              </a:spcBef>
              <a:spcAft>
                <a:spcPts val="0"/>
              </a:spcAft>
              <a:buSzPts val="2000"/>
              <a:buFont typeface="Wingdings" panose="05000000000000000000" pitchFamily="2" charset="2"/>
              <a:buChar char="§"/>
            </a:pPr>
            <a:r>
              <a:rPr lang="en-US" sz="2000" dirty="0"/>
              <a:t>Goals of Information Security</a:t>
            </a:r>
            <a:endParaRPr dirty="0"/>
          </a:p>
          <a:p>
            <a:pPr marL="91440" lvl="0" indent="-91440" algn="l" rtl="0">
              <a:lnSpc>
                <a:spcPct val="150000"/>
              </a:lnSpc>
              <a:spcBef>
                <a:spcPts val="400"/>
              </a:spcBef>
              <a:spcAft>
                <a:spcPts val="0"/>
              </a:spcAft>
              <a:buSzPts val="2000"/>
              <a:buFont typeface="Noto Sans Symbols"/>
              <a:buChar char="✔"/>
            </a:pPr>
            <a:r>
              <a:rPr lang="en-US" dirty="0"/>
              <a:t> Intrusions vs Attacks</a:t>
            </a:r>
            <a:endParaRPr dirty="0"/>
          </a:p>
          <a:p>
            <a:pPr marL="91440" lvl="0" indent="-91440" algn="l" rtl="0">
              <a:lnSpc>
                <a:spcPct val="150000"/>
              </a:lnSpc>
              <a:spcBef>
                <a:spcPts val="200"/>
              </a:spcBef>
              <a:spcAft>
                <a:spcPts val="0"/>
              </a:spcAft>
              <a:buSzPts val="2000"/>
              <a:buFont typeface="Noto Sans Symbols"/>
              <a:buChar char="✔"/>
            </a:pPr>
            <a:r>
              <a:rPr lang="en-US" dirty="0"/>
              <a:t> Hackers &amp; Attackers</a:t>
            </a:r>
            <a:endParaRPr dirty="0"/>
          </a:p>
          <a:p>
            <a:pPr marL="91440" lvl="0" indent="-91440" algn="l" rtl="0">
              <a:lnSpc>
                <a:spcPct val="150000"/>
              </a:lnSpc>
              <a:spcBef>
                <a:spcPts val="200"/>
              </a:spcBef>
              <a:spcAft>
                <a:spcPts val="0"/>
              </a:spcAft>
              <a:buSzPts val="2000"/>
              <a:buFont typeface="Noto Sans Symbols"/>
              <a:buChar char="✔"/>
            </a:pPr>
            <a:r>
              <a:rPr lang="en-US" dirty="0"/>
              <a:t> Types of Hackers</a:t>
            </a:r>
            <a:endParaRPr dirty="0"/>
          </a:p>
          <a:p>
            <a:pPr marL="91440" lvl="0" indent="-91440" algn="l" rtl="0">
              <a:lnSpc>
                <a:spcPct val="150000"/>
              </a:lnSpc>
              <a:spcBef>
                <a:spcPts val="200"/>
              </a:spcBef>
              <a:spcAft>
                <a:spcPts val="0"/>
              </a:spcAft>
              <a:buSzPts val="2000"/>
              <a:buFont typeface="Noto Sans Symbols"/>
              <a:buChar char="✔"/>
            </a:pPr>
            <a:r>
              <a:rPr lang="en-US" dirty="0"/>
              <a:t> Categories of Attackers</a:t>
            </a:r>
          </a:p>
          <a:p>
            <a:pPr marL="91440" lvl="0" indent="-91440" algn="l" rtl="0">
              <a:lnSpc>
                <a:spcPct val="150000"/>
              </a:lnSpc>
              <a:spcBef>
                <a:spcPts val="200"/>
              </a:spcBef>
              <a:spcAft>
                <a:spcPts val="0"/>
              </a:spcAft>
              <a:buSzPts val="2000"/>
              <a:buFont typeface="Noto Sans Symbols"/>
              <a:buChar char="✔"/>
            </a:pPr>
            <a:r>
              <a:rPr lang="en-US" dirty="0"/>
              <a:t> Singapore’ Cyber Crime Law</a:t>
            </a:r>
            <a:endParaRPr dirty="0"/>
          </a:p>
          <a:p>
            <a:pPr marL="342891" lvl="0" indent="-190489" algn="l" rtl="0">
              <a:lnSpc>
                <a:spcPct val="150000"/>
              </a:lnSpc>
              <a:spcBef>
                <a:spcPts val="200"/>
              </a:spcBef>
              <a:spcAft>
                <a:spcPts val="200"/>
              </a:spcAft>
              <a:buSzPts val="2400"/>
              <a:buNone/>
            </a:pPr>
            <a:endParaRPr sz="2400" dirty="0"/>
          </a:p>
        </p:txBody>
      </p:sp>
    </p:spTree>
  </p:cSld>
  <p:clrMapOvr>
    <a:masterClrMapping/>
  </p:clrMapOvr>
  <p:transition spd="slow">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43"/>
          <p:cNvSpPr txBox="1"/>
          <p:nvPr/>
        </p:nvSpPr>
        <p:spPr>
          <a:xfrm>
            <a:off x="4130283" y="3939636"/>
            <a:ext cx="3895073" cy="307777"/>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0" i="0" u="none" strike="noStrike" cap="none">
                <a:solidFill>
                  <a:schemeClr val="dk2"/>
                </a:solidFill>
                <a:latin typeface="Arial"/>
                <a:ea typeface="Arial"/>
                <a:cs typeface="Arial"/>
                <a:sym typeface="Arial"/>
              </a:rPr>
              <a:t>Short Question &amp; Answer session</a:t>
            </a:r>
            <a:endParaRPr sz="900" b="0" i="0" u="none" strike="noStrike" cap="none">
              <a:solidFill>
                <a:schemeClr val="dk1"/>
              </a:solidFill>
              <a:latin typeface="Arial"/>
              <a:ea typeface="Arial"/>
              <a:cs typeface="Arial"/>
              <a:sym typeface="Arial"/>
            </a:endParaRPr>
          </a:p>
        </p:txBody>
      </p:sp>
      <p:sp>
        <p:nvSpPr>
          <p:cNvPr id="551" name="Google Shape;551;p43"/>
          <p:cNvSpPr txBox="1"/>
          <p:nvPr/>
        </p:nvSpPr>
        <p:spPr>
          <a:xfrm>
            <a:off x="3959350" y="2993784"/>
            <a:ext cx="7282411" cy="870431"/>
          </a:xfrm>
          <a:prstGeom prst="rect">
            <a:avLst/>
          </a:prstGeom>
          <a:noFill/>
          <a:ln>
            <a:noFill/>
          </a:ln>
        </p:spPr>
        <p:txBody>
          <a:bodyPr spcFirstLastPara="1" wrap="square" lIns="45700" tIns="22850" rIns="45700" bIns="22850" anchor="t" anchorCtr="0">
            <a:noAutofit/>
          </a:bodyPr>
          <a:lstStyle/>
          <a:p>
            <a:pPr marL="0" marR="0" lvl="0" indent="0" algn="l" rtl="0">
              <a:lnSpc>
                <a:spcPct val="134615"/>
              </a:lnSpc>
              <a:spcBef>
                <a:spcPts val="0"/>
              </a:spcBef>
              <a:spcAft>
                <a:spcPts val="0"/>
              </a:spcAft>
              <a:buClr>
                <a:srgbClr val="000000"/>
              </a:buClr>
              <a:buSzPts val="5200"/>
              <a:buFont typeface="Arial"/>
              <a:buNone/>
            </a:pPr>
            <a:r>
              <a:rPr lang="en-US" sz="5200" b="1" i="0" u="none" strike="noStrike" cap="none">
                <a:solidFill>
                  <a:schemeClr val="dk2"/>
                </a:solidFill>
                <a:latin typeface="Arial"/>
                <a:ea typeface="Arial"/>
                <a:cs typeface="Arial"/>
                <a:sym typeface="Arial"/>
              </a:rPr>
              <a:t>Break Time (30mins)</a:t>
            </a:r>
            <a:endParaRPr sz="7500" b="1" i="0" u="none" strike="noStrike" cap="none">
              <a:solidFill>
                <a:schemeClr val="dk2"/>
              </a:solidFill>
              <a:latin typeface="Arial"/>
              <a:ea typeface="Arial"/>
              <a:cs typeface="Arial"/>
              <a:sym typeface="Arial"/>
            </a:endParaRPr>
          </a:p>
        </p:txBody>
      </p:sp>
      <p:grpSp>
        <p:nvGrpSpPr>
          <p:cNvPr id="552" name="Google Shape;552;p43"/>
          <p:cNvGrpSpPr/>
          <p:nvPr/>
        </p:nvGrpSpPr>
        <p:grpSpPr>
          <a:xfrm>
            <a:off x="1913165" y="2881370"/>
            <a:ext cx="2046185" cy="2116531"/>
            <a:chOff x="-858390" y="4477832"/>
            <a:chExt cx="4092370" cy="4233061"/>
          </a:xfrm>
        </p:grpSpPr>
        <p:sp>
          <p:nvSpPr>
            <p:cNvPr id="553" name="Google Shape;553;p43"/>
            <p:cNvSpPr/>
            <p:nvPr/>
          </p:nvSpPr>
          <p:spPr>
            <a:xfrm>
              <a:off x="2099658" y="6974920"/>
              <a:ext cx="1134322" cy="1716691"/>
            </a:xfrm>
            <a:custGeom>
              <a:avLst/>
              <a:gdLst/>
              <a:ahLst/>
              <a:cxnLst/>
              <a:rect l="l" t="t" r="r" b="b"/>
              <a:pathLst>
                <a:path w="1152" h="1740" extrusionOk="0">
                  <a:moveTo>
                    <a:pt x="0" y="1739"/>
                  </a:moveTo>
                  <a:lnTo>
                    <a:pt x="1151" y="918"/>
                  </a:lnTo>
                  <a:lnTo>
                    <a:pt x="1151" y="0"/>
                  </a:lnTo>
                  <a:lnTo>
                    <a:pt x="0" y="1739"/>
                  </a:lnTo>
                </a:path>
              </a:pathLst>
            </a:custGeom>
            <a:solidFill>
              <a:schemeClr val="accent3"/>
            </a:solidFill>
            <a:ln>
              <a:noFill/>
            </a:ln>
          </p:spPr>
          <p:txBody>
            <a:bodyPr spcFirstLastPara="1" wrap="square" lIns="45700" tIns="22850" rIns="45700" bIns="22850" anchor="ctr" anchorCtr="0">
              <a:noAutofit/>
            </a:bodyPr>
            <a:lstStyle/>
            <a:p>
              <a:pPr marL="0" marR="0" lvl="0" indent="0" algn="l" rtl="0">
                <a:lnSpc>
                  <a:spcPct val="100000"/>
                </a:lnSpc>
                <a:spcBef>
                  <a:spcPts val="0"/>
                </a:spcBef>
                <a:spcAft>
                  <a:spcPts val="0"/>
                </a:spcAft>
                <a:buClr>
                  <a:srgbClr val="000000"/>
                </a:buClr>
                <a:buSzPts val="3599"/>
                <a:buFont typeface="Arial"/>
                <a:buNone/>
              </a:pPr>
              <a:endParaRPr sz="3599" b="0" i="0" u="none" strike="noStrike" cap="none">
                <a:solidFill>
                  <a:schemeClr val="dk1"/>
                </a:solidFill>
                <a:latin typeface="Nunito Light"/>
                <a:ea typeface="Nunito Light"/>
                <a:cs typeface="Nunito Light"/>
                <a:sym typeface="Nunito Light"/>
              </a:endParaRPr>
            </a:p>
          </p:txBody>
        </p:sp>
        <p:sp>
          <p:nvSpPr>
            <p:cNvPr id="554" name="Google Shape;554;p43"/>
            <p:cNvSpPr/>
            <p:nvPr/>
          </p:nvSpPr>
          <p:spPr>
            <a:xfrm>
              <a:off x="1777142" y="4477832"/>
              <a:ext cx="1455931" cy="4233061"/>
            </a:xfrm>
            <a:custGeom>
              <a:avLst/>
              <a:gdLst/>
              <a:ahLst/>
              <a:cxnLst/>
              <a:rect l="l" t="t" r="r" b="b"/>
              <a:pathLst>
                <a:path w="1479" h="4296" extrusionOk="0">
                  <a:moveTo>
                    <a:pt x="0" y="0"/>
                  </a:moveTo>
                  <a:lnTo>
                    <a:pt x="327" y="4295"/>
                  </a:lnTo>
                  <a:lnTo>
                    <a:pt x="1478" y="2556"/>
                  </a:lnTo>
                  <a:lnTo>
                    <a:pt x="1478" y="0"/>
                  </a:lnTo>
                  <a:lnTo>
                    <a:pt x="0" y="0"/>
                  </a:lnTo>
                </a:path>
              </a:pathLst>
            </a:custGeom>
            <a:solidFill>
              <a:srgbClr val="78E0E6"/>
            </a:solidFill>
            <a:ln>
              <a:noFill/>
            </a:ln>
          </p:spPr>
          <p:txBody>
            <a:bodyPr spcFirstLastPara="1" wrap="square" lIns="45700" tIns="22850" rIns="45700" bIns="22850" anchor="ctr" anchorCtr="0">
              <a:noAutofit/>
            </a:bodyPr>
            <a:lstStyle/>
            <a:p>
              <a:pPr marL="0" marR="0" lvl="0" indent="0" algn="l" rtl="0">
                <a:lnSpc>
                  <a:spcPct val="100000"/>
                </a:lnSpc>
                <a:spcBef>
                  <a:spcPts val="0"/>
                </a:spcBef>
                <a:spcAft>
                  <a:spcPts val="0"/>
                </a:spcAft>
                <a:buClr>
                  <a:srgbClr val="000000"/>
                </a:buClr>
                <a:buSzPts val="3599"/>
                <a:buFont typeface="Arial"/>
                <a:buNone/>
              </a:pPr>
              <a:endParaRPr sz="3599" b="0" i="0" u="none" strike="noStrike" cap="none">
                <a:solidFill>
                  <a:schemeClr val="dk1"/>
                </a:solidFill>
                <a:latin typeface="Nunito Light"/>
                <a:ea typeface="Nunito Light"/>
                <a:cs typeface="Nunito Light"/>
                <a:sym typeface="Nunito Light"/>
              </a:endParaRPr>
            </a:p>
          </p:txBody>
        </p:sp>
        <p:sp>
          <p:nvSpPr>
            <p:cNvPr id="555" name="Google Shape;555;p43"/>
            <p:cNvSpPr/>
            <p:nvPr/>
          </p:nvSpPr>
          <p:spPr>
            <a:xfrm>
              <a:off x="-525459" y="4477832"/>
              <a:ext cx="2646748" cy="4233061"/>
            </a:xfrm>
            <a:custGeom>
              <a:avLst/>
              <a:gdLst/>
              <a:ahLst/>
              <a:cxnLst/>
              <a:rect l="l" t="t" r="r" b="b"/>
              <a:pathLst>
                <a:path w="2687" h="4296" extrusionOk="0">
                  <a:moveTo>
                    <a:pt x="0" y="0"/>
                  </a:moveTo>
                  <a:lnTo>
                    <a:pt x="2686" y="4295"/>
                  </a:lnTo>
                  <a:lnTo>
                    <a:pt x="2359" y="0"/>
                  </a:lnTo>
                  <a:lnTo>
                    <a:pt x="0" y="0"/>
                  </a:lnTo>
                </a:path>
              </a:pathLst>
            </a:custGeom>
            <a:solidFill>
              <a:schemeClr val="accent3"/>
            </a:solidFill>
            <a:ln>
              <a:noFill/>
            </a:ln>
          </p:spPr>
          <p:txBody>
            <a:bodyPr spcFirstLastPara="1" wrap="square" lIns="45700" tIns="22850" rIns="45700" bIns="22850" anchor="ctr" anchorCtr="0">
              <a:noAutofit/>
            </a:bodyPr>
            <a:lstStyle/>
            <a:p>
              <a:pPr marL="0" marR="0" lvl="0" indent="0" algn="l" rtl="0">
                <a:lnSpc>
                  <a:spcPct val="100000"/>
                </a:lnSpc>
                <a:spcBef>
                  <a:spcPts val="0"/>
                </a:spcBef>
                <a:spcAft>
                  <a:spcPts val="0"/>
                </a:spcAft>
                <a:buClr>
                  <a:srgbClr val="000000"/>
                </a:buClr>
                <a:buSzPts val="3599"/>
                <a:buFont typeface="Arial"/>
                <a:buNone/>
              </a:pPr>
              <a:endParaRPr sz="3599" b="0" i="0" u="none" strike="noStrike" cap="none">
                <a:solidFill>
                  <a:schemeClr val="dk1"/>
                </a:solidFill>
                <a:latin typeface="Nunito Light"/>
                <a:ea typeface="Nunito Light"/>
                <a:cs typeface="Nunito Light"/>
                <a:sym typeface="Nunito Light"/>
              </a:endParaRPr>
            </a:p>
          </p:txBody>
        </p:sp>
        <p:sp>
          <p:nvSpPr>
            <p:cNvPr id="556" name="Google Shape;556;p43"/>
            <p:cNvSpPr/>
            <p:nvPr/>
          </p:nvSpPr>
          <p:spPr>
            <a:xfrm>
              <a:off x="-858390" y="4477832"/>
              <a:ext cx="3003125" cy="4233061"/>
            </a:xfrm>
            <a:custGeom>
              <a:avLst/>
              <a:gdLst/>
              <a:ahLst/>
              <a:cxnLst/>
              <a:rect l="l" t="t" r="r" b="b"/>
              <a:pathLst>
                <a:path w="3049" h="4296" extrusionOk="0">
                  <a:moveTo>
                    <a:pt x="0" y="0"/>
                  </a:moveTo>
                  <a:lnTo>
                    <a:pt x="43" y="3187"/>
                  </a:lnTo>
                  <a:lnTo>
                    <a:pt x="3048" y="4295"/>
                  </a:lnTo>
                  <a:lnTo>
                    <a:pt x="362" y="0"/>
                  </a:lnTo>
                  <a:lnTo>
                    <a:pt x="0" y="0"/>
                  </a:lnTo>
                </a:path>
              </a:pathLst>
            </a:custGeom>
            <a:solidFill>
              <a:srgbClr val="78E0E6"/>
            </a:solidFill>
            <a:ln>
              <a:noFill/>
            </a:ln>
          </p:spPr>
          <p:txBody>
            <a:bodyPr spcFirstLastPara="1" wrap="square" lIns="45700" tIns="22850" rIns="45700" bIns="22850" anchor="ctr" anchorCtr="0">
              <a:noAutofit/>
            </a:bodyPr>
            <a:lstStyle/>
            <a:p>
              <a:pPr marL="0" marR="0" lvl="0" indent="0" algn="l" rtl="0">
                <a:lnSpc>
                  <a:spcPct val="100000"/>
                </a:lnSpc>
                <a:spcBef>
                  <a:spcPts val="0"/>
                </a:spcBef>
                <a:spcAft>
                  <a:spcPts val="0"/>
                </a:spcAft>
                <a:buClr>
                  <a:srgbClr val="000000"/>
                </a:buClr>
                <a:buSzPts val="3599"/>
                <a:buFont typeface="Arial"/>
                <a:buNone/>
              </a:pPr>
              <a:endParaRPr sz="3599" b="0" i="0" u="none" strike="noStrike" cap="none">
                <a:solidFill>
                  <a:schemeClr val="dk1"/>
                </a:solidFill>
                <a:latin typeface="Nunito Light"/>
                <a:ea typeface="Nunito Light"/>
                <a:cs typeface="Nunito Light"/>
                <a:sym typeface="Nunito Light"/>
              </a:endParaRPr>
            </a:p>
          </p:txBody>
        </p:sp>
      </p:grpSp>
    </p:spTree>
  </p:cSld>
  <p:clrMapOvr>
    <a:masterClrMapping/>
  </p:clrMapOvr>
  <p:transition spd="slow">
    <p:push/>
  </p:transition>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mt="40000"/>
          </a:blip>
          <a:stretch>
            <a:fillRect/>
          </a:stretch>
        </a:blipFill>
        <a:effectLst/>
      </p:bgPr>
    </p:bg>
    <p:spTree>
      <p:nvGrpSpPr>
        <p:cNvPr id="1" name="Shape 560"/>
        <p:cNvGrpSpPr/>
        <p:nvPr/>
      </p:nvGrpSpPr>
      <p:grpSpPr>
        <a:xfrm>
          <a:off x="0" y="0"/>
          <a:ext cx="0" cy="0"/>
          <a:chOff x="0" y="0"/>
          <a:chExt cx="0" cy="0"/>
        </a:xfrm>
      </p:grpSpPr>
      <p:sp>
        <p:nvSpPr>
          <p:cNvPr id="561" name="Google Shape;561;p44"/>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Autofit/>
          </a:bodyPr>
          <a:lstStyle/>
          <a:p>
            <a:pPr marL="0" lvl="0" indent="0" algn="ctr" rtl="0">
              <a:lnSpc>
                <a:spcPct val="85000"/>
              </a:lnSpc>
              <a:spcBef>
                <a:spcPts val="0"/>
              </a:spcBef>
              <a:spcAft>
                <a:spcPts val="0"/>
              </a:spcAft>
              <a:buClr>
                <a:srgbClr val="262626"/>
              </a:buClr>
              <a:buSzPts val="6600"/>
              <a:buFont typeface="Arial"/>
              <a:buNone/>
            </a:pPr>
            <a:r>
              <a:rPr lang="en-US" sz="6600" b="1"/>
              <a:t>Network Security</a:t>
            </a:r>
            <a:endParaRPr sz="6600" b="1"/>
          </a:p>
        </p:txBody>
      </p:sp>
    </p:spTree>
  </p:cSld>
  <p:clrMapOvr>
    <a:masterClrMapping/>
  </p:clrMapOvr>
  <p:transition spd="slow">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4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Network Security</a:t>
            </a:r>
            <a:endParaRPr/>
          </a:p>
        </p:txBody>
      </p:sp>
      <p:sp>
        <p:nvSpPr>
          <p:cNvPr id="567" name="Google Shape;567;p45"/>
          <p:cNvSpPr txBox="1">
            <a:spLocks noGrp="1"/>
          </p:cNvSpPr>
          <p:nvPr>
            <p:ph type="body" idx="1"/>
          </p:nvPr>
        </p:nvSpPr>
        <p:spPr>
          <a:xfrm>
            <a:off x="1241658" y="1759111"/>
            <a:ext cx="10115203" cy="3024648"/>
          </a:xfrm>
          <a:prstGeom prst="rect">
            <a:avLst/>
          </a:prstGeom>
          <a:noFill/>
          <a:ln>
            <a:noFill/>
          </a:ln>
        </p:spPr>
        <p:txBody>
          <a:bodyPr spcFirstLastPara="1" wrap="square" lIns="0" tIns="45700" rIns="0" bIns="45700" anchor="t" anchorCtr="0">
            <a:noAutofit/>
          </a:bodyPr>
          <a:lstStyle/>
          <a:p>
            <a:pPr marL="0" lvl="0" indent="0" algn="l" rtl="0">
              <a:lnSpc>
                <a:spcPct val="150000"/>
              </a:lnSpc>
              <a:spcBef>
                <a:spcPts val="0"/>
              </a:spcBef>
              <a:spcAft>
                <a:spcPts val="0"/>
              </a:spcAft>
              <a:buSzPts val="2000"/>
              <a:buNone/>
            </a:pPr>
            <a:r>
              <a:rPr lang="en-US" dirty="0"/>
              <a:t>Encompasses:</a:t>
            </a:r>
            <a:endParaRPr dirty="0"/>
          </a:p>
          <a:p>
            <a:pPr marL="384048" lvl="1" indent="-182880" algn="l" rtl="0">
              <a:lnSpc>
                <a:spcPct val="150000"/>
              </a:lnSpc>
              <a:spcBef>
                <a:spcPts val="200"/>
              </a:spcBef>
              <a:spcAft>
                <a:spcPts val="0"/>
              </a:spcAft>
              <a:buClrTx/>
              <a:buSzPts val="2000"/>
              <a:buFont typeface="Noto Sans Symbols"/>
              <a:buChar char="▪"/>
            </a:pPr>
            <a:r>
              <a:rPr lang="en-US" sz="2000" dirty="0"/>
              <a:t> How to design and secure a network and its resources</a:t>
            </a:r>
            <a:endParaRPr lang="en-US" dirty="0"/>
          </a:p>
          <a:p>
            <a:pPr marL="384048" lvl="1" indent="-182880" algn="l" rtl="0">
              <a:lnSpc>
                <a:spcPct val="150000"/>
              </a:lnSpc>
              <a:spcBef>
                <a:spcPts val="200"/>
              </a:spcBef>
              <a:spcAft>
                <a:spcPts val="0"/>
              </a:spcAft>
              <a:buClrTx/>
              <a:buSzPts val="2000"/>
              <a:buFont typeface="Noto Sans Symbols"/>
              <a:buChar char="▪"/>
            </a:pPr>
            <a:r>
              <a:rPr lang="en-US" sz="2000" dirty="0"/>
              <a:t>How to prevent host device and its resources connected to the network being attack</a:t>
            </a:r>
            <a:endParaRPr lang="en-US" dirty="0"/>
          </a:p>
          <a:p>
            <a:pPr marL="384048" lvl="1" indent="-182880" algn="l" rtl="0">
              <a:lnSpc>
                <a:spcPct val="150000"/>
              </a:lnSpc>
              <a:spcBef>
                <a:spcPts val="200"/>
              </a:spcBef>
              <a:spcAft>
                <a:spcPts val="0"/>
              </a:spcAft>
              <a:buClrTx/>
              <a:buSzPts val="2000"/>
              <a:buFont typeface="Noto Sans Symbols"/>
              <a:buChar char="▪"/>
            </a:pPr>
            <a:r>
              <a:rPr lang="en-US" sz="2000" dirty="0"/>
              <a:t>How to protect the data being transmitted from one end-point to another end-point from being intercepted and exploited</a:t>
            </a:r>
            <a:endParaRPr dirty="0"/>
          </a:p>
          <a:p>
            <a:pPr marL="0" lvl="0" indent="0" algn="l" rtl="0">
              <a:lnSpc>
                <a:spcPct val="150000"/>
              </a:lnSpc>
              <a:spcBef>
                <a:spcPts val="400"/>
              </a:spcBef>
              <a:spcAft>
                <a:spcPts val="200"/>
              </a:spcAft>
              <a:buSzPts val="2000"/>
              <a:buNone/>
            </a:pPr>
            <a:r>
              <a:rPr lang="en-US" dirty="0"/>
              <a:t>Covers studies on known threats and preventive measures to these threats</a:t>
            </a:r>
            <a:endParaRPr dirty="0"/>
          </a:p>
        </p:txBody>
      </p:sp>
    </p:spTree>
  </p:cSld>
  <p:clrMapOvr>
    <a:masterClrMapping/>
  </p:clrMapOvr>
  <p:transition spd="slow">
    <p:fade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4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Firewall: Concept</a:t>
            </a:r>
            <a:endParaRPr/>
          </a:p>
        </p:txBody>
      </p:sp>
      <p:sp>
        <p:nvSpPr>
          <p:cNvPr id="573" name="Google Shape;573;p46"/>
          <p:cNvSpPr txBox="1">
            <a:spLocks noGrp="1"/>
          </p:cNvSpPr>
          <p:nvPr>
            <p:ph type="body" idx="1"/>
          </p:nvPr>
        </p:nvSpPr>
        <p:spPr>
          <a:xfrm>
            <a:off x="1241659" y="1864985"/>
            <a:ext cx="10115203" cy="746455"/>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200"/>
              </a:spcAft>
              <a:buSzPts val="2000"/>
              <a:buNone/>
            </a:pPr>
            <a:r>
              <a:rPr lang="en-US" dirty="0"/>
              <a:t>A technological barrier designed to prevent unauthorized or unwanted communications between computer networks or hosts</a:t>
            </a:r>
            <a:endParaRPr dirty="0"/>
          </a:p>
        </p:txBody>
      </p:sp>
      <p:pic>
        <p:nvPicPr>
          <p:cNvPr id="574" name="Google Shape;574;p46"/>
          <p:cNvPicPr preferRelativeResize="0"/>
          <p:nvPr/>
        </p:nvPicPr>
        <p:blipFill rotWithShape="1">
          <a:blip r:embed="rId3">
            <a:alphaModFix/>
          </a:blip>
          <a:srcRect/>
          <a:stretch/>
        </p:blipFill>
        <p:spPr>
          <a:xfrm>
            <a:off x="1373137" y="3040638"/>
            <a:ext cx="9563487" cy="245034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4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Firewall: Types</a:t>
            </a:r>
            <a:endParaRPr/>
          </a:p>
        </p:txBody>
      </p:sp>
      <p:sp>
        <p:nvSpPr>
          <p:cNvPr id="580" name="Google Shape;580;p47"/>
          <p:cNvSpPr txBox="1">
            <a:spLocks noGrp="1"/>
          </p:cNvSpPr>
          <p:nvPr>
            <p:ph type="body" idx="1"/>
          </p:nvPr>
        </p:nvSpPr>
        <p:spPr>
          <a:xfrm>
            <a:off x="1232033" y="1737360"/>
            <a:ext cx="10058400" cy="4023360"/>
          </a:xfrm>
          <a:prstGeom prst="rect">
            <a:avLst/>
          </a:prstGeom>
          <a:noFill/>
          <a:ln>
            <a:noFill/>
          </a:ln>
        </p:spPr>
        <p:txBody>
          <a:bodyPr spcFirstLastPara="1" wrap="square" lIns="0" tIns="45700" rIns="0" bIns="45700" anchor="t" anchorCtr="0">
            <a:noAutofit/>
          </a:bodyPr>
          <a:lstStyle/>
          <a:p>
            <a:pPr marL="0" lvl="0" indent="0" algn="l" rtl="0">
              <a:lnSpc>
                <a:spcPct val="150000"/>
              </a:lnSpc>
              <a:spcBef>
                <a:spcPts val="0"/>
              </a:spcBef>
              <a:spcAft>
                <a:spcPts val="0"/>
              </a:spcAft>
              <a:buSzPts val="2000"/>
              <a:buNone/>
            </a:pPr>
            <a:r>
              <a:rPr lang="en-US" b="1" dirty="0"/>
              <a:t>Network Firewall: </a:t>
            </a:r>
            <a:r>
              <a:rPr lang="en-US" dirty="0"/>
              <a:t>Designed to protect the resources on the network</a:t>
            </a:r>
            <a:endParaRPr dirty="0"/>
          </a:p>
          <a:p>
            <a:pPr marL="0" lvl="0" indent="0" algn="l" rtl="0">
              <a:lnSpc>
                <a:spcPct val="150000"/>
              </a:lnSpc>
              <a:spcBef>
                <a:spcPts val="200"/>
              </a:spcBef>
              <a:spcAft>
                <a:spcPts val="200"/>
              </a:spcAft>
              <a:buSzPts val="2000"/>
              <a:buNone/>
            </a:pPr>
            <a:r>
              <a:rPr lang="en-US" b="1" dirty="0"/>
              <a:t>Host-Based Firewall:</a:t>
            </a:r>
            <a:r>
              <a:rPr lang="en-US" dirty="0"/>
              <a:t> Designed to protect the resources in a host-device</a:t>
            </a:r>
            <a:endParaRPr dirty="0"/>
          </a:p>
        </p:txBody>
      </p:sp>
      <p:pic>
        <p:nvPicPr>
          <p:cNvPr id="581" name="Google Shape;581;p47" descr="Image result for network firewall vs host firewall"/>
          <p:cNvPicPr preferRelativeResize="0"/>
          <p:nvPr/>
        </p:nvPicPr>
        <p:blipFill rotWithShape="1">
          <a:blip r:embed="rId3">
            <a:alphaModFix/>
          </a:blip>
          <a:srcRect/>
          <a:stretch/>
        </p:blipFill>
        <p:spPr>
          <a:xfrm>
            <a:off x="2376218" y="2971724"/>
            <a:ext cx="7095586" cy="313946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4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Firewall: Techniques</a:t>
            </a:r>
            <a:endParaRPr/>
          </a:p>
        </p:txBody>
      </p:sp>
      <p:sp>
        <p:nvSpPr>
          <p:cNvPr id="587" name="Google Shape;587;p48"/>
          <p:cNvSpPr txBox="1">
            <a:spLocks noGrp="1"/>
          </p:cNvSpPr>
          <p:nvPr>
            <p:ph type="body" idx="1"/>
          </p:nvPr>
        </p:nvSpPr>
        <p:spPr>
          <a:xfrm>
            <a:off x="1203158" y="1698860"/>
            <a:ext cx="10058400" cy="4023360"/>
          </a:xfrm>
          <a:prstGeom prst="rect">
            <a:avLst/>
          </a:prstGeom>
          <a:noFill/>
          <a:ln>
            <a:noFill/>
          </a:ln>
        </p:spPr>
        <p:txBody>
          <a:bodyPr spcFirstLastPara="1" wrap="square" lIns="0" tIns="45700" rIns="0" bIns="45700" anchor="t" anchorCtr="0">
            <a:noAutofit/>
          </a:bodyPr>
          <a:lstStyle/>
          <a:p>
            <a:pPr marL="0" lvl="0" indent="0" algn="l" rtl="0">
              <a:lnSpc>
                <a:spcPct val="200000"/>
              </a:lnSpc>
              <a:spcBef>
                <a:spcPts val="0"/>
              </a:spcBef>
              <a:spcAft>
                <a:spcPts val="0"/>
              </a:spcAft>
              <a:buSzPts val="2000"/>
              <a:buNone/>
            </a:pPr>
            <a:r>
              <a:rPr lang="en-US" b="1" dirty="0"/>
              <a:t>Packet Filtering in </a:t>
            </a:r>
            <a:r>
              <a:rPr lang="en-US" dirty="0"/>
              <a:t>Packet Filtering Firewalls</a:t>
            </a:r>
            <a:endParaRPr dirty="0"/>
          </a:p>
          <a:p>
            <a:pPr marL="0" lvl="0" indent="0" algn="l" rtl="0">
              <a:lnSpc>
                <a:spcPct val="200000"/>
              </a:lnSpc>
              <a:spcBef>
                <a:spcPts val="200"/>
              </a:spcBef>
              <a:spcAft>
                <a:spcPts val="0"/>
              </a:spcAft>
              <a:buSzPts val="2000"/>
              <a:buNone/>
            </a:pPr>
            <a:r>
              <a:rPr lang="en-US" b="1" dirty="0"/>
              <a:t>Circuit Level/Stateful Packet Filtering in</a:t>
            </a:r>
            <a:r>
              <a:rPr lang="en-US" dirty="0"/>
              <a:t> Stateful Inspection Firewalls</a:t>
            </a:r>
            <a:endParaRPr dirty="0"/>
          </a:p>
          <a:p>
            <a:pPr marL="0" lvl="0" indent="0" algn="l" rtl="0">
              <a:lnSpc>
                <a:spcPct val="200000"/>
              </a:lnSpc>
              <a:spcBef>
                <a:spcPts val="200"/>
              </a:spcBef>
              <a:spcAft>
                <a:spcPts val="200"/>
              </a:spcAft>
              <a:buSzPts val="2000"/>
              <a:buNone/>
            </a:pPr>
            <a:r>
              <a:rPr lang="en-US" b="1" dirty="0"/>
              <a:t>Application-Level Filtering in</a:t>
            </a:r>
            <a:r>
              <a:rPr lang="en-US" dirty="0"/>
              <a:t> Proxy Firewalls</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4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Firewall: Packet Filtering</a:t>
            </a:r>
            <a:endParaRPr/>
          </a:p>
        </p:txBody>
      </p:sp>
      <p:sp>
        <p:nvSpPr>
          <p:cNvPr id="593" name="Google Shape;593;p49"/>
          <p:cNvSpPr txBox="1">
            <a:spLocks noGrp="1"/>
          </p:cNvSpPr>
          <p:nvPr>
            <p:ph type="body" idx="1"/>
          </p:nvPr>
        </p:nvSpPr>
        <p:spPr>
          <a:xfrm>
            <a:off x="1183905" y="1694046"/>
            <a:ext cx="10058400" cy="2967429"/>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1200"/>
              </a:spcBef>
              <a:spcAft>
                <a:spcPts val="0"/>
              </a:spcAft>
              <a:buSzPts val="2000"/>
              <a:buNone/>
            </a:pPr>
            <a:r>
              <a:rPr lang="en-US" dirty="0"/>
              <a:t> Each data packet</a:t>
            </a:r>
            <a:endParaRPr lang="en-US" sz="1800" dirty="0"/>
          </a:p>
          <a:p>
            <a:pPr marL="800100" lvl="1">
              <a:lnSpc>
                <a:spcPct val="100000"/>
              </a:lnSpc>
              <a:spcBef>
                <a:spcPts val="1200"/>
              </a:spcBef>
              <a:buClrTx/>
              <a:buSzPct val="100000"/>
              <a:buFont typeface="Arial" panose="020B0604020202020204" pitchFamily="34" charset="0"/>
              <a:buChar char="•"/>
            </a:pPr>
            <a:r>
              <a:rPr lang="en-US" dirty="0"/>
              <a:t>Has a unique source and destination stamp in its header</a:t>
            </a:r>
          </a:p>
          <a:p>
            <a:pPr marL="800100" lvl="1">
              <a:lnSpc>
                <a:spcPct val="100000"/>
              </a:lnSpc>
              <a:spcBef>
                <a:spcPts val="1200"/>
              </a:spcBef>
              <a:buClrTx/>
              <a:buSzPct val="100000"/>
              <a:buFont typeface="Arial" panose="020B0604020202020204" pitchFamily="34" charset="0"/>
              <a:buChar char="•"/>
            </a:pPr>
            <a:r>
              <a:rPr lang="en-US" sz="2000" dirty="0"/>
              <a:t>Depending on its type, it can only either enter or exit the system via a specific port</a:t>
            </a:r>
          </a:p>
          <a:p>
            <a:pPr marL="800100" lvl="1">
              <a:lnSpc>
                <a:spcPct val="100000"/>
              </a:lnSpc>
              <a:spcBef>
                <a:spcPts val="1200"/>
              </a:spcBef>
              <a:buClrTx/>
              <a:buSzPct val="100000"/>
              <a:buFont typeface="Arial" panose="020B0604020202020204" pitchFamily="34" charset="0"/>
              <a:buChar char="•"/>
            </a:pPr>
            <a:r>
              <a:rPr lang="en-US" sz="2000" dirty="0"/>
              <a:t>All, received or transmitted, are inspected</a:t>
            </a:r>
            <a:endParaRPr lang="en-US" dirty="0"/>
          </a:p>
          <a:p>
            <a:pPr marL="0" lvl="0" indent="0" algn="l" rtl="0">
              <a:lnSpc>
                <a:spcPct val="100000"/>
              </a:lnSpc>
              <a:spcBef>
                <a:spcPts val="400"/>
              </a:spcBef>
              <a:spcAft>
                <a:spcPts val="200"/>
              </a:spcAft>
              <a:buSzPts val="2000"/>
              <a:buNone/>
            </a:pPr>
            <a:r>
              <a:rPr lang="en-US" dirty="0"/>
              <a:t>Data packet accepted or rejected based on a set of pre-defined filtering rules set by the network administrator</a:t>
            </a:r>
            <a:endParaRPr dirty="0"/>
          </a:p>
        </p:txBody>
      </p:sp>
      <p:pic>
        <p:nvPicPr>
          <p:cNvPr id="594" name="Google Shape;594;p49"/>
          <p:cNvPicPr preferRelativeResize="0"/>
          <p:nvPr/>
        </p:nvPicPr>
        <p:blipFill rotWithShape="1">
          <a:blip r:embed="rId3">
            <a:alphaModFix/>
          </a:blip>
          <a:srcRect r="3475" b="5450"/>
          <a:stretch/>
        </p:blipFill>
        <p:spPr>
          <a:xfrm>
            <a:off x="3689685" y="3969979"/>
            <a:ext cx="5175182" cy="2320573"/>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Arial"/>
              <a:buNone/>
            </a:pPr>
            <a:r>
              <a:rPr lang="en-US"/>
              <a:t>Firewall: Packet Filtering</a:t>
            </a:r>
            <a:endParaRPr/>
          </a:p>
        </p:txBody>
      </p:sp>
      <p:sp>
        <p:nvSpPr>
          <p:cNvPr id="600" name="Google Shape;600;p50"/>
          <p:cNvSpPr txBox="1">
            <a:spLocks noGrp="1"/>
          </p:cNvSpPr>
          <p:nvPr>
            <p:ph type="body" idx="1"/>
          </p:nvPr>
        </p:nvSpPr>
        <p:spPr>
          <a:xfrm>
            <a:off x="1289785" y="1864984"/>
            <a:ext cx="10058400" cy="4023360"/>
          </a:xfrm>
          <a:prstGeom prst="rect">
            <a:avLst/>
          </a:prstGeom>
          <a:noFill/>
          <a:ln>
            <a:noFill/>
          </a:ln>
        </p:spPr>
        <p:txBody>
          <a:bodyPr spcFirstLastPara="1" wrap="square" lIns="0" tIns="45700" rIns="0" bIns="45700" anchor="t" anchorCtr="0">
            <a:normAutofit/>
          </a:bodyPr>
          <a:lstStyle/>
          <a:p>
            <a:pPr marL="0" lvl="0" indent="0" algn="l" rtl="0">
              <a:lnSpc>
                <a:spcPct val="90000"/>
              </a:lnSpc>
              <a:spcBef>
                <a:spcPts val="0"/>
              </a:spcBef>
              <a:spcAft>
                <a:spcPts val="0"/>
              </a:spcAft>
              <a:buSzPts val="2000"/>
              <a:buNone/>
            </a:pPr>
            <a:r>
              <a:rPr lang="en-US" i="1" dirty="0"/>
              <a:t>In More Relatable Terms</a:t>
            </a:r>
            <a:endParaRPr dirty="0"/>
          </a:p>
          <a:p>
            <a:pPr marL="800100" lvl="1">
              <a:spcBef>
                <a:spcPts val="1400"/>
              </a:spcBef>
              <a:buClrTx/>
              <a:buSzPct val="100000"/>
              <a:buFont typeface="Arial" panose="020B0604020202020204" pitchFamily="34" charset="0"/>
              <a:buChar char="•"/>
            </a:pPr>
            <a:r>
              <a:rPr lang="en-US" dirty="0"/>
              <a:t>You’re </a:t>
            </a:r>
            <a:r>
              <a:rPr lang="en-US" i="1" dirty="0"/>
              <a:t>(a data packet)</a:t>
            </a:r>
            <a:r>
              <a:rPr lang="en-US" dirty="0"/>
              <a:t> travelling overseas for a holiday</a:t>
            </a:r>
          </a:p>
          <a:p>
            <a:pPr marL="800100" lvl="1">
              <a:spcBef>
                <a:spcPts val="1400"/>
              </a:spcBef>
              <a:buClrTx/>
              <a:buSzPct val="100000"/>
              <a:buFont typeface="Arial" panose="020B0604020202020204" pitchFamily="34" charset="0"/>
              <a:buChar char="•"/>
            </a:pPr>
            <a:r>
              <a:rPr lang="en-US" dirty="0"/>
              <a:t>Specified in the ticket, you are entitled to a flight from Singapore </a:t>
            </a:r>
            <a:r>
              <a:rPr lang="en-US" i="1" dirty="0"/>
              <a:t>(source)</a:t>
            </a:r>
            <a:r>
              <a:rPr lang="en-US" dirty="0"/>
              <a:t> to the United States </a:t>
            </a:r>
            <a:r>
              <a:rPr lang="en-US" i="1" dirty="0"/>
              <a:t>(destination)</a:t>
            </a:r>
          </a:p>
          <a:p>
            <a:pPr marL="800100" lvl="1">
              <a:spcBef>
                <a:spcPts val="1400"/>
              </a:spcBef>
              <a:buClrTx/>
              <a:buSzPct val="100000"/>
              <a:buFont typeface="Arial" panose="020B0604020202020204" pitchFamily="34" charset="0"/>
              <a:buChar char="•"/>
            </a:pPr>
            <a:r>
              <a:rPr lang="en-US" dirty="0"/>
              <a:t>Also specified, you are only entitled to leave Singapore from Changi Airport </a:t>
            </a:r>
            <a:r>
              <a:rPr lang="en-US" i="1" dirty="0"/>
              <a:t>(port) </a:t>
            </a:r>
            <a:r>
              <a:rPr lang="en-US" dirty="0"/>
              <a:t>and land only at SeaTac Airport </a:t>
            </a:r>
            <a:r>
              <a:rPr lang="en-US" i="1" dirty="0"/>
              <a:t>(port) </a:t>
            </a:r>
            <a:r>
              <a:rPr lang="en-US" dirty="0"/>
              <a:t>in Seattle, US</a:t>
            </a:r>
          </a:p>
          <a:p>
            <a:pPr marL="800100" lvl="1">
              <a:spcBef>
                <a:spcPts val="1400"/>
              </a:spcBef>
              <a:buClrTx/>
              <a:buSzPct val="100000"/>
              <a:buFont typeface="Arial" panose="020B0604020202020204" pitchFamily="34" charset="0"/>
              <a:buChar char="•"/>
            </a:pPr>
            <a:r>
              <a:rPr lang="en-US" dirty="0"/>
              <a:t>If for some hypothetical reason you have a bad criminal record in the US, when you reach SeaTac Airport, you may be denied entry into the US when determined by the border agents </a:t>
            </a:r>
            <a:r>
              <a:rPr lang="en-US" i="1" dirty="0"/>
              <a:t>(rules set by network administrators)</a:t>
            </a:r>
            <a:endParaRPr dirty="0"/>
          </a:p>
          <a:p>
            <a:pPr marL="0" lvl="0" indent="0" algn="l" rtl="0">
              <a:lnSpc>
                <a:spcPct val="90000"/>
              </a:lnSpc>
              <a:spcBef>
                <a:spcPts val="1400"/>
              </a:spcBef>
              <a:spcAft>
                <a:spcPts val="0"/>
              </a:spcAft>
              <a:buSzPts val="2000"/>
              <a:buNone/>
            </a:pPr>
            <a:r>
              <a:rPr lang="en-US" i="1" dirty="0"/>
              <a:t>* Assuming checks are on done on entry</a:t>
            </a:r>
            <a:endParaRPr dirty="0"/>
          </a:p>
        </p:txBody>
      </p:sp>
      <p:pic>
        <p:nvPicPr>
          <p:cNvPr id="601" name="Google Shape;601;p50" descr="Airplane"/>
          <p:cNvPicPr preferRelativeResize="0"/>
          <p:nvPr/>
        </p:nvPicPr>
        <p:blipFill rotWithShape="1">
          <a:blip r:embed="rId3">
            <a:alphaModFix/>
          </a:blip>
          <a:srcRect/>
          <a:stretch/>
        </p:blipFill>
        <p:spPr>
          <a:xfrm rot="2464729">
            <a:off x="7994937" y="-314641"/>
            <a:ext cx="4615791" cy="461579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5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Firewall: Stateful Packet Filtering</a:t>
            </a:r>
            <a:endParaRPr/>
          </a:p>
        </p:txBody>
      </p:sp>
      <p:sp>
        <p:nvSpPr>
          <p:cNvPr id="607" name="Google Shape;607;p51"/>
          <p:cNvSpPr txBox="1">
            <a:spLocks noGrp="1"/>
          </p:cNvSpPr>
          <p:nvPr>
            <p:ph type="body" idx="1"/>
          </p:nvPr>
        </p:nvSpPr>
        <p:spPr>
          <a:xfrm>
            <a:off x="1260908" y="1845734"/>
            <a:ext cx="9864291" cy="4023360"/>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0"/>
              </a:spcAft>
              <a:buSzPts val="2000"/>
              <a:buNone/>
            </a:pPr>
            <a:r>
              <a:rPr lang="en-US" dirty="0"/>
              <a:t>Determine if a data packet belongs to either a new or existing connection</a:t>
            </a:r>
            <a:endParaRPr lang="en-US" sz="1800" dirty="0"/>
          </a:p>
          <a:p>
            <a:pPr marL="800100" lvl="1">
              <a:lnSpc>
                <a:spcPct val="150000"/>
              </a:lnSpc>
              <a:spcBef>
                <a:spcPts val="0"/>
              </a:spcBef>
              <a:buClrTx/>
              <a:buSzPct val="100000"/>
              <a:buFont typeface="Arial" panose="020B0604020202020204" pitchFamily="34" charset="0"/>
              <a:buChar char="•"/>
            </a:pPr>
            <a:r>
              <a:rPr lang="en-US" dirty="0"/>
              <a:t>Allow packets matching a known connection state to get through</a:t>
            </a:r>
          </a:p>
          <a:p>
            <a:pPr marL="800100" lvl="1">
              <a:lnSpc>
                <a:spcPct val="150000"/>
              </a:lnSpc>
              <a:spcBef>
                <a:spcPts val="0"/>
              </a:spcBef>
              <a:buClrTx/>
              <a:buSzPct val="100000"/>
              <a:buFont typeface="Arial" panose="020B0604020202020204" pitchFamily="34" charset="0"/>
              <a:buChar char="•"/>
            </a:pPr>
            <a:r>
              <a:rPr lang="en-US" dirty="0"/>
              <a:t>A firewall implementing this technique keeps track of the state of network connections (TCP streams, UDP communication, etc.) traveling across it</a:t>
            </a:r>
          </a:p>
          <a:p>
            <a:pPr marL="800100" lvl="1">
              <a:lnSpc>
                <a:spcPct val="150000"/>
              </a:lnSpc>
              <a:spcBef>
                <a:spcPts val="0"/>
              </a:spcBef>
              <a:buClrTx/>
              <a:buSzPct val="100000"/>
              <a:buFont typeface="Arial" panose="020B0604020202020204" pitchFamily="34" charset="0"/>
              <a:buChar char="•"/>
            </a:pPr>
            <a:r>
              <a:rPr lang="en-US" dirty="0"/>
              <a:t>Once all packets have been received/transmitted, the connection is no longer tracked</a:t>
            </a:r>
            <a:endParaRPr dirty="0"/>
          </a:p>
          <a:p>
            <a:pPr marL="0" lvl="0" indent="0" algn="l" rtl="0">
              <a:lnSpc>
                <a:spcPct val="100000"/>
              </a:lnSpc>
              <a:spcBef>
                <a:spcPts val="400"/>
              </a:spcBef>
              <a:spcAft>
                <a:spcPts val="0"/>
              </a:spcAft>
              <a:buSzPts val="2000"/>
              <a:buNone/>
            </a:pPr>
            <a:endParaRPr lang="en-US" dirty="0"/>
          </a:p>
          <a:p>
            <a:pPr marL="0" lvl="0" indent="0" algn="l" rtl="0">
              <a:lnSpc>
                <a:spcPct val="100000"/>
              </a:lnSpc>
              <a:spcBef>
                <a:spcPts val="400"/>
              </a:spcBef>
              <a:spcAft>
                <a:spcPts val="0"/>
              </a:spcAft>
              <a:buSzPts val="2000"/>
              <a:buNone/>
            </a:pPr>
            <a:r>
              <a:rPr lang="en-US" u="sng" dirty="0"/>
              <a:t>Example: </a:t>
            </a:r>
            <a:r>
              <a:rPr lang="en-US" dirty="0"/>
              <a:t>You have invited some friends (10 people) over for a party at home</a:t>
            </a:r>
            <a:endParaRPr lang="en-US" sz="1800" dirty="0"/>
          </a:p>
          <a:p>
            <a:pPr marL="800100" lvl="1">
              <a:lnSpc>
                <a:spcPct val="150000"/>
              </a:lnSpc>
              <a:spcBef>
                <a:spcPts val="400"/>
              </a:spcBef>
              <a:buClrTx/>
              <a:buSzPct val="100000"/>
              <a:buFont typeface="Arial" panose="020B0604020202020204" pitchFamily="34" charset="0"/>
              <a:buChar char="•"/>
            </a:pPr>
            <a:r>
              <a:rPr lang="en-US" dirty="0"/>
              <a:t>Acting like a firewall, you wait until your 10 friends show up before commencing the party</a:t>
            </a:r>
          </a:p>
          <a:p>
            <a:pPr marL="800100" lvl="1">
              <a:lnSpc>
                <a:spcPct val="150000"/>
              </a:lnSpc>
              <a:spcBef>
                <a:spcPts val="400"/>
              </a:spcBef>
              <a:buClrTx/>
              <a:buSzPct val="100000"/>
              <a:buFont typeface="Arial" panose="020B0604020202020204" pitchFamily="34" charset="0"/>
              <a:buChar char="•"/>
            </a:pPr>
            <a:r>
              <a:rPr lang="en-US" dirty="0"/>
              <a:t>In the meanwhile, you prevent everyone else who were not invited from entering your home</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52"/>
          <p:cNvSpPr txBox="1">
            <a:spLocks noGrp="1"/>
          </p:cNvSpPr>
          <p:nvPr>
            <p:ph type="title"/>
          </p:nvPr>
        </p:nvSpPr>
        <p:spPr>
          <a:xfrm>
            <a:off x="1097280" y="286603"/>
            <a:ext cx="10655166"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dirty="0"/>
              <a:t>Application-Level Filtering Technique</a:t>
            </a:r>
            <a:endParaRPr dirty="0"/>
          </a:p>
        </p:txBody>
      </p:sp>
      <p:sp>
        <p:nvSpPr>
          <p:cNvPr id="613" name="Google Shape;613;p52"/>
          <p:cNvSpPr txBox="1">
            <a:spLocks noGrp="1"/>
          </p:cNvSpPr>
          <p:nvPr>
            <p:ph type="body" idx="1"/>
          </p:nvPr>
        </p:nvSpPr>
        <p:spPr>
          <a:xfrm>
            <a:off x="1193533" y="1855359"/>
            <a:ext cx="10058400" cy="4023360"/>
          </a:xfrm>
          <a:prstGeom prst="rect">
            <a:avLst/>
          </a:prstGeom>
          <a:noFill/>
          <a:ln>
            <a:noFill/>
          </a:ln>
        </p:spPr>
        <p:txBody>
          <a:bodyPr spcFirstLastPara="1" wrap="square" lIns="0" tIns="45700" rIns="0" bIns="45700" anchor="t" anchorCtr="0">
            <a:noAutofit/>
          </a:bodyPr>
          <a:lstStyle/>
          <a:p>
            <a:pPr marL="0" lvl="0" indent="0" algn="l" rtl="0">
              <a:lnSpc>
                <a:spcPct val="150000"/>
              </a:lnSpc>
              <a:spcBef>
                <a:spcPts val="0"/>
              </a:spcBef>
              <a:spcAft>
                <a:spcPts val="0"/>
              </a:spcAft>
              <a:buSzPts val="2000"/>
              <a:buNone/>
            </a:pPr>
            <a:r>
              <a:rPr lang="en-US" dirty="0"/>
              <a:t>Filtering based on the application information within the packet</a:t>
            </a:r>
          </a:p>
          <a:p>
            <a:pPr marL="800100" lvl="1">
              <a:lnSpc>
                <a:spcPct val="150000"/>
              </a:lnSpc>
              <a:spcBef>
                <a:spcPts val="0"/>
              </a:spcBef>
              <a:buClrTx/>
              <a:buSzPct val="100000"/>
              <a:buFont typeface="Arial" panose="020B0604020202020204" pitchFamily="34" charset="0"/>
              <a:buChar char="•"/>
            </a:pPr>
            <a:r>
              <a:rPr lang="en-US" dirty="0"/>
              <a:t>Proxies, based on the application’s context, will drop suspicious connections or data</a:t>
            </a:r>
          </a:p>
          <a:p>
            <a:pPr marL="800100" lvl="1">
              <a:lnSpc>
                <a:spcPct val="150000"/>
              </a:lnSpc>
              <a:spcBef>
                <a:spcPts val="0"/>
              </a:spcBef>
              <a:buClrTx/>
              <a:buSzPct val="100000"/>
              <a:buFont typeface="Arial" panose="020B0604020202020204" pitchFamily="34" charset="0"/>
              <a:buChar char="•"/>
            </a:pPr>
            <a:r>
              <a:rPr lang="en-US" dirty="0"/>
              <a:t>Clients and servers communicate indirectly via proxies instead of a direct connection</a:t>
            </a:r>
            <a:endParaRPr dirty="0"/>
          </a:p>
          <a:p>
            <a:pPr marL="0" lvl="0" indent="0" algn="l" rtl="0">
              <a:lnSpc>
                <a:spcPct val="100000"/>
              </a:lnSpc>
              <a:spcBef>
                <a:spcPts val="400"/>
              </a:spcBef>
              <a:spcAft>
                <a:spcPts val="200"/>
              </a:spcAft>
              <a:buSzPts val="2000"/>
              <a:buNone/>
            </a:pPr>
            <a:endParaRPr lang="en-US" u="sng" dirty="0"/>
          </a:p>
          <a:p>
            <a:pPr marL="0" lvl="0" indent="0" algn="l" rtl="0">
              <a:lnSpc>
                <a:spcPct val="150000"/>
              </a:lnSpc>
              <a:spcBef>
                <a:spcPts val="400"/>
              </a:spcBef>
              <a:spcAft>
                <a:spcPts val="200"/>
              </a:spcAft>
              <a:buSzPts val="2000"/>
              <a:buNone/>
            </a:pPr>
            <a:r>
              <a:rPr lang="en-US" u="sng" dirty="0"/>
              <a:t>Example:</a:t>
            </a:r>
            <a:r>
              <a:rPr lang="en-US" dirty="0"/>
              <a:t> If you’re invited to a ballroom gala event at a hotel with a ‘Formal’ dress code but appear in jeans and slippers (non-compliant non-formal attire), the gala’s reception/registration </a:t>
            </a:r>
            <a:r>
              <a:rPr lang="en-US" i="1" dirty="0"/>
              <a:t>(acting as a proxy)</a:t>
            </a:r>
            <a:r>
              <a:rPr lang="en-US" dirty="0"/>
              <a:t> will prevent you from attending the gala despite having gained access to the hotel’s grounds</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IP Address Spoofing</a:t>
            </a:r>
            <a:endParaRPr lang="en-SG" dirty="0"/>
          </a:p>
        </p:txBody>
      </p:sp>
      <p:sp>
        <p:nvSpPr>
          <p:cNvPr id="4" name="Google Shape;166;p4">
            <a:extLst>
              <a:ext uri="{FF2B5EF4-FFF2-40B4-BE49-F238E27FC236}">
                <a16:creationId xmlns:a16="http://schemas.microsoft.com/office/drawing/2014/main" id="{A77F7B4B-79A3-472D-AAA4-FE3B394FA19C}"/>
              </a:ext>
            </a:extLst>
          </p:cNvPr>
          <p:cNvSpPr txBox="1"/>
          <p:nvPr/>
        </p:nvSpPr>
        <p:spPr>
          <a:xfrm>
            <a:off x="1137547" y="1939491"/>
            <a:ext cx="10018133" cy="3838915"/>
          </a:xfrm>
          <a:prstGeom prst="rect">
            <a:avLst/>
          </a:prstGeom>
          <a:noFill/>
          <a:ln>
            <a:noFill/>
          </a:ln>
        </p:spPr>
        <p:txBody>
          <a:bodyPr spcFirstLastPara="1" wrap="square" lIns="45700" tIns="22850" rIns="45700" bIns="22850" anchor="t" anchorCtr="0">
            <a:noAutofit/>
          </a:bodyPr>
          <a:lstStyle/>
          <a:p>
            <a:pPr marL="285744" indent="-285744">
              <a:buClrTx/>
              <a:buSzPts val="2000"/>
              <a:buFont typeface="Arial"/>
              <a:buChar char="•"/>
            </a:pPr>
            <a:r>
              <a:rPr lang="en-US" sz="2000" dirty="0">
                <a:solidFill>
                  <a:schemeClr val="accent2"/>
                </a:solidFill>
                <a:latin typeface="Arial"/>
                <a:ea typeface="Arial"/>
                <a:cs typeface="Arial"/>
                <a:sym typeface="Arial"/>
              </a:rPr>
              <a:t>IP: Internet Protocol</a:t>
            </a:r>
          </a:p>
          <a:p>
            <a:pPr marL="285744" indent="-285744">
              <a:buClr>
                <a:schemeClr val="accent1"/>
              </a:buClr>
              <a:buSzPts val="2000"/>
              <a:buFont typeface="Arial"/>
              <a:buChar char="•"/>
            </a:pPr>
            <a:endParaRPr lang="en-US" sz="2000" dirty="0">
              <a:solidFill>
                <a:schemeClr val="dk1"/>
              </a:solidFill>
              <a:latin typeface="Arial"/>
              <a:ea typeface="Arial"/>
              <a:cs typeface="Arial"/>
              <a:sym typeface="Arial"/>
            </a:endParaRPr>
          </a:p>
          <a:p>
            <a:pPr marL="285744" indent="-285744">
              <a:buClrTx/>
              <a:buSzPts val="2000"/>
              <a:buFont typeface="Arial"/>
              <a:buChar char="•"/>
            </a:pPr>
            <a:r>
              <a:rPr lang="en-US" sz="2000" dirty="0">
                <a:solidFill>
                  <a:schemeClr val="dk1"/>
                </a:solidFill>
                <a:latin typeface="Arial"/>
                <a:ea typeface="Arial"/>
                <a:cs typeface="Arial"/>
                <a:sym typeface="Arial"/>
              </a:rPr>
              <a:t>IP Spoofing is the technique of faking the source IP address of a network packet sent from a device</a:t>
            </a:r>
          </a:p>
          <a:p>
            <a:pPr marL="285744" indent="-285744">
              <a:buClrTx/>
              <a:buSzPts val="2000"/>
              <a:buFont typeface="Arial"/>
              <a:buChar char="•"/>
            </a:pPr>
            <a:endParaRPr lang="en-US" sz="2000" dirty="0">
              <a:solidFill>
                <a:schemeClr val="dk1"/>
              </a:solidFill>
            </a:endParaRPr>
          </a:p>
          <a:p>
            <a:pPr marL="285744" indent="-285744">
              <a:buClrTx/>
              <a:buSzPts val="2000"/>
              <a:buFont typeface="Arial"/>
              <a:buChar char="•"/>
            </a:pPr>
            <a:r>
              <a:rPr lang="en-US" sz="2000" dirty="0">
                <a:solidFill>
                  <a:schemeClr val="dk1"/>
                </a:solidFill>
                <a:latin typeface="Arial"/>
                <a:ea typeface="Arial"/>
                <a:cs typeface="Arial"/>
                <a:sym typeface="Arial"/>
              </a:rPr>
              <a:t>IP addresses are used to identify specific device; using a fake IP address allow hackers to hide or disguise their real identity</a:t>
            </a:r>
            <a:endParaRPr sz="20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230793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Why Spoof IP?</a:t>
            </a:r>
            <a:endParaRPr lang="en-SG" dirty="0"/>
          </a:p>
        </p:txBody>
      </p:sp>
      <p:sp>
        <p:nvSpPr>
          <p:cNvPr id="4" name="Google Shape;166;p4">
            <a:extLst>
              <a:ext uri="{FF2B5EF4-FFF2-40B4-BE49-F238E27FC236}">
                <a16:creationId xmlns:a16="http://schemas.microsoft.com/office/drawing/2014/main" id="{A77F7B4B-79A3-472D-AAA4-FE3B394FA19C}"/>
              </a:ext>
            </a:extLst>
          </p:cNvPr>
          <p:cNvSpPr txBox="1"/>
          <p:nvPr/>
        </p:nvSpPr>
        <p:spPr>
          <a:xfrm>
            <a:off x="1137547" y="1939490"/>
            <a:ext cx="10018133" cy="3838915"/>
          </a:xfrm>
          <a:prstGeom prst="rect">
            <a:avLst/>
          </a:prstGeom>
          <a:noFill/>
          <a:ln>
            <a:noFill/>
          </a:ln>
        </p:spPr>
        <p:txBody>
          <a:bodyPr spcFirstLastPara="1" wrap="square" lIns="45700" tIns="22850" rIns="45700" bIns="22850" anchor="t" anchorCtr="0">
            <a:noAutofit/>
          </a:bodyPr>
          <a:lstStyle/>
          <a:p>
            <a:pPr marL="285744" indent="-285744">
              <a:buClrTx/>
              <a:buSzPts val="2000"/>
              <a:buFont typeface="Arial"/>
              <a:buChar char="•"/>
            </a:pPr>
            <a:r>
              <a:rPr lang="en-US" sz="2000" dirty="0">
                <a:solidFill>
                  <a:schemeClr val="dk1"/>
                </a:solidFill>
                <a:latin typeface="Arial"/>
                <a:ea typeface="Arial"/>
                <a:cs typeface="Arial"/>
                <a:sym typeface="Arial"/>
              </a:rPr>
              <a:t>Bypass Authentication based on IP address to access certain resources within a network</a:t>
            </a:r>
          </a:p>
          <a:p>
            <a:pPr marL="285744" lvl="1" indent="-285744">
              <a:buClrTx/>
              <a:buSzPts val="2000"/>
              <a:buFont typeface="Arial"/>
              <a:buChar char="•"/>
            </a:pPr>
            <a:endParaRPr lang="en-US" sz="2000" dirty="0">
              <a:solidFill>
                <a:schemeClr val="dk1"/>
              </a:solidFill>
            </a:endParaRPr>
          </a:p>
          <a:p>
            <a:pPr marL="285744" lvl="1" indent="-285744">
              <a:buClrTx/>
              <a:buSzPts val="2000"/>
              <a:buFont typeface="Arial"/>
              <a:buChar char="•"/>
            </a:pPr>
            <a:r>
              <a:rPr lang="en-US" sz="2000" dirty="0">
                <a:solidFill>
                  <a:schemeClr val="dk1"/>
                </a:solidFill>
                <a:latin typeface="Arial"/>
                <a:ea typeface="Arial"/>
                <a:cs typeface="Arial"/>
                <a:sym typeface="Arial"/>
              </a:rPr>
              <a:t>Attacker would want to impersonate a target device within a network of interest</a:t>
            </a:r>
          </a:p>
          <a:p>
            <a:pPr marL="285744" lvl="2" indent="-285744">
              <a:buClrTx/>
              <a:buSzPts val="2000"/>
              <a:buFont typeface="Arial"/>
              <a:buChar char="•"/>
            </a:pPr>
            <a:endParaRPr lang="en-US" sz="2000" dirty="0">
              <a:solidFill>
                <a:schemeClr val="dk1"/>
              </a:solidFill>
            </a:endParaRPr>
          </a:p>
          <a:p>
            <a:pPr marL="285744" lvl="2" indent="-285744">
              <a:buClrTx/>
              <a:buSzPts val="2000"/>
              <a:buFont typeface="Arial"/>
              <a:buChar char="•"/>
            </a:pPr>
            <a:r>
              <a:rPr lang="en-US" sz="2000" dirty="0">
                <a:solidFill>
                  <a:schemeClr val="dk1"/>
                </a:solidFill>
                <a:latin typeface="Arial"/>
                <a:ea typeface="Arial"/>
                <a:cs typeface="Arial"/>
                <a:sym typeface="Arial"/>
              </a:rPr>
              <a:t>By assuming that target’s IP address, attacker can conceal his/her identity</a:t>
            </a:r>
          </a:p>
          <a:p>
            <a:pPr marL="285744" lvl="2" indent="-285744">
              <a:buClrTx/>
              <a:buSzPts val="2000"/>
              <a:buFont typeface="Arial"/>
              <a:buChar char="•"/>
            </a:pPr>
            <a:endParaRPr lang="en-US" sz="2000" dirty="0">
              <a:solidFill>
                <a:schemeClr val="dk1"/>
              </a:solidFill>
            </a:endParaRPr>
          </a:p>
          <a:p>
            <a:pPr marL="285744" lvl="2" indent="-285744">
              <a:buClrTx/>
              <a:buSzPts val="2000"/>
              <a:buFont typeface="Arial"/>
              <a:buChar char="•"/>
            </a:pPr>
            <a:r>
              <a:rPr lang="en-US" sz="2000" dirty="0">
                <a:solidFill>
                  <a:schemeClr val="dk1"/>
                </a:solidFill>
                <a:latin typeface="Arial"/>
                <a:ea typeface="Arial"/>
                <a:cs typeface="Arial"/>
                <a:sym typeface="Arial"/>
              </a:rPr>
              <a:t>Defeat security measure solely based on IP address Authentication</a:t>
            </a:r>
          </a:p>
        </p:txBody>
      </p:sp>
    </p:spTree>
    <p:extLst>
      <p:ext uri="{BB962C8B-B14F-4D97-AF65-F5344CB8AC3E}">
        <p14:creationId xmlns:p14="http://schemas.microsoft.com/office/powerpoint/2010/main" val="11920448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a:t>How to know your IP Address?</a:t>
            </a:r>
            <a:endParaRPr lang="en-SG" dirty="0"/>
          </a:p>
        </p:txBody>
      </p:sp>
      <p:sp>
        <p:nvSpPr>
          <p:cNvPr id="4" name="Google Shape;166;p4">
            <a:extLst>
              <a:ext uri="{FF2B5EF4-FFF2-40B4-BE49-F238E27FC236}">
                <a16:creationId xmlns:a16="http://schemas.microsoft.com/office/drawing/2014/main" id="{A77F7B4B-79A3-472D-AAA4-FE3B394FA19C}"/>
              </a:ext>
            </a:extLst>
          </p:cNvPr>
          <p:cNvSpPr txBox="1"/>
          <p:nvPr/>
        </p:nvSpPr>
        <p:spPr>
          <a:xfrm>
            <a:off x="1199951" y="1860200"/>
            <a:ext cx="10018133" cy="3838915"/>
          </a:xfrm>
          <a:prstGeom prst="rect">
            <a:avLst/>
          </a:prstGeom>
          <a:noFill/>
          <a:ln>
            <a:noFill/>
          </a:ln>
        </p:spPr>
        <p:txBody>
          <a:bodyPr spcFirstLastPara="1" wrap="square" lIns="45700" tIns="22850" rIns="45700" bIns="22850" anchor="t" anchorCtr="0">
            <a:noAutofit/>
          </a:bodyPr>
          <a:lstStyle/>
          <a:p>
            <a:pPr marL="285744" indent="-285744">
              <a:buClrTx/>
              <a:buSzPts val="2000"/>
              <a:buFont typeface="Arial"/>
              <a:buChar char="•"/>
            </a:pPr>
            <a:r>
              <a:rPr lang="en-US" sz="2000" dirty="0">
                <a:solidFill>
                  <a:schemeClr val="dk1"/>
                </a:solidFill>
                <a:latin typeface="Arial"/>
                <a:ea typeface="Arial"/>
                <a:cs typeface="Arial"/>
                <a:sym typeface="Arial"/>
              </a:rPr>
              <a:t>On Windows Machine open Command Prompt and enter the command </a:t>
            </a:r>
            <a:r>
              <a:rPr lang="en-US" sz="2000" i="1" dirty="0">
                <a:solidFill>
                  <a:schemeClr val="dk1"/>
                </a:solidFill>
                <a:latin typeface="Arial"/>
                <a:ea typeface="Arial"/>
                <a:cs typeface="Arial"/>
                <a:sym typeface="Arial"/>
              </a:rPr>
              <a:t>ipconfig</a:t>
            </a:r>
          </a:p>
        </p:txBody>
      </p:sp>
      <p:grpSp>
        <p:nvGrpSpPr>
          <p:cNvPr id="12" name="Group 11">
            <a:extLst>
              <a:ext uri="{FF2B5EF4-FFF2-40B4-BE49-F238E27FC236}">
                <a16:creationId xmlns:a16="http://schemas.microsoft.com/office/drawing/2014/main" id="{EF204307-6D45-459E-841A-96233C189AB4}"/>
              </a:ext>
            </a:extLst>
          </p:cNvPr>
          <p:cNvGrpSpPr/>
          <p:nvPr/>
        </p:nvGrpSpPr>
        <p:grpSpPr>
          <a:xfrm>
            <a:off x="4087778" y="2234071"/>
            <a:ext cx="3294799" cy="4031975"/>
            <a:chOff x="3981900" y="2089692"/>
            <a:chExt cx="3498720" cy="4179134"/>
          </a:xfrm>
        </p:grpSpPr>
        <p:pic>
          <p:nvPicPr>
            <p:cNvPr id="9" name="Picture 8" descr="Text&#10;&#10;Description automatically generated">
              <a:extLst>
                <a:ext uri="{FF2B5EF4-FFF2-40B4-BE49-F238E27FC236}">
                  <a16:creationId xmlns:a16="http://schemas.microsoft.com/office/drawing/2014/main" id="{B1E036A5-F9DD-4458-ADED-860BCB9379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1900" y="2089692"/>
              <a:ext cx="3498720" cy="4179134"/>
            </a:xfrm>
            <a:prstGeom prst="rect">
              <a:avLst/>
            </a:prstGeom>
          </p:spPr>
        </p:pic>
        <p:sp>
          <p:nvSpPr>
            <p:cNvPr id="10" name="Rectangle 9">
              <a:extLst>
                <a:ext uri="{FF2B5EF4-FFF2-40B4-BE49-F238E27FC236}">
                  <a16:creationId xmlns:a16="http://schemas.microsoft.com/office/drawing/2014/main" id="{2913D109-B5F5-4C74-A082-E9B102738CFA}"/>
                </a:ext>
              </a:extLst>
            </p:cNvPr>
            <p:cNvSpPr/>
            <p:nvPr/>
          </p:nvSpPr>
          <p:spPr>
            <a:xfrm>
              <a:off x="4470381" y="2106470"/>
              <a:ext cx="197963" cy="12560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sp>
          <p:nvSpPr>
            <p:cNvPr id="11" name="Rectangle 10">
              <a:extLst>
                <a:ext uri="{FF2B5EF4-FFF2-40B4-BE49-F238E27FC236}">
                  <a16:creationId xmlns:a16="http://schemas.microsoft.com/office/drawing/2014/main" id="{C65200A5-BD0C-47ED-A079-2D871032C931}"/>
                </a:ext>
              </a:extLst>
            </p:cNvPr>
            <p:cNvSpPr/>
            <p:nvPr/>
          </p:nvSpPr>
          <p:spPr>
            <a:xfrm>
              <a:off x="3981900" y="5469622"/>
              <a:ext cx="3498720" cy="7992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29206869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a:t>How to know your IP Address?</a:t>
            </a:r>
            <a:endParaRPr lang="en-SG" dirty="0"/>
          </a:p>
        </p:txBody>
      </p:sp>
      <p:sp>
        <p:nvSpPr>
          <p:cNvPr id="4" name="Google Shape;166;p4">
            <a:extLst>
              <a:ext uri="{FF2B5EF4-FFF2-40B4-BE49-F238E27FC236}">
                <a16:creationId xmlns:a16="http://schemas.microsoft.com/office/drawing/2014/main" id="{A77F7B4B-79A3-472D-AAA4-FE3B394FA19C}"/>
              </a:ext>
            </a:extLst>
          </p:cNvPr>
          <p:cNvSpPr txBox="1"/>
          <p:nvPr/>
        </p:nvSpPr>
        <p:spPr>
          <a:xfrm>
            <a:off x="1215711" y="1862488"/>
            <a:ext cx="10018133" cy="3838915"/>
          </a:xfrm>
          <a:prstGeom prst="rect">
            <a:avLst/>
          </a:prstGeom>
          <a:noFill/>
          <a:ln>
            <a:noFill/>
          </a:ln>
        </p:spPr>
        <p:txBody>
          <a:bodyPr spcFirstLastPara="1" wrap="square" lIns="45700" tIns="22850" rIns="45700" bIns="22850" anchor="t" anchorCtr="0">
            <a:noAutofit/>
          </a:bodyPr>
          <a:lstStyle/>
          <a:p>
            <a:pPr marL="285744" indent="-285744">
              <a:buClrTx/>
              <a:buSzPts val="2000"/>
              <a:buFont typeface="Arial"/>
              <a:buChar char="•"/>
            </a:pPr>
            <a:r>
              <a:rPr lang="en-US" sz="2000" dirty="0">
                <a:solidFill>
                  <a:schemeClr val="dk1"/>
                </a:solidFill>
                <a:latin typeface="Arial"/>
                <a:ea typeface="Arial"/>
                <a:cs typeface="Arial"/>
                <a:sym typeface="Arial"/>
              </a:rPr>
              <a:t>Open </a:t>
            </a:r>
            <a:r>
              <a:rPr lang="en-US" sz="2000" i="1" dirty="0">
                <a:solidFill>
                  <a:schemeClr val="dk1"/>
                </a:solidFill>
                <a:latin typeface="Arial"/>
                <a:ea typeface="Arial"/>
                <a:cs typeface="Arial"/>
                <a:sym typeface="Arial"/>
              </a:rPr>
              <a:t>kali</a:t>
            </a:r>
            <a:r>
              <a:rPr lang="en-US" sz="2000" dirty="0">
                <a:solidFill>
                  <a:schemeClr val="dk1"/>
                </a:solidFill>
                <a:latin typeface="Arial"/>
                <a:ea typeface="Arial"/>
                <a:cs typeface="Arial"/>
                <a:sym typeface="Arial"/>
              </a:rPr>
              <a:t> Linux terminal, and input the following commands</a:t>
            </a:r>
            <a:endParaRPr lang="en-US" sz="2000" i="1" dirty="0">
              <a:solidFill>
                <a:schemeClr val="dk1"/>
              </a:solidFill>
              <a:latin typeface="Arial"/>
              <a:ea typeface="Arial"/>
              <a:cs typeface="Arial"/>
              <a:sym typeface="Arial"/>
            </a:endParaRPr>
          </a:p>
        </p:txBody>
      </p:sp>
      <p:pic>
        <p:nvPicPr>
          <p:cNvPr id="1026" name="Picture 2">
            <a:extLst>
              <a:ext uri="{FF2B5EF4-FFF2-40B4-BE49-F238E27FC236}">
                <a16:creationId xmlns:a16="http://schemas.microsoft.com/office/drawing/2014/main" id="{BF9DC016-A5F6-4534-A170-A3AED85413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1353" y="2162175"/>
            <a:ext cx="9563100" cy="394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87401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IP Spoofing (Demo)</a:t>
            </a:r>
            <a:endParaRPr lang="en-SG" dirty="0"/>
          </a:p>
        </p:txBody>
      </p:sp>
      <p:pic>
        <p:nvPicPr>
          <p:cNvPr id="2050" name="Picture 2">
            <a:extLst>
              <a:ext uri="{FF2B5EF4-FFF2-40B4-BE49-F238E27FC236}">
                <a16:creationId xmlns:a16="http://schemas.microsoft.com/office/drawing/2014/main" id="{6B4388BD-3A83-44E6-8A26-E503BEEE97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6320" y="1737360"/>
            <a:ext cx="4622752" cy="145075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4367821-B1FE-45CB-8872-E22F3EAE32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9072" y="1823834"/>
            <a:ext cx="6215062" cy="429151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370A7E37-9BAB-482C-9700-34FC7C3DCEED}"/>
              </a:ext>
            </a:extLst>
          </p:cNvPr>
          <p:cNvSpPr/>
          <p:nvPr/>
        </p:nvSpPr>
        <p:spPr>
          <a:xfrm>
            <a:off x="1007445" y="5053168"/>
            <a:ext cx="4822257" cy="1323439"/>
          </a:xfrm>
          <a:prstGeom prst="rect">
            <a:avLst/>
          </a:prstGeom>
        </p:spPr>
        <p:txBody>
          <a:bodyPr wrap="square">
            <a:spAutoFit/>
          </a:bodyPr>
          <a:lstStyle/>
          <a:p>
            <a:r>
              <a:rPr lang="en-US" sz="2000" b="1" dirty="0">
                <a:solidFill>
                  <a:srgbClr val="000000"/>
                </a:solidFill>
                <a:latin typeface="Arial" panose="020B0604020202020204" pitchFamily="34" charset="0"/>
                <a:cs typeface="Arial" panose="020B0604020202020204" pitchFamily="34" charset="0"/>
              </a:rPr>
              <a:t>IP Address (Assigned): </a:t>
            </a:r>
            <a:r>
              <a:rPr lang="en-US" sz="2000" dirty="0">
                <a:solidFill>
                  <a:srgbClr val="000000"/>
                </a:solidFill>
                <a:latin typeface="Arial" panose="020B0604020202020204" pitchFamily="34" charset="0"/>
                <a:cs typeface="Arial" panose="020B0604020202020204" pitchFamily="34" charset="0"/>
              </a:rPr>
              <a:t>192.168.1.111</a:t>
            </a:r>
            <a:endParaRPr lang="en-US" sz="2000" dirty="0">
              <a:latin typeface="Arial" panose="020B0604020202020204" pitchFamily="34" charset="0"/>
              <a:cs typeface="Arial" panose="020B0604020202020204" pitchFamily="34" charset="0"/>
            </a:endParaRPr>
          </a:p>
          <a:p>
            <a:r>
              <a:rPr lang="en-US" sz="2000" b="1" dirty="0">
                <a:solidFill>
                  <a:srgbClr val="000000"/>
                </a:solidFill>
                <a:latin typeface="Arial" panose="020B0604020202020204" pitchFamily="34" charset="0"/>
                <a:cs typeface="Arial" panose="020B0604020202020204" pitchFamily="34" charset="0"/>
              </a:rPr>
              <a:t>IP Address (Spoofed): </a:t>
            </a:r>
            <a:r>
              <a:rPr lang="en-US" sz="2000" dirty="0">
                <a:solidFill>
                  <a:srgbClr val="000000"/>
                </a:solidFill>
                <a:latin typeface="Arial" panose="020B0604020202020204" pitchFamily="34" charset="0"/>
                <a:cs typeface="Arial" panose="020B0604020202020204" pitchFamily="34" charset="0"/>
              </a:rPr>
              <a:t>192.168.1.1</a:t>
            </a:r>
            <a:endParaRPr lang="en-US" sz="2000" dirty="0">
              <a:latin typeface="Arial" panose="020B0604020202020204" pitchFamily="34" charset="0"/>
              <a:cs typeface="Arial" panose="020B0604020202020204" pitchFamily="34" charset="0"/>
            </a:endParaRPr>
          </a:p>
          <a:p>
            <a:br>
              <a:rPr lang="en-US" sz="2000" dirty="0">
                <a:latin typeface="Arial" panose="020B0604020202020204" pitchFamily="34" charset="0"/>
                <a:cs typeface="Arial" panose="020B0604020202020204" pitchFamily="34" charset="0"/>
              </a:rPr>
            </a:br>
            <a:endParaRPr lang="en-SG"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88151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IP Spoofing Countermeasures</a:t>
            </a:r>
            <a:endParaRPr lang="en-SG" dirty="0"/>
          </a:p>
        </p:txBody>
      </p:sp>
      <p:sp>
        <p:nvSpPr>
          <p:cNvPr id="6" name="Google Shape;166;p4">
            <a:extLst>
              <a:ext uri="{FF2B5EF4-FFF2-40B4-BE49-F238E27FC236}">
                <a16:creationId xmlns:a16="http://schemas.microsoft.com/office/drawing/2014/main" id="{38E74C62-8FF4-41D9-9C7A-513651C75C9D}"/>
              </a:ext>
            </a:extLst>
          </p:cNvPr>
          <p:cNvSpPr txBox="1"/>
          <p:nvPr/>
        </p:nvSpPr>
        <p:spPr>
          <a:xfrm>
            <a:off x="1231312" y="1891362"/>
            <a:ext cx="10018133" cy="3838915"/>
          </a:xfrm>
          <a:prstGeom prst="rect">
            <a:avLst/>
          </a:prstGeom>
          <a:noFill/>
          <a:ln>
            <a:noFill/>
          </a:ln>
        </p:spPr>
        <p:txBody>
          <a:bodyPr spcFirstLastPara="1" wrap="square" lIns="45700" tIns="22850" rIns="45700" bIns="22850" anchor="t" anchorCtr="0">
            <a:noAutofit/>
          </a:bodyPr>
          <a:lstStyle/>
          <a:p>
            <a:pPr marL="285744" indent="-285744">
              <a:buClrTx/>
              <a:buSzPts val="2000"/>
              <a:buFont typeface="Arial"/>
              <a:buChar char="•"/>
            </a:pPr>
            <a:r>
              <a:rPr lang="en-US" sz="2000" dirty="0">
                <a:solidFill>
                  <a:schemeClr val="dk1"/>
                </a:solidFill>
                <a:latin typeface="Arial"/>
                <a:ea typeface="Arial"/>
                <a:cs typeface="Arial"/>
                <a:sym typeface="Arial"/>
              </a:rPr>
              <a:t>Packet filtering is one of the primary defensive measure against IP spoofing by using ingress filtering, where packets from outside the network with an internal IP address are blocked</a:t>
            </a:r>
          </a:p>
          <a:p>
            <a:pPr marL="285744" indent="-285744">
              <a:buClr>
                <a:schemeClr val="accent1"/>
              </a:buClr>
              <a:buSzPts val="2000"/>
              <a:buFont typeface="Arial"/>
              <a:buChar char="•"/>
            </a:pPr>
            <a:endParaRPr lang="en-US" sz="2000" dirty="0">
              <a:solidFill>
                <a:schemeClr val="dk1"/>
              </a:solidFill>
              <a:latin typeface="Arial"/>
              <a:ea typeface="Arial"/>
              <a:cs typeface="Arial"/>
              <a:sym typeface="Arial"/>
            </a:endParaRPr>
          </a:p>
          <a:p>
            <a:pPr marL="285744" indent="-285744">
              <a:buClrTx/>
              <a:buSzPts val="2000"/>
              <a:buFont typeface="Arial"/>
              <a:buChar char="•"/>
            </a:pPr>
            <a:r>
              <a:rPr lang="en-US" sz="2000" dirty="0">
                <a:solidFill>
                  <a:schemeClr val="dk1"/>
                </a:solidFill>
                <a:latin typeface="Arial"/>
                <a:ea typeface="Arial"/>
                <a:cs typeface="Arial"/>
                <a:sym typeface="Arial"/>
              </a:rPr>
              <a:t>Do no solely rely on IP address-based authentication for networking security</a:t>
            </a:r>
            <a:endParaRPr sz="20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9899046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MAC Spoofing</a:t>
            </a:r>
            <a:endParaRPr lang="en-SG" dirty="0"/>
          </a:p>
        </p:txBody>
      </p:sp>
      <p:sp>
        <p:nvSpPr>
          <p:cNvPr id="6" name="Google Shape;166;p4">
            <a:extLst>
              <a:ext uri="{FF2B5EF4-FFF2-40B4-BE49-F238E27FC236}">
                <a16:creationId xmlns:a16="http://schemas.microsoft.com/office/drawing/2014/main" id="{38E74C62-8FF4-41D9-9C7A-513651C75C9D}"/>
              </a:ext>
            </a:extLst>
          </p:cNvPr>
          <p:cNvSpPr txBox="1"/>
          <p:nvPr/>
        </p:nvSpPr>
        <p:spPr>
          <a:xfrm>
            <a:off x="1260187" y="1862488"/>
            <a:ext cx="10018133" cy="3838915"/>
          </a:xfrm>
          <a:prstGeom prst="rect">
            <a:avLst/>
          </a:prstGeom>
          <a:noFill/>
          <a:ln>
            <a:noFill/>
          </a:ln>
        </p:spPr>
        <p:txBody>
          <a:bodyPr spcFirstLastPara="1" wrap="square" lIns="45700" tIns="22850" rIns="45700" bIns="22850" anchor="t" anchorCtr="0">
            <a:noAutofit/>
          </a:bodyPr>
          <a:lstStyle/>
          <a:p>
            <a:pPr marL="285744" indent="-285744">
              <a:buClr>
                <a:schemeClr val="accent1"/>
              </a:buClr>
              <a:buSzPts val="2000"/>
              <a:buFont typeface="Arial"/>
              <a:buChar char="•"/>
            </a:pPr>
            <a:r>
              <a:rPr lang="en-US" sz="2000" dirty="0">
                <a:solidFill>
                  <a:schemeClr val="accent2"/>
                </a:solidFill>
                <a:latin typeface="Arial"/>
                <a:ea typeface="Arial"/>
                <a:cs typeface="Arial"/>
                <a:sym typeface="Arial"/>
              </a:rPr>
              <a:t>MAC: Media Access Control</a:t>
            </a:r>
          </a:p>
          <a:p>
            <a:pPr marL="285744" indent="-285744">
              <a:buClr>
                <a:schemeClr val="accent1"/>
              </a:buClr>
              <a:buSzPts val="2000"/>
              <a:buFont typeface="Arial"/>
              <a:buChar char="•"/>
            </a:pPr>
            <a:endParaRPr lang="en-US" sz="2000" dirty="0">
              <a:solidFill>
                <a:schemeClr val="accent2"/>
              </a:solidFill>
              <a:latin typeface="Arial"/>
              <a:ea typeface="Arial"/>
              <a:cs typeface="Arial"/>
              <a:sym typeface="Arial"/>
            </a:endParaRPr>
          </a:p>
          <a:p>
            <a:pPr marL="285744" indent="-285744">
              <a:buClrTx/>
              <a:buSzPct val="100000"/>
              <a:buFont typeface="Arial"/>
              <a:buChar char="•"/>
            </a:pPr>
            <a:r>
              <a:rPr lang="en-US" sz="2000" dirty="0">
                <a:latin typeface="Arial"/>
                <a:ea typeface="Arial"/>
                <a:cs typeface="Arial"/>
                <a:sym typeface="Arial"/>
              </a:rPr>
              <a:t>Technique of changing a factory-assigned MAC address of a network interface on a device with a one specified by the user himself/herself</a:t>
            </a:r>
          </a:p>
          <a:p>
            <a:pPr marL="285744" indent="-285744">
              <a:buClrTx/>
              <a:buSzPct val="100000"/>
              <a:buFont typeface="Arial"/>
              <a:buChar char="•"/>
            </a:pPr>
            <a:endParaRPr lang="en-US" sz="2000" dirty="0"/>
          </a:p>
          <a:p>
            <a:pPr marL="285744" indent="-285744">
              <a:buClrTx/>
              <a:buSzPct val="100000"/>
              <a:buFont typeface="Arial"/>
              <a:buChar char="•"/>
            </a:pPr>
            <a:r>
              <a:rPr lang="en-US" sz="2000" dirty="0">
                <a:latin typeface="Arial"/>
                <a:ea typeface="Arial"/>
                <a:cs typeface="Arial"/>
                <a:sym typeface="Arial"/>
              </a:rPr>
              <a:t>While the MAC address is hard-coded onto a network interface controller an is unalterable, the spoof masks the OS’s stored MAC address</a:t>
            </a:r>
            <a:endParaRPr sz="2000" dirty="0">
              <a:latin typeface="Arial"/>
              <a:ea typeface="Arial"/>
              <a:cs typeface="Arial"/>
              <a:sym typeface="Arial"/>
            </a:endParaRPr>
          </a:p>
        </p:txBody>
      </p:sp>
    </p:spTree>
    <p:extLst>
      <p:ext uri="{BB962C8B-B14F-4D97-AF65-F5344CB8AC3E}">
        <p14:creationId xmlns:p14="http://schemas.microsoft.com/office/powerpoint/2010/main" val="4296884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Why Spoof MAC Address?</a:t>
            </a:r>
            <a:endParaRPr lang="en-SG" dirty="0"/>
          </a:p>
        </p:txBody>
      </p:sp>
      <p:sp>
        <p:nvSpPr>
          <p:cNvPr id="6" name="Google Shape;166;p4">
            <a:extLst>
              <a:ext uri="{FF2B5EF4-FFF2-40B4-BE49-F238E27FC236}">
                <a16:creationId xmlns:a16="http://schemas.microsoft.com/office/drawing/2014/main" id="{38E74C62-8FF4-41D9-9C7A-513651C75C9D}"/>
              </a:ext>
            </a:extLst>
          </p:cNvPr>
          <p:cNvSpPr txBox="1"/>
          <p:nvPr/>
        </p:nvSpPr>
        <p:spPr>
          <a:xfrm>
            <a:off x="1279439" y="1852864"/>
            <a:ext cx="10018133" cy="3838915"/>
          </a:xfrm>
          <a:prstGeom prst="rect">
            <a:avLst/>
          </a:prstGeom>
          <a:noFill/>
          <a:ln>
            <a:noFill/>
          </a:ln>
        </p:spPr>
        <p:txBody>
          <a:bodyPr spcFirstLastPara="1" wrap="square" lIns="45700" tIns="22850" rIns="45700" bIns="22850" anchor="t" anchorCtr="0">
            <a:noAutofit/>
          </a:bodyPr>
          <a:lstStyle/>
          <a:p>
            <a:pPr marL="285744" indent="-285744">
              <a:buClrTx/>
              <a:buSzPts val="2000"/>
              <a:buFont typeface="Arial"/>
              <a:buChar char="•"/>
            </a:pPr>
            <a:r>
              <a:rPr lang="en-US" sz="2000" dirty="0">
                <a:latin typeface="Arial"/>
                <a:ea typeface="Arial"/>
                <a:cs typeface="Arial"/>
                <a:sym typeface="Arial"/>
              </a:rPr>
              <a:t>Used by attacker to bypass network security protocols that filter user by their MAC address</a:t>
            </a:r>
          </a:p>
          <a:p>
            <a:pPr marL="285744" indent="-285744">
              <a:buClrTx/>
              <a:buSzPts val="2000"/>
              <a:buFont typeface="Arial"/>
              <a:buChar char="•"/>
            </a:pPr>
            <a:endParaRPr lang="en-US" sz="2000" dirty="0"/>
          </a:p>
          <a:p>
            <a:pPr marL="285744" indent="-285744">
              <a:buClrTx/>
              <a:buSzPts val="2000"/>
              <a:buFont typeface="Arial"/>
              <a:buChar char="•"/>
            </a:pPr>
            <a:r>
              <a:rPr lang="en-US" sz="2000" dirty="0">
                <a:latin typeface="Arial"/>
                <a:ea typeface="Arial"/>
                <a:cs typeface="Arial"/>
                <a:sym typeface="Arial"/>
              </a:rPr>
              <a:t>Allow the attacker to gain access to a network</a:t>
            </a:r>
          </a:p>
          <a:p>
            <a:pPr marL="285744" indent="-285744">
              <a:buClrTx/>
              <a:buSzPts val="2000"/>
              <a:buFont typeface="Arial"/>
              <a:buChar char="•"/>
            </a:pPr>
            <a:endParaRPr lang="en-US" sz="2000" dirty="0"/>
          </a:p>
          <a:p>
            <a:pPr marL="285744" indent="-285744">
              <a:buClrTx/>
              <a:buSzPts val="2000"/>
              <a:buFont typeface="Arial"/>
              <a:buChar char="•"/>
            </a:pPr>
            <a:r>
              <a:rPr lang="en-US" sz="2000" dirty="0">
                <a:latin typeface="Arial" panose="020B0604020202020204" pitchFamily="34" charset="0"/>
                <a:cs typeface="Arial" panose="020B0604020202020204" pitchFamily="34" charset="0"/>
              </a:rPr>
              <a:t>Similarly, to IP address spoofing, MAC address spoofing can be used to hide the identity of the user either for privacy protection or malicious purposes</a:t>
            </a:r>
            <a:endParaRPr sz="2000" dirty="0">
              <a:latin typeface="Arial" panose="020B0604020202020204" pitchFamily="34" charset="0"/>
              <a:ea typeface="Arial"/>
              <a:cs typeface="Arial" panose="020B0604020202020204" pitchFamily="34" charset="0"/>
              <a:sym typeface="Arial"/>
            </a:endParaRPr>
          </a:p>
        </p:txBody>
      </p:sp>
    </p:spTree>
    <p:extLst>
      <p:ext uri="{BB962C8B-B14F-4D97-AF65-F5344CB8AC3E}">
        <p14:creationId xmlns:p14="http://schemas.microsoft.com/office/powerpoint/2010/main" val="21633451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MAC Spoofing (Demo)</a:t>
            </a:r>
            <a:endParaRPr lang="en-SG" dirty="0"/>
          </a:p>
        </p:txBody>
      </p:sp>
      <p:pic>
        <p:nvPicPr>
          <p:cNvPr id="3074" name="Picture 2">
            <a:extLst>
              <a:ext uri="{FF2B5EF4-FFF2-40B4-BE49-F238E27FC236}">
                <a16:creationId xmlns:a16="http://schemas.microsoft.com/office/drawing/2014/main" id="{17445AB4-2BBF-4773-A0D3-30980A8323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80" y="1661160"/>
            <a:ext cx="10058400" cy="4661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15783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MAC Spoofing (Demo)</a:t>
            </a:r>
            <a:endParaRPr lang="en-SG" dirty="0"/>
          </a:p>
        </p:txBody>
      </p:sp>
      <p:pic>
        <p:nvPicPr>
          <p:cNvPr id="13" name="Google Shape;213;p21">
            <a:extLst>
              <a:ext uri="{FF2B5EF4-FFF2-40B4-BE49-F238E27FC236}">
                <a16:creationId xmlns:a16="http://schemas.microsoft.com/office/drawing/2014/main" id="{926B7EB5-DC85-4D38-9087-FC5B259662EC}"/>
              </a:ext>
            </a:extLst>
          </p:cNvPr>
          <p:cNvPicPr preferRelativeResize="0">
            <a:picLocks/>
          </p:cNvPicPr>
          <p:nvPr/>
        </p:nvPicPr>
        <p:blipFill rotWithShape="1">
          <a:blip r:embed="rId2">
            <a:alphaModFix/>
          </a:blip>
          <a:srcRect/>
          <a:stretch/>
        </p:blipFill>
        <p:spPr>
          <a:xfrm>
            <a:off x="2069286" y="1804988"/>
            <a:ext cx="7748700" cy="3907500"/>
          </a:xfrm>
          <a:prstGeom prst="rect">
            <a:avLst/>
          </a:prstGeom>
          <a:noFill/>
          <a:ln>
            <a:noFill/>
          </a:ln>
        </p:spPr>
      </p:pic>
      <p:graphicFrame>
        <p:nvGraphicFramePr>
          <p:cNvPr id="15" name="Google Shape;214;p21">
            <a:extLst>
              <a:ext uri="{FF2B5EF4-FFF2-40B4-BE49-F238E27FC236}">
                <a16:creationId xmlns:a16="http://schemas.microsoft.com/office/drawing/2014/main" id="{DB1EB177-1594-47F7-AD4E-AD480F618A24}"/>
              </a:ext>
            </a:extLst>
          </p:cNvPr>
          <p:cNvGraphicFramePr/>
          <p:nvPr/>
        </p:nvGraphicFramePr>
        <p:xfrm>
          <a:off x="1635628" y="5780116"/>
          <a:ext cx="9339850" cy="457210"/>
        </p:xfrm>
        <a:graphic>
          <a:graphicData uri="http://schemas.openxmlformats.org/drawingml/2006/table">
            <a:tbl>
              <a:tblPr firstRow="1" bandRow="1">
                <a:noFill/>
              </a:tblPr>
              <a:tblGrid>
                <a:gridCol w="933985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None/>
                      </a:pPr>
                      <a:r>
                        <a:rPr lang="en-US" sz="2400" b="0" u="none" strike="noStrike" cap="none" dirty="0">
                          <a:solidFill>
                            <a:schemeClr val="dk1"/>
                          </a:solidFill>
                          <a:latin typeface="Calibri"/>
                          <a:ea typeface="Calibri"/>
                          <a:cs typeface="Calibri"/>
                          <a:sym typeface="Calibri"/>
                        </a:rPr>
                        <a:t>Original MAC: </a:t>
                      </a:r>
                      <a:r>
                        <a:rPr lang="en-US" sz="2400" u="none" strike="noStrike" cap="none" dirty="0">
                          <a:solidFill>
                            <a:schemeClr val="dk1"/>
                          </a:solidFill>
                          <a:latin typeface="Calibri"/>
                          <a:ea typeface="Calibri"/>
                          <a:cs typeface="Calibri"/>
                          <a:sym typeface="Calibri"/>
                        </a:rPr>
                        <a:t>ae:83:88:55:75:04</a:t>
                      </a:r>
                      <a:r>
                        <a:rPr lang="en-US" sz="2400" b="0" u="none" strike="noStrike" cap="none" dirty="0">
                          <a:solidFill>
                            <a:schemeClr val="dk1"/>
                          </a:solidFill>
                          <a:latin typeface="Calibri"/>
                          <a:ea typeface="Calibri"/>
                          <a:cs typeface="Calibri"/>
                          <a:sym typeface="Calibri"/>
                        </a:rPr>
                        <a:t> | Spoofed MAC: </a:t>
                      </a:r>
                      <a:r>
                        <a:rPr lang="en-US" sz="2400" u="none" strike="noStrike" cap="none" dirty="0">
                          <a:solidFill>
                            <a:schemeClr val="dk1"/>
                          </a:solidFill>
                          <a:latin typeface="Calibri"/>
                          <a:ea typeface="Calibri"/>
                          <a:cs typeface="Calibri"/>
                          <a:sym typeface="Calibri"/>
                        </a:rPr>
                        <a:t>44:44:44:44:44:44</a:t>
                      </a:r>
                      <a:endParaRPr dirty="0"/>
                    </a:p>
                  </a:txBody>
                  <a:tcPr marL="91450" marR="91450" marT="45725" marB="45725"/>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8152255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MAC Spoofing (Demo)</a:t>
            </a:r>
            <a:endParaRPr lang="en-SG" dirty="0"/>
          </a:p>
        </p:txBody>
      </p:sp>
      <p:pic>
        <p:nvPicPr>
          <p:cNvPr id="8194" name="Picture 2">
            <a:extLst>
              <a:ext uri="{FF2B5EF4-FFF2-40B4-BE49-F238E27FC236}">
                <a16:creationId xmlns:a16="http://schemas.microsoft.com/office/drawing/2014/main" id="{8205FD08-AFA0-44CD-BF03-1A29652D06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2505" y="1898722"/>
            <a:ext cx="6515100" cy="3943350"/>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66;p4">
            <a:extLst>
              <a:ext uri="{FF2B5EF4-FFF2-40B4-BE49-F238E27FC236}">
                <a16:creationId xmlns:a16="http://schemas.microsoft.com/office/drawing/2014/main" id="{1516D7B6-B505-49DA-BAE1-969A5813C7D0}"/>
              </a:ext>
            </a:extLst>
          </p:cNvPr>
          <p:cNvSpPr txBox="1"/>
          <p:nvPr/>
        </p:nvSpPr>
        <p:spPr>
          <a:xfrm>
            <a:off x="7410450" y="2187721"/>
            <a:ext cx="3675566" cy="3365353"/>
          </a:xfrm>
          <a:prstGeom prst="rect">
            <a:avLst/>
          </a:prstGeom>
          <a:noFill/>
          <a:ln>
            <a:noFill/>
          </a:ln>
        </p:spPr>
        <p:txBody>
          <a:bodyPr spcFirstLastPara="1" wrap="square" lIns="45700" tIns="22850" rIns="45700" bIns="22850" anchor="t" anchorCtr="0">
            <a:noAutofit/>
          </a:bodyPr>
          <a:lstStyle/>
          <a:p>
            <a:pPr>
              <a:buClrTx/>
              <a:buSzPts val="2000"/>
            </a:pPr>
            <a:r>
              <a:rPr lang="en-US" sz="2400" u="sng" dirty="0">
                <a:solidFill>
                  <a:schemeClr val="dk1"/>
                </a:solidFill>
                <a:latin typeface="Arial"/>
                <a:ea typeface="Arial"/>
                <a:cs typeface="Arial"/>
                <a:sym typeface="Arial"/>
              </a:rPr>
              <a:t>Useful </a:t>
            </a:r>
          </a:p>
          <a:p>
            <a:pPr lvl="2">
              <a:buClrTx/>
              <a:buSzPts val="2000"/>
            </a:pPr>
            <a:endParaRPr lang="en-US" sz="2000" u="sng" dirty="0">
              <a:solidFill>
                <a:schemeClr val="dk1"/>
              </a:solidFill>
            </a:endParaRPr>
          </a:p>
          <a:p>
            <a:pPr marL="285744" lvl="2" indent="-285744">
              <a:buClrTx/>
              <a:buSzPts val="2000"/>
              <a:buFont typeface="Arial"/>
              <a:buChar char="•"/>
            </a:pPr>
            <a:r>
              <a:rPr lang="en-US" sz="2000" dirty="0">
                <a:solidFill>
                  <a:schemeClr val="dk1"/>
                </a:solidFill>
                <a:latin typeface="Arial"/>
                <a:ea typeface="Arial"/>
                <a:cs typeface="Arial"/>
                <a:sym typeface="Arial"/>
              </a:rPr>
              <a:t>MAC Address is blacklisted by filter</a:t>
            </a:r>
          </a:p>
          <a:p>
            <a:pPr marL="285744" lvl="2" indent="-285744">
              <a:buClrTx/>
              <a:buSzPts val="2000"/>
              <a:buFont typeface="Arial"/>
              <a:buChar char="•"/>
            </a:pPr>
            <a:endParaRPr lang="en-US" sz="2000" dirty="0">
              <a:solidFill>
                <a:schemeClr val="dk1"/>
              </a:solidFill>
            </a:endParaRPr>
          </a:p>
          <a:p>
            <a:pPr marL="285744" lvl="2" indent="-285744">
              <a:buClrTx/>
              <a:buSzPts val="2000"/>
              <a:buFont typeface="Arial"/>
              <a:buChar char="•"/>
            </a:pPr>
            <a:r>
              <a:rPr lang="en-US" sz="2000" dirty="0">
                <a:solidFill>
                  <a:schemeClr val="dk1"/>
                </a:solidFill>
                <a:latin typeface="Arial"/>
                <a:ea typeface="Arial"/>
                <a:cs typeface="Arial"/>
                <a:sym typeface="Arial"/>
              </a:rPr>
              <a:t>Spoof with a more believable MAC address using various vendors’ MAC addresses</a:t>
            </a:r>
            <a:endParaRPr sz="2000"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222913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MAC Spoofing (Demo)</a:t>
            </a:r>
            <a:endParaRPr lang="en-SG" dirty="0"/>
          </a:p>
        </p:txBody>
      </p:sp>
      <p:pic>
        <p:nvPicPr>
          <p:cNvPr id="9218" name="Picture 2">
            <a:extLst>
              <a:ext uri="{FF2B5EF4-FFF2-40B4-BE49-F238E27FC236}">
                <a16:creationId xmlns:a16="http://schemas.microsoft.com/office/drawing/2014/main" id="{FA631E2D-1656-4F78-98BB-0EB03BDC39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8364" y="1870710"/>
            <a:ext cx="7253286" cy="383177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3E12DBE4-E217-48B1-997C-5722E37A3352}"/>
              </a:ext>
            </a:extLst>
          </p:cNvPr>
          <p:cNvGraphicFramePr>
            <a:graphicFrameLocks noGrp="1"/>
          </p:cNvGraphicFramePr>
          <p:nvPr/>
        </p:nvGraphicFramePr>
        <p:xfrm>
          <a:off x="1544637" y="5802826"/>
          <a:ext cx="9294812" cy="420188"/>
        </p:xfrm>
        <a:graphic>
          <a:graphicData uri="http://schemas.openxmlformats.org/drawingml/2006/table">
            <a:tbl>
              <a:tblPr/>
              <a:tblGrid>
                <a:gridCol w="9294812">
                  <a:extLst>
                    <a:ext uri="{9D8B030D-6E8A-4147-A177-3AD203B41FA5}">
                      <a16:colId xmlns:a16="http://schemas.microsoft.com/office/drawing/2014/main" val="2403521858"/>
                    </a:ext>
                  </a:extLst>
                </a:gridCol>
              </a:tblGrid>
              <a:tr h="212271">
                <a:tc>
                  <a:txBody>
                    <a:bodyPr/>
                    <a:lstStyle/>
                    <a:p>
                      <a:pPr rtl="0" fontAlgn="t">
                        <a:spcBef>
                          <a:spcPts val="0"/>
                        </a:spcBef>
                        <a:spcAft>
                          <a:spcPts val="0"/>
                        </a:spcAft>
                      </a:pPr>
                      <a:r>
                        <a:rPr lang="en-US" sz="2400" b="0" i="0" u="none" strike="noStrike" dirty="0">
                          <a:solidFill>
                            <a:srgbClr val="000000"/>
                          </a:solidFill>
                          <a:effectLst/>
                          <a:latin typeface="Calibri" panose="020F0502020204030204" pitchFamily="34" charset="0"/>
                        </a:rPr>
                        <a:t>Original MAC: </a:t>
                      </a:r>
                      <a:r>
                        <a:rPr lang="en-US" sz="2400" b="1" i="0" u="none" strike="noStrike" dirty="0">
                          <a:solidFill>
                            <a:srgbClr val="000000"/>
                          </a:solidFill>
                          <a:effectLst/>
                          <a:latin typeface="Calibri" panose="020F0502020204030204" pitchFamily="34" charset="0"/>
                        </a:rPr>
                        <a:t>44:44:44:44:44:44</a:t>
                      </a:r>
                      <a:r>
                        <a:rPr lang="en-US" sz="2400" b="0" i="0" u="none" strike="noStrike" dirty="0">
                          <a:solidFill>
                            <a:srgbClr val="000000"/>
                          </a:solidFill>
                          <a:effectLst/>
                          <a:latin typeface="Calibri" panose="020F0502020204030204" pitchFamily="34" charset="0"/>
                        </a:rPr>
                        <a:t> | Randomised MAC: </a:t>
                      </a:r>
                      <a:r>
                        <a:rPr lang="en-US" sz="2400" b="1" i="0" u="none" strike="noStrike" dirty="0">
                          <a:solidFill>
                            <a:srgbClr val="000000"/>
                          </a:solidFill>
                          <a:effectLst/>
                          <a:latin typeface="Calibri" panose="020F0502020204030204" pitchFamily="34" charset="0"/>
                        </a:rPr>
                        <a:t>ae:83:88:55:75:04</a:t>
                      </a:r>
                      <a:endParaRPr lang="en-US" dirty="0">
                        <a:effectLst/>
                      </a:endParaRPr>
                    </a:p>
                  </a:txBody>
                  <a:tcPr marL="54429" marR="54429" marT="27214" marB="27214">
                    <a:lnL w="7255" cap="flat" cmpd="sng" algn="ctr">
                      <a:solidFill>
                        <a:srgbClr val="FFFFFF"/>
                      </a:solidFill>
                      <a:prstDash val="solid"/>
                      <a:round/>
                      <a:headEnd type="none" w="med" len="med"/>
                      <a:tailEnd type="none" w="med" len="med"/>
                    </a:lnL>
                    <a:lnR w="7255" cap="flat" cmpd="sng" algn="ctr">
                      <a:solidFill>
                        <a:srgbClr val="FFFFFF"/>
                      </a:solidFill>
                      <a:prstDash val="solid"/>
                      <a:round/>
                      <a:headEnd type="none" w="med" len="med"/>
                      <a:tailEnd type="none" w="med" len="med"/>
                    </a:lnR>
                    <a:lnT w="7255" cap="flat" cmpd="sng" algn="ctr">
                      <a:solidFill>
                        <a:srgbClr val="FFFFFF"/>
                      </a:solidFill>
                      <a:prstDash val="solid"/>
                      <a:round/>
                      <a:headEnd type="none" w="med" len="med"/>
                      <a:tailEnd type="none" w="med" len="med"/>
                    </a:lnT>
                    <a:lnB w="21771"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2978889396"/>
                  </a:ext>
                </a:extLst>
              </a:tr>
            </a:tbl>
          </a:graphicData>
        </a:graphic>
      </p:graphicFrame>
    </p:spTree>
    <p:extLst>
      <p:ext uri="{BB962C8B-B14F-4D97-AF65-F5344CB8AC3E}">
        <p14:creationId xmlns:p14="http://schemas.microsoft.com/office/powerpoint/2010/main" val="1853003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MAC Spoofing Countermeasures</a:t>
            </a:r>
            <a:endParaRPr lang="en-SG" dirty="0"/>
          </a:p>
        </p:txBody>
      </p:sp>
      <p:sp>
        <p:nvSpPr>
          <p:cNvPr id="5" name="Google Shape;166;p4">
            <a:extLst>
              <a:ext uri="{FF2B5EF4-FFF2-40B4-BE49-F238E27FC236}">
                <a16:creationId xmlns:a16="http://schemas.microsoft.com/office/drawing/2014/main" id="{C832943C-4F9F-4397-A581-56C4E83BECA7}"/>
              </a:ext>
            </a:extLst>
          </p:cNvPr>
          <p:cNvSpPr txBox="1"/>
          <p:nvPr/>
        </p:nvSpPr>
        <p:spPr>
          <a:xfrm>
            <a:off x="1250563" y="1929866"/>
            <a:ext cx="10018133" cy="3838915"/>
          </a:xfrm>
          <a:prstGeom prst="rect">
            <a:avLst/>
          </a:prstGeom>
          <a:noFill/>
          <a:ln>
            <a:noFill/>
          </a:ln>
        </p:spPr>
        <p:txBody>
          <a:bodyPr spcFirstLastPara="1" wrap="square" lIns="45700" tIns="22850" rIns="45700" bIns="22850" anchor="t" anchorCtr="0">
            <a:noAutofit/>
          </a:bodyPr>
          <a:lstStyle/>
          <a:p>
            <a:pPr marL="285744" indent="-285744">
              <a:buClrTx/>
              <a:buSzPts val="2000"/>
              <a:buFont typeface="Arial"/>
              <a:buChar char="•"/>
            </a:pPr>
            <a:r>
              <a:rPr lang="en-US" sz="2000" dirty="0">
                <a:latin typeface="Arial"/>
                <a:ea typeface="Arial"/>
                <a:cs typeface="Arial"/>
                <a:sym typeface="Arial"/>
              </a:rPr>
              <a:t>Since MAC address is typically taken from the OS, easiest way is to check the MAC of the NIC directly</a:t>
            </a:r>
          </a:p>
          <a:p>
            <a:pPr marL="285744" indent="-285744">
              <a:buClrTx/>
              <a:buSzPts val="2000"/>
              <a:buFont typeface="Arial"/>
              <a:buChar char="•"/>
            </a:pPr>
            <a:endParaRPr lang="en-US" sz="2000" dirty="0"/>
          </a:p>
          <a:p>
            <a:pPr marL="285744" indent="-285744">
              <a:buClrTx/>
              <a:buSzPts val="2000"/>
              <a:buFont typeface="Arial"/>
              <a:buChar char="•"/>
            </a:pPr>
            <a:r>
              <a:rPr lang="en-US" sz="2000" dirty="0">
                <a:latin typeface="Arial"/>
                <a:ea typeface="Arial"/>
                <a:cs typeface="Arial"/>
                <a:sym typeface="Arial"/>
              </a:rPr>
              <a:t>MAC address can be locked to specifically reserve IP addresses requiring both for authentication</a:t>
            </a:r>
          </a:p>
          <a:p>
            <a:pPr marL="285744" indent="-285744">
              <a:buClrTx/>
              <a:buSzPts val="2000"/>
              <a:buFont typeface="Arial"/>
              <a:buChar char="•"/>
            </a:pPr>
            <a:endParaRPr lang="en-US" sz="2000" dirty="0"/>
          </a:p>
          <a:p>
            <a:pPr marL="285744" indent="-285744">
              <a:buClrTx/>
              <a:buSzPts val="2000"/>
              <a:buFont typeface="Arial"/>
              <a:buChar char="•"/>
            </a:pPr>
            <a:r>
              <a:rPr lang="en-US" sz="2000" dirty="0">
                <a:latin typeface="Arial"/>
                <a:ea typeface="Arial"/>
                <a:cs typeface="Arial"/>
                <a:sym typeface="Arial"/>
              </a:rPr>
              <a:t>Easily bypassed if both MAC and IP addresses are spoofed</a:t>
            </a:r>
            <a:endParaRPr sz="2000" dirty="0">
              <a:latin typeface="Arial" panose="020B0604020202020204" pitchFamily="34" charset="0"/>
              <a:ea typeface="Arial"/>
              <a:cs typeface="Arial" panose="020B0604020202020204" pitchFamily="34" charset="0"/>
              <a:sym typeface="Arial"/>
            </a:endParaRPr>
          </a:p>
        </p:txBody>
      </p:sp>
    </p:spTree>
    <p:extLst>
      <p:ext uri="{BB962C8B-B14F-4D97-AF65-F5344CB8AC3E}">
        <p14:creationId xmlns:p14="http://schemas.microsoft.com/office/powerpoint/2010/main" val="29854464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p:txBody>
          <a:bodyPr/>
          <a:lstStyle/>
          <a:p>
            <a:r>
              <a:rPr lang="en-US" dirty="0"/>
              <a:t>DNS Spoofing</a:t>
            </a:r>
            <a:endParaRPr lang="en-SG" dirty="0"/>
          </a:p>
        </p:txBody>
      </p:sp>
      <p:sp>
        <p:nvSpPr>
          <p:cNvPr id="5" name="Google Shape;166;p4">
            <a:extLst>
              <a:ext uri="{FF2B5EF4-FFF2-40B4-BE49-F238E27FC236}">
                <a16:creationId xmlns:a16="http://schemas.microsoft.com/office/drawing/2014/main" id="{C832943C-4F9F-4397-A581-56C4E83BECA7}"/>
              </a:ext>
            </a:extLst>
          </p:cNvPr>
          <p:cNvSpPr txBox="1"/>
          <p:nvPr/>
        </p:nvSpPr>
        <p:spPr>
          <a:xfrm>
            <a:off x="1250562" y="1900991"/>
            <a:ext cx="10018133" cy="3838915"/>
          </a:xfrm>
          <a:prstGeom prst="rect">
            <a:avLst/>
          </a:prstGeom>
          <a:noFill/>
          <a:ln>
            <a:noFill/>
          </a:ln>
        </p:spPr>
        <p:txBody>
          <a:bodyPr spcFirstLastPara="1" wrap="square" lIns="45700" tIns="22850" rIns="45700" bIns="22850" anchor="t" anchorCtr="0">
            <a:noAutofit/>
          </a:bodyPr>
          <a:lstStyle/>
          <a:p>
            <a:pPr marL="285744" indent="-285744">
              <a:buClrTx/>
              <a:buSzPts val="2000"/>
              <a:buFont typeface="Arial"/>
              <a:buChar char="•"/>
            </a:pPr>
            <a:r>
              <a:rPr lang="en-US" sz="2000" dirty="0">
                <a:latin typeface="Arial" panose="020B0604020202020204" pitchFamily="34" charset="0"/>
                <a:ea typeface="Arial"/>
                <a:cs typeface="Arial" panose="020B0604020202020204" pitchFamily="34" charset="0"/>
                <a:sym typeface="Arial"/>
              </a:rPr>
              <a:t>DNS spoofing (or DNS cache poisoning) is a computer hacking attack, whereby data is introduced into a Domain Name System (DNS) name server's cache database, causing the name server to return an incorrect IP address, diverting traffic to another computer</a:t>
            </a:r>
          </a:p>
        </p:txBody>
      </p:sp>
      <p:pic>
        <p:nvPicPr>
          <p:cNvPr id="10242" name="Picture 2" descr="Compromised DNS server carrying out a DNS spoofing attack">
            <a:extLst>
              <a:ext uri="{FF2B5EF4-FFF2-40B4-BE49-F238E27FC236}">
                <a16:creationId xmlns:a16="http://schemas.microsoft.com/office/drawing/2014/main" id="{54FFFFE6-E36B-4E84-A0D4-9B859204A8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08" t="5945" r="4065" b="11943"/>
          <a:stretch/>
        </p:blipFill>
        <p:spPr bwMode="auto">
          <a:xfrm>
            <a:off x="3344779" y="2906828"/>
            <a:ext cx="6195376" cy="3176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66684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415B-2224-45C1-A513-6279E545E25D}"/>
              </a:ext>
            </a:extLst>
          </p:cNvPr>
          <p:cNvSpPr>
            <a:spLocks noGrp="1"/>
          </p:cNvSpPr>
          <p:nvPr>
            <p:ph type="title"/>
          </p:nvPr>
        </p:nvSpPr>
        <p:spPr>
          <a:xfrm>
            <a:off x="1066800" y="295149"/>
            <a:ext cx="10058400" cy="1450757"/>
          </a:xfrm>
        </p:spPr>
        <p:txBody>
          <a:bodyPr/>
          <a:lstStyle/>
          <a:p>
            <a:r>
              <a:rPr lang="en-US" dirty="0"/>
              <a:t>Remember the Phishing Demo?</a:t>
            </a:r>
            <a:endParaRPr lang="en-SG" dirty="0"/>
          </a:p>
        </p:txBody>
      </p:sp>
      <p:sp>
        <p:nvSpPr>
          <p:cNvPr id="5" name="Rectangle 1">
            <a:extLst>
              <a:ext uri="{FF2B5EF4-FFF2-40B4-BE49-F238E27FC236}">
                <a16:creationId xmlns:a16="http://schemas.microsoft.com/office/drawing/2014/main" id="{D2CEFF31-0345-4B83-84DB-F3B4BEF2ABF9}"/>
              </a:ext>
            </a:extLst>
          </p:cNvPr>
          <p:cNvSpPr>
            <a:spLocks noChangeArrowheads="1"/>
          </p:cNvSpPr>
          <p:nvPr/>
        </p:nvSpPr>
        <p:spPr bwMode="auto">
          <a:xfrm>
            <a:off x="5653088" y="34718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SG"/>
          </a:p>
        </p:txBody>
      </p:sp>
      <p:sp>
        <p:nvSpPr>
          <p:cNvPr id="8" name="Google Shape;166;p4">
            <a:extLst>
              <a:ext uri="{FF2B5EF4-FFF2-40B4-BE49-F238E27FC236}">
                <a16:creationId xmlns:a16="http://schemas.microsoft.com/office/drawing/2014/main" id="{478F2121-3B37-48A4-8B52-FED6CB53DC83}"/>
              </a:ext>
            </a:extLst>
          </p:cNvPr>
          <p:cNvSpPr txBox="1"/>
          <p:nvPr/>
        </p:nvSpPr>
        <p:spPr>
          <a:xfrm>
            <a:off x="1317056" y="1909536"/>
            <a:ext cx="10018133" cy="3838915"/>
          </a:xfrm>
          <a:prstGeom prst="rect">
            <a:avLst/>
          </a:prstGeom>
          <a:noFill/>
          <a:ln>
            <a:noFill/>
          </a:ln>
        </p:spPr>
        <p:txBody>
          <a:bodyPr spcFirstLastPara="1" wrap="square" lIns="45700" tIns="22850" rIns="45700" bIns="22850" anchor="t" anchorCtr="0">
            <a:noAutofit/>
          </a:bodyPr>
          <a:lstStyle/>
          <a:p>
            <a:pPr marL="285744" indent="-285744">
              <a:buClrTx/>
              <a:buSzPct val="100000"/>
              <a:buFont typeface="Arial"/>
              <a:buChar char="•"/>
            </a:pPr>
            <a:r>
              <a:rPr lang="en-US" sz="2000" dirty="0">
                <a:latin typeface="Arial" panose="020B0604020202020204" pitchFamily="34" charset="0"/>
                <a:ea typeface="Arial"/>
                <a:cs typeface="Arial" panose="020B0604020202020204" pitchFamily="34" charset="0"/>
                <a:sym typeface="Arial"/>
              </a:rPr>
              <a:t>Put it this way, how do you get the victim to enter your IP address into their browser?</a:t>
            </a:r>
          </a:p>
          <a:p>
            <a:pPr marL="285744" indent="-285744">
              <a:buClrTx/>
              <a:buSzPct val="100000"/>
              <a:buFont typeface="Arial"/>
              <a:buChar char="•"/>
            </a:pPr>
            <a:endParaRPr lang="en-US" sz="2000" dirty="0">
              <a:latin typeface="Arial" panose="020B0604020202020204" pitchFamily="34" charset="0"/>
              <a:cs typeface="Arial" panose="020B0604020202020204" pitchFamily="34" charset="0"/>
            </a:endParaRPr>
          </a:p>
          <a:p>
            <a:pPr marL="285744" indent="-285744">
              <a:buClrTx/>
              <a:buSzPct val="100000"/>
              <a:buFont typeface="Arial"/>
              <a:buChar char="•"/>
            </a:pPr>
            <a:r>
              <a:rPr lang="en-US" sz="2000" dirty="0">
                <a:latin typeface="Arial" panose="020B0604020202020204" pitchFamily="34" charset="0"/>
                <a:ea typeface="Arial"/>
                <a:cs typeface="Arial" panose="020B0604020202020204" pitchFamily="34" charset="0"/>
                <a:sym typeface="Arial"/>
              </a:rPr>
              <a:t>Is there a way to make it more legitimate looking clone of the actual site?</a:t>
            </a:r>
          </a:p>
          <a:p>
            <a:pPr marL="285744" indent="-285744">
              <a:buClrTx/>
              <a:buSzPct val="100000"/>
              <a:buFont typeface="Arial"/>
              <a:buChar char="•"/>
            </a:pPr>
            <a:endParaRPr lang="en-US" sz="2000" dirty="0">
              <a:latin typeface="Arial" panose="020B0604020202020204" pitchFamily="34" charset="0"/>
              <a:cs typeface="Arial" panose="020B0604020202020204" pitchFamily="34" charset="0"/>
            </a:endParaRPr>
          </a:p>
          <a:p>
            <a:pPr marL="285744" indent="-285744">
              <a:buClrTx/>
              <a:buSzPct val="100000"/>
              <a:buFont typeface="Arial"/>
              <a:buChar char="•"/>
            </a:pPr>
            <a:r>
              <a:rPr lang="en-US" sz="2000" dirty="0">
                <a:latin typeface="Arial" panose="020B0604020202020204" pitchFamily="34" charset="0"/>
                <a:ea typeface="Arial"/>
                <a:cs typeface="Arial" panose="020B0604020202020204" pitchFamily="34" charset="0"/>
                <a:sym typeface="Arial"/>
              </a:rPr>
              <a:t>This is where DNS spoofing comes in</a:t>
            </a:r>
          </a:p>
        </p:txBody>
      </p:sp>
    </p:spTree>
    <p:extLst>
      <p:ext uri="{BB962C8B-B14F-4D97-AF65-F5344CB8AC3E}">
        <p14:creationId xmlns:p14="http://schemas.microsoft.com/office/powerpoint/2010/main" val="11677133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sp>
        <p:nvSpPr>
          <p:cNvPr id="3" name="Text Placeholder 2">
            <a:extLst>
              <a:ext uri="{FF2B5EF4-FFF2-40B4-BE49-F238E27FC236}">
                <a16:creationId xmlns:a16="http://schemas.microsoft.com/office/drawing/2014/main" id="{C04C8631-6A0E-4F42-926B-7BF0D4D25936}"/>
              </a:ext>
            </a:extLst>
          </p:cNvPr>
          <p:cNvSpPr>
            <a:spLocks noGrp="1"/>
          </p:cNvSpPr>
          <p:nvPr>
            <p:ph type="body" idx="1"/>
          </p:nvPr>
        </p:nvSpPr>
        <p:spPr/>
        <p:txBody>
          <a:bodyPr/>
          <a:lstStyle/>
          <a:p>
            <a:pPr>
              <a:buFont typeface="Arial" panose="020B0604020202020204" pitchFamily="34" charset="0"/>
              <a:buChar char="•"/>
            </a:pPr>
            <a:r>
              <a:rPr lang="en-US" dirty="0"/>
              <a:t>For this demo we will be using another tool available on kali Linux known as </a:t>
            </a:r>
            <a:r>
              <a:rPr lang="en-US" i="1" dirty="0"/>
              <a:t>Ettercap</a:t>
            </a:r>
          </a:p>
          <a:p>
            <a:pPr>
              <a:buFont typeface="Arial" panose="020B0604020202020204" pitchFamily="34" charset="0"/>
              <a:buChar char="•"/>
            </a:pPr>
            <a:r>
              <a:rPr lang="en-US" dirty="0"/>
              <a:t>Ettercap is a free and open-source network security tool for man-in-the-middle attacks on LAN</a:t>
            </a:r>
            <a:endParaRPr lang="en-SG" i="1" dirty="0"/>
          </a:p>
        </p:txBody>
      </p:sp>
      <p:pic>
        <p:nvPicPr>
          <p:cNvPr id="5" name="Picture 4" descr="Diagram&#10;&#10;Description automatically generated">
            <a:extLst>
              <a:ext uri="{FF2B5EF4-FFF2-40B4-BE49-F238E27FC236}">
                <a16:creationId xmlns:a16="http://schemas.microsoft.com/office/drawing/2014/main" id="{ECD96FEA-A03A-4EF4-AF53-85298686B928}"/>
              </a:ext>
            </a:extLst>
          </p:cNvPr>
          <p:cNvPicPr>
            <a:picLocks noChangeAspect="1"/>
          </p:cNvPicPr>
          <p:nvPr/>
        </p:nvPicPr>
        <p:blipFill>
          <a:blip r:embed="rId2"/>
          <a:stretch>
            <a:fillRect/>
          </a:stretch>
        </p:blipFill>
        <p:spPr>
          <a:xfrm>
            <a:off x="2194416" y="3340057"/>
            <a:ext cx="7803167" cy="2637411"/>
          </a:xfrm>
          <a:prstGeom prst="rect">
            <a:avLst/>
          </a:prstGeom>
        </p:spPr>
      </p:pic>
    </p:spTree>
    <p:extLst>
      <p:ext uri="{BB962C8B-B14F-4D97-AF65-F5344CB8AC3E}">
        <p14:creationId xmlns:p14="http://schemas.microsoft.com/office/powerpoint/2010/main" val="5076800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sp>
        <p:nvSpPr>
          <p:cNvPr id="3" name="Text Placeholder 2">
            <a:extLst>
              <a:ext uri="{FF2B5EF4-FFF2-40B4-BE49-F238E27FC236}">
                <a16:creationId xmlns:a16="http://schemas.microsoft.com/office/drawing/2014/main" id="{C04C8631-6A0E-4F42-926B-7BF0D4D25936}"/>
              </a:ext>
            </a:extLst>
          </p:cNvPr>
          <p:cNvSpPr>
            <a:spLocks noGrp="1"/>
          </p:cNvSpPr>
          <p:nvPr>
            <p:ph type="body" idx="1"/>
          </p:nvPr>
        </p:nvSpPr>
        <p:spPr/>
        <p:txBody>
          <a:bodyPr/>
          <a:lstStyle/>
          <a:p>
            <a:pPr>
              <a:lnSpc>
                <a:spcPct val="150000"/>
              </a:lnSpc>
              <a:buClrTx/>
              <a:buSzPct val="100000"/>
              <a:buFont typeface="Arial" panose="020B0604020202020204" pitchFamily="34" charset="0"/>
              <a:buChar char="•"/>
            </a:pPr>
            <a:r>
              <a:rPr lang="en-US" dirty="0"/>
              <a:t>Configuring </a:t>
            </a:r>
            <a:r>
              <a:rPr lang="en-US" i="1" dirty="0"/>
              <a:t>Ettercap</a:t>
            </a:r>
          </a:p>
          <a:p>
            <a:pPr lvl="1">
              <a:lnSpc>
                <a:spcPct val="150000"/>
              </a:lnSpc>
              <a:buClrTx/>
              <a:buFont typeface="+mj-lt"/>
              <a:buAutoNum type="arabicPeriod"/>
            </a:pPr>
            <a:r>
              <a:rPr lang="en-SG" dirty="0"/>
              <a:t>Open a new terminal in your </a:t>
            </a:r>
            <a:r>
              <a:rPr lang="en-SG" i="1" dirty="0"/>
              <a:t>kali</a:t>
            </a:r>
            <a:r>
              <a:rPr lang="en-SG" dirty="0"/>
              <a:t> Linux</a:t>
            </a:r>
          </a:p>
          <a:p>
            <a:pPr lvl="1">
              <a:lnSpc>
                <a:spcPct val="150000"/>
              </a:lnSpc>
              <a:buClrTx/>
              <a:buFont typeface="+mj-lt"/>
              <a:buAutoNum type="arabicPeriod"/>
            </a:pPr>
            <a:r>
              <a:rPr lang="en-SG" dirty="0"/>
              <a:t>Enter the following to enable IP forwarding</a:t>
            </a:r>
          </a:p>
          <a:p>
            <a:pPr lvl="1">
              <a:lnSpc>
                <a:spcPct val="150000"/>
              </a:lnSpc>
              <a:buClrTx/>
              <a:buFont typeface="+mj-lt"/>
              <a:buAutoNum type="arabicPeriod"/>
            </a:pPr>
            <a:endParaRPr lang="en-SG" dirty="0"/>
          </a:p>
          <a:p>
            <a:pPr lvl="1">
              <a:lnSpc>
                <a:spcPct val="150000"/>
              </a:lnSpc>
              <a:buClrTx/>
              <a:buFont typeface="+mj-lt"/>
              <a:buAutoNum type="arabicPeriod"/>
            </a:pPr>
            <a:endParaRPr lang="en-SG" dirty="0"/>
          </a:p>
          <a:p>
            <a:pPr lvl="1">
              <a:lnSpc>
                <a:spcPct val="150000"/>
              </a:lnSpc>
              <a:buClrTx/>
              <a:buFont typeface="+mj-lt"/>
              <a:buAutoNum type="arabicPeriod"/>
            </a:pPr>
            <a:r>
              <a:rPr lang="en-SG" dirty="0"/>
              <a:t>Edit the configurations for </a:t>
            </a:r>
            <a:r>
              <a:rPr lang="en-SG" i="1" dirty="0"/>
              <a:t>Ettercap</a:t>
            </a:r>
            <a:endParaRPr lang="en-SG" dirty="0"/>
          </a:p>
        </p:txBody>
      </p:sp>
      <p:graphicFrame>
        <p:nvGraphicFramePr>
          <p:cNvPr id="6" name="Table 5">
            <a:extLst>
              <a:ext uri="{FF2B5EF4-FFF2-40B4-BE49-F238E27FC236}">
                <a16:creationId xmlns:a16="http://schemas.microsoft.com/office/drawing/2014/main" id="{6331D21C-B53C-41C6-BF53-DDC171B094C0}"/>
              </a:ext>
            </a:extLst>
          </p:cNvPr>
          <p:cNvGraphicFramePr>
            <a:graphicFrameLocks noGrp="1"/>
          </p:cNvGraphicFramePr>
          <p:nvPr>
            <p:extLst>
              <p:ext uri="{D42A27DB-BD31-4B8C-83A1-F6EECF244321}">
                <p14:modId xmlns:p14="http://schemas.microsoft.com/office/powerpoint/2010/main" val="4229826567"/>
              </p:ext>
            </p:extLst>
          </p:nvPr>
        </p:nvGraphicFramePr>
        <p:xfrm>
          <a:off x="2190963" y="3579600"/>
          <a:ext cx="7810069" cy="412568"/>
        </p:xfrm>
        <a:graphic>
          <a:graphicData uri="http://schemas.openxmlformats.org/drawingml/2006/table">
            <a:tbl>
              <a:tblPr/>
              <a:tblGrid>
                <a:gridCol w="7810069">
                  <a:extLst>
                    <a:ext uri="{9D8B030D-6E8A-4147-A177-3AD203B41FA5}">
                      <a16:colId xmlns:a16="http://schemas.microsoft.com/office/drawing/2014/main" val="2160205330"/>
                    </a:ext>
                  </a:extLst>
                </a:gridCol>
              </a:tblGrid>
              <a:tr h="316823">
                <a:tc>
                  <a:txBody>
                    <a:bodyPr/>
                    <a:lstStyle/>
                    <a:p>
                      <a:pPr algn="ctr" rtl="0" fontAlgn="ctr">
                        <a:spcBef>
                          <a:spcPts val="0"/>
                        </a:spcBef>
                        <a:spcAft>
                          <a:spcPts val="0"/>
                        </a:spcAft>
                      </a:pPr>
                      <a:r>
                        <a:rPr lang="en-SG" sz="2350" b="0" i="0" u="none" strike="noStrike" dirty="0">
                          <a:solidFill>
                            <a:srgbClr val="000000"/>
                          </a:solidFill>
                          <a:effectLst/>
                          <a:latin typeface="Consolas" panose="020B0609020204030204" pitchFamily="49" charset="0"/>
                        </a:rPr>
                        <a:t>echo &gt; 1 /proc/sys/net/ipv4/</a:t>
                      </a:r>
                      <a:r>
                        <a:rPr lang="en-SG" sz="2350" b="0" i="0" u="none" strike="noStrike" dirty="0" err="1">
                          <a:solidFill>
                            <a:srgbClr val="000000"/>
                          </a:solidFill>
                          <a:effectLst/>
                          <a:latin typeface="Consolas" panose="020B0609020204030204" pitchFamily="49" charset="0"/>
                        </a:rPr>
                        <a:t>ip_forward</a:t>
                      </a:r>
                      <a:endParaRPr lang="en-SG" dirty="0">
                        <a:effectLst/>
                      </a:endParaRPr>
                    </a:p>
                  </a:txBody>
                  <a:tcPr marL="54429" marR="54429" marT="27214" marB="27214" anchor="ctr">
                    <a:lnL w="5443" cap="flat" cmpd="sng" algn="ctr">
                      <a:solidFill>
                        <a:srgbClr val="000000"/>
                      </a:solidFill>
                      <a:prstDash val="solid"/>
                      <a:round/>
                      <a:headEnd type="none" w="med" len="med"/>
                      <a:tailEnd type="none" w="med" len="med"/>
                    </a:lnL>
                    <a:lnR w="5443" cap="flat" cmpd="sng" algn="ctr">
                      <a:solidFill>
                        <a:srgbClr val="000000"/>
                      </a:solidFill>
                      <a:prstDash val="solid"/>
                      <a:round/>
                      <a:headEnd type="none" w="med" len="med"/>
                      <a:tailEnd type="none" w="med" len="med"/>
                    </a:lnR>
                    <a:lnT w="5443" cap="flat" cmpd="sng" algn="ctr">
                      <a:solidFill>
                        <a:srgbClr val="000000"/>
                      </a:solidFill>
                      <a:prstDash val="solid"/>
                      <a:round/>
                      <a:headEnd type="none" w="med" len="med"/>
                      <a:tailEnd type="none" w="med" len="med"/>
                    </a:lnT>
                    <a:lnB w="5443"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689558130"/>
                  </a:ext>
                </a:extLst>
              </a:tr>
            </a:tbl>
          </a:graphicData>
        </a:graphic>
      </p:graphicFrame>
      <p:graphicFrame>
        <p:nvGraphicFramePr>
          <p:cNvPr id="7" name="Table 6">
            <a:extLst>
              <a:ext uri="{FF2B5EF4-FFF2-40B4-BE49-F238E27FC236}">
                <a16:creationId xmlns:a16="http://schemas.microsoft.com/office/drawing/2014/main" id="{75663AB6-F877-40D5-B33A-04734D437337}"/>
              </a:ext>
            </a:extLst>
          </p:cNvPr>
          <p:cNvGraphicFramePr>
            <a:graphicFrameLocks noGrp="1"/>
          </p:cNvGraphicFramePr>
          <p:nvPr>
            <p:extLst>
              <p:ext uri="{D42A27DB-BD31-4B8C-83A1-F6EECF244321}">
                <p14:modId xmlns:p14="http://schemas.microsoft.com/office/powerpoint/2010/main" val="2688617939"/>
              </p:ext>
            </p:extLst>
          </p:nvPr>
        </p:nvGraphicFramePr>
        <p:xfrm>
          <a:off x="2190964" y="4959889"/>
          <a:ext cx="7810069" cy="412568"/>
        </p:xfrm>
        <a:graphic>
          <a:graphicData uri="http://schemas.openxmlformats.org/drawingml/2006/table">
            <a:tbl>
              <a:tblPr/>
              <a:tblGrid>
                <a:gridCol w="7810069">
                  <a:extLst>
                    <a:ext uri="{9D8B030D-6E8A-4147-A177-3AD203B41FA5}">
                      <a16:colId xmlns:a16="http://schemas.microsoft.com/office/drawing/2014/main" val="2160205330"/>
                    </a:ext>
                  </a:extLst>
                </a:gridCol>
              </a:tblGrid>
              <a:tr h="0">
                <a:tc>
                  <a:txBody>
                    <a:bodyPr/>
                    <a:lstStyle/>
                    <a:p>
                      <a:pPr algn="ctr" rtl="0" fontAlgn="ctr">
                        <a:spcBef>
                          <a:spcPts val="0"/>
                        </a:spcBef>
                        <a:spcAft>
                          <a:spcPts val="0"/>
                        </a:spcAft>
                      </a:pPr>
                      <a:r>
                        <a:rPr lang="en-SG" sz="2350" b="0" i="0" u="none" strike="noStrike" dirty="0" err="1">
                          <a:solidFill>
                            <a:srgbClr val="000000"/>
                          </a:solidFill>
                          <a:effectLst/>
                          <a:latin typeface="Consolas" panose="020B0609020204030204" pitchFamily="49" charset="0"/>
                        </a:rPr>
                        <a:t>gedit</a:t>
                      </a:r>
                      <a:r>
                        <a:rPr lang="en-SG" sz="2350" b="0" i="0" u="none" strike="noStrike" dirty="0">
                          <a:solidFill>
                            <a:srgbClr val="000000"/>
                          </a:solidFill>
                          <a:effectLst/>
                          <a:latin typeface="Consolas" panose="020B0609020204030204" pitchFamily="49" charset="0"/>
                        </a:rPr>
                        <a:t> /etc/</a:t>
                      </a:r>
                      <a:r>
                        <a:rPr lang="en-SG" sz="2350" b="0" i="0" u="none" strike="noStrike" dirty="0" err="1">
                          <a:solidFill>
                            <a:srgbClr val="000000"/>
                          </a:solidFill>
                          <a:effectLst/>
                          <a:latin typeface="Consolas" panose="020B0609020204030204" pitchFamily="49" charset="0"/>
                        </a:rPr>
                        <a:t>ettercap</a:t>
                      </a:r>
                      <a:r>
                        <a:rPr lang="en-SG" sz="2350" b="0" i="0" u="none" strike="noStrike" dirty="0">
                          <a:solidFill>
                            <a:srgbClr val="000000"/>
                          </a:solidFill>
                          <a:effectLst/>
                          <a:latin typeface="Consolas" panose="020B0609020204030204" pitchFamily="49" charset="0"/>
                        </a:rPr>
                        <a:t>/</a:t>
                      </a:r>
                      <a:r>
                        <a:rPr lang="en-SG" sz="2350" b="0" i="0" u="none" strike="noStrike" dirty="0" err="1">
                          <a:solidFill>
                            <a:srgbClr val="000000"/>
                          </a:solidFill>
                          <a:effectLst/>
                          <a:latin typeface="Consolas" panose="020B0609020204030204" pitchFamily="49" charset="0"/>
                        </a:rPr>
                        <a:t>etter.conf</a:t>
                      </a:r>
                      <a:endParaRPr lang="en-SG" dirty="0">
                        <a:effectLst/>
                      </a:endParaRPr>
                    </a:p>
                  </a:txBody>
                  <a:tcPr marL="54429" marR="54429" marT="27214" marB="27214" anchor="ctr">
                    <a:lnL w="5443" cap="flat" cmpd="sng" algn="ctr">
                      <a:solidFill>
                        <a:srgbClr val="000000"/>
                      </a:solidFill>
                      <a:prstDash val="solid"/>
                      <a:round/>
                      <a:headEnd type="none" w="med" len="med"/>
                      <a:tailEnd type="none" w="med" len="med"/>
                    </a:lnL>
                    <a:lnR w="5443" cap="flat" cmpd="sng" algn="ctr">
                      <a:solidFill>
                        <a:srgbClr val="000000"/>
                      </a:solidFill>
                      <a:prstDash val="solid"/>
                      <a:round/>
                      <a:headEnd type="none" w="med" len="med"/>
                      <a:tailEnd type="none" w="med" len="med"/>
                    </a:lnR>
                    <a:lnT w="5443" cap="flat" cmpd="sng" algn="ctr">
                      <a:solidFill>
                        <a:srgbClr val="000000"/>
                      </a:solidFill>
                      <a:prstDash val="solid"/>
                      <a:round/>
                      <a:headEnd type="none" w="med" len="med"/>
                      <a:tailEnd type="none" w="med" len="med"/>
                    </a:lnT>
                    <a:lnB w="5443"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689558130"/>
                  </a:ext>
                </a:extLst>
              </a:tr>
            </a:tbl>
          </a:graphicData>
        </a:graphic>
      </p:graphicFrame>
    </p:spTree>
    <p:extLst>
      <p:ext uri="{BB962C8B-B14F-4D97-AF65-F5344CB8AC3E}">
        <p14:creationId xmlns:p14="http://schemas.microsoft.com/office/powerpoint/2010/main" val="19200440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sp>
        <p:nvSpPr>
          <p:cNvPr id="3" name="Text Placeholder 2">
            <a:extLst>
              <a:ext uri="{FF2B5EF4-FFF2-40B4-BE49-F238E27FC236}">
                <a16:creationId xmlns:a16="http://schemas.microsoft.com/office/drawing/2014/main" id="{C04C8631-6A0E-4F42-926B-7BF0D4D25936}"/>
              </a:ext>
            </a:extLst>
          </p:cNvPr>
          <p:cNvSpPr>
            <a:spLocks noGrp="1"/>
          </p:cNvSpPr>
          <p:nvPr>
            <p:ph type="body" idx="1"/>
          </p:nvPr>
        </p:nvSpPr>
        <p:spPr/>
        <p:txBody>
          <a:bodyPr/>
          <a:lstStyle/>
          <a:p>
            <a:pPr>
              <a:lnSpc>
                <a:spcPct val="150000"/>
              </a:lnSpc>
              <a:buClrTx/>
              <a:buSzPct val="100000"/>
              <a:buFont typeface="Arial" panose="020B0604020202020204" pitchFamily="34" charset="0"/>
              <a:buChar char="•"/>
            </a:pPr>
            <a:r>
              <a:rPr lang="en-US" dirty="0"/>
              <a:t>Configuring </a:t>
            </a:r>
            <a:r>
              <a:rPr lang="en-US" i="1" dirty="0"/>
              <a:t>Ettercap</a:t>
            </a:r>
          </a:p>
          <a:p>
            <a:pPr lvl="1">
              <a:lnSpc>
                <a:spcPct val="150000"/>
              </a:lnSpc>
              <a:buClrTx/>
              <a:buFont typeface="+mj-lt"/>
              <a:buAutoNum type="arabicPeriod" startAt="4"/>
            </a:pPr>
            <a:r>
              <a:rPr lang="en-SG" dirty="0"/>
              <a:t>Set </a:t>
            </a:r>
            <a:r>
              <a:rPr lang="en-SG" b="1" dirty="0" err="1"/>
              <a:t>ec_uid</a:t>
            </a:r>
            <a:r>
              <a:rPr lang="en-SG" b="1" dirty="0"/>
              <a:t> </a:t>
            </a:r>
            <a:r>
              <a:rPr lang="en-SG" dirty="0"/>
              <a:t>and </a:t>
            </a:r>
            <a:r>
              <a:rPr lang="en-SG" b="1" dirty="0" err="1"/>
              <a:t>ec_gid</a:t>
            </a:r>
            <a:r>
              <a:rPr lang="en-SG" b="1" dirty="0"/>
              <a:t> </a:t>
            </a:r>
            <a:r>
              <a:rPr lang="en-SG" dirty="0"/>
              <a:t>to </a:t>
            </a:r>
            <a:r>
              <a:rPr lang="en-SG" b="1" dirty="0"/>
              <a:t>0</a:t>
            </a:r>
          </a:p>
        </p:txBody>
      </p:sp>
      <p:pic>
        <p:nvPicPr>
          <p:cNvPr id="1026" name="Picture 2">
            <a:extLst>
              <a:ext uri="{FF2B5EF4-FFF2-40B4-BE49-F238E27FC236}">
                <a16:creationId xmlns:a16="http://schemas.microsoft.com/office/drawing/2014/main" id="{E2E00ABB-A60C-41E2-B310-4BE51F7FF7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8537" y="2984969"/>
            <a:ext cx="6046470" cy="3264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86095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sp>
        <p:nvSpPr>
          <p:cNvPr id="3" name="Text Placeholder 2">
            <a:extLst>
              <a:ext uri="{FF2B5EF4-FFF2-40B4-BE49-F238E27FC236}">
                <a16:creationId xmlns:a16="http://schemas.microsoft.com/office/drawing/2014/main" id="{C04C8631-6A0E-4F42-926B-7BF0D4D25936}"/>
              </a:ext>
            </a:extLst>
          </p:cNvPr>
          <p:cNvSpPr>
            <a:spLocks noGrp="1"/>
          </p:cNvSpPr>
          <p:nvPr>
            <p:ph type="body" idx="1"/>
          </p:nvPr>
        </p:nvSpPr>
        <p:spPr/>
        <p:txBody>
          <a:bodyPr/>
          <a:lstStyle/>
          <a:p>
            <a:pPr>
              <a:lnSpc>
                <a:spcPct val="150000"/>
              </a:lnSpc>
              <a:buClrTx/>
              <a:buSzPct val="100000"/>
              <a:buFont typeface="Arial" panose="020B0604020202020204" pitchFamily="34" charset="0"/>
              <a:buChar char="•"/>
            </a:pPr>
            <a:r>
              <a:rPr lang="en-US" dirty="0"/>
              <a:t>Configuring </a:t>
            </a:r>
            <a:r>
              <a:rPr lang="en-US" i="1" dirty="0"/>
              <a:t>Ettercap</a:t>
            </a:r>
          </a:p>
          <a:p>
            <a:pPr lvl="1">
              <a:lnSpc>
                <a:spcPct val="150000"/>
              </a:lnSpc>
              <a:buClrTx/>
              <a:buFont typeface="+mj-lt"/>
              <a:buAutoNum type="arabicPeriod" startAt="5"/>
            </a:pPr>
            <a:r>
              <a:rPr lang="en-SG" dirty="0"/>
              <a:t>Scroll down the same configuration file and find </a:t>
            </a:r>
            <a:r>
              <a:rPr lang="en-SG" b="1" dirty="0"/>
              <a:t># Linux</a:t>
            </a:r>
            <a:endParaRPr lang="en-SG" dirty="0"/>
          </a:p>
          <a:p>
            <a:pPr lvl="1">
              <a:lnSpc>
                <a:spcPct val="150000"/>
              </a:lnSpc>
              <a:buClrTx/>
              <a:buFont typeface="+mj-lt"/>
              <a:buAutoNum type="arabicPeriod" startAt="5"/>
            </a:pPr>
            <a:r>
              <a:rPr lang="en-SG" dirty="0"/>
              <a:t>Uncomment by removing the # for 2 lines beneath </a:t>
            </a:r>
            <a:r>
              <a:rPr lang="en-SG" b="1" dirty="0"/>
              <a:t># </a:t>
            </a:r>
            <a:r>
              <a:rPr lang="en-SG" b="1" dirty="0">
                <a:solidFill>
                  <a:srgbClr val="FF0000"/>
                </a:solidFill>
              </a:rPr>
              <a:t>if</a:t>
            </a:r>
            <a:r>
              <a:rPr lang="en-SG" b="1" dirty="0"/>
              <a:t> you use iptables</a:t>
            </a:r>
          </a:p>
          <a:p>
            <a:pPr lvl="1">
              <a:lnSpc>
                <a:spcPct val="150000"/>
              </a:lnSpc>
              <a:buClrTx/>
              <a:buFont typeface="+mj-lt"/>
              <a:buAutoNum type="arabicPeriod" startAt="5"/>
            </a:pPr>
            <a:r>
              <a:rPr lang="en-SG" dirty="0"/>
              <a:t>Save and close the editor</a:t>
            </a:r>
          </a:p>
          <a:p>
            <a:pPr lvl="1">
              <a:lnSpc>
                <a:spcPct val="150000"/>
              </a:lnSpc>
              <a:buClrTx/>
              <a:buFont typeface="+mj-lt"/>
              <a:buAutoNum type="arabicPeriod" startAt="5"/>
            </a:pPr>
            <a:endParaRPr lang="en-SG" b="1" dirty="0"/>
          </a:p>
        </p:txBody>
      </p:sp>
      <p:pic>
        <p:nvPicPr>
          <p:cNvPr id="2050" name="Picture 2">
            <a:extLst>
              <a:ext uri="{FF2B5EF4-FFF2-40B4-BE49-F238E27FC236}">
                <a16:creationId xmlns:a16="http://schemas.microsoft.com/office/drawing/2014/main" id="{71FCE5D3-971D-4347-9263-FCD25E5ECF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1951" y="3332345"/>
            <a:ext cx="5574832" cy="300998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06C8C2A-6DC4-4140-A864-FAE94F1081F6}"/>
              </a:ext>
            </a:extLst>
          </p:cNvPr>
          <p:cNvSpPr/>
          <p:nvPr/>
        </p:nvSpPr>
        <p:spPr>
          <a:xfrm>
            <a:off x="4781951" y="4485373"/>
            <a:ext cx="5574832" cy="6448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Tree>
    <p:extLst>
      <p:ext uri="{BB962C8B-B14F-4D97-AF65-F5344CB8AC3E}">
        <p14:creationId xmlns:p14="http://schemas.microsoft.com/office/powerpoint/2010/main" val="29822339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sp>
        <p:nvSpPr>
          <p:cNvPr id="3" name="Text Placeholder 2">
            <a:extLst>
              <a:ext uri="{FF2B5EF4-FFF2-40B4-BE49-F238E27FC236}">
                <a16:creationId xmlns:a16="http://schemas.microsoft.com/office/drawing/2014/main" id="{C04C8631-6A0E-4F42-926B-7BF0D4D25936}"/>
              </a:ext>
            </a:extLst>
          </p:cNvPr>
          <p:cNvSpPr>
            <a:spLocks noGrp="1"/>
          </p:cNvSpPr>
          <p:nvPr>
            <p:ph type="body" idx="1"/>
          </p:nvPr>
        </p:nvSpPr>
        <p:spPr/>
        <p:txBody>
          <a:bodyPr/>
          <a:lstStyle/>
          <a:p>
            <a:pPr>
              <a:lnSpc>
                <a:spcPct val="150000"/>
              </a:lnSpc>
              <a:buClrTx/>
              <a:buSzPct val="100000"/>
              <a:buFont typeface="Arial" panose="020B0604020202020204" pitchFamily="34" charset="0"/>
              <a:buChar char="•"/>
            </a:pPr>
            <a:r>
              <a:rPr lang="en-US" dirty="0"/>
              <a:t>Configuring </a:t>
            </a:r>
            <a:r>
              <a:rPr lang="en-US" i="1" dirty="0"/>
              <a:t>Ettercap</a:t>
            </a:r>
          </a:p>
          <a:p>
            <a:pPr lvl="1">
              <a:lnSpc>
                <a:spcPct val="150000"/>
              </a:lnSpc>
              <a:buClrTx/>
              <a:buFont typeface="+mj-lt"/>
              <a:buAutoNum type="arabicPeriod" startAt="5"/>
            </a:pPr>
            <a:r>
              <a:rPr lang="en-SG" dirty="0"/>
              <a:t>Enter the follow command into the same terminal</a:t>
            </a:r>
          </a:p>
          <a:p>
            <a:pPr lvl="2">
              <a:lnSpc>
                <a:spcPct val="150000"/>
              </a:lnSpc>
              <a:buClrTx/>
              <a:buFont typeface="Wingdings" panose="05000000000000000000" pitchFamily="2" charset="2"/>
              <a:buChar char="§"/>
            </a:pPr>
            <a:r>
              <a:rPr lang="en-SG" sz="1600" dirty="0"/>
              <a:t>This is to configure the spoofing of the DNS</a:t>
            </a:r>
          </a:p>
          <a:p>
            <a:pPr lvl="1">
              <a:lnSpc>
                <a:spcPct val="150000"/>
              </a:lnSpc>
              <a:buClrTx/>
              <a:buFont typeface="+mj-lt"/>
              <a:buAutoNum type="arabicPeriod"/>
            </a:pPr>
            <a:endParaRPr lang="en-SG" dirty="0"/>
          </a:p>
          <a:p>
            <a:pPr lvl="1">
              <a:lnSpc>
                <a:spcPct val="150000"/>
              </a:lnSpc>
              <a:buClrTx/>
              <a:buFont typeface="+mj-lt"/>
              <a:buAutoNum type="arabicPeriod"/>
            </a:pPr>
            <a:endParaRPr lang="en-SG" dirty="0"/>
          </a:p>
          <a:p>
            <a:pPr lvl="1">
              <a:lnSpc>
                <a:spcPct val="150000"/>
              </a:lnSpc>
              <a:buClrTx/>
              <a:buFont typeface="+mj-lt"/>
              <a:buAutoNum type="arabicPeriod" startAt="6"/>
            </a:pPr>
            <a:r>
              <a:rPr lang="en-SG" dirty="0"/>
              <a:t>Scroll down and find</a:t>
            </a:r>
          </a:p>
          <a:p>
            <a:pPr lvl="1">
              <a:lnSpc>
                <a:spcPct val="150000"/>
              </a:lnSpc>
              <a:buClrTx/>
              <a:buFont typeface="+mj-lt"/>
              <a:buAutoNum type="arabicPeriod" startAt="6"/>
            </a:pPr>
            <a:r>
              <a:rPr lang="en-SG" dirty="0"/>
              <a:t>Add the following and then save the editor</a:t>
            </a:r>
          </a:p>
        </p:txBody>
      </p:sp>
      <p:graphicFrame>
        <p:nvGraphicFramePr>
          <p:cNvPr id="6" name="Table 5">
            <a:extLst>
              <a:ext uri="{FF2B5EF4-FFF2-40B4-BE49-F238E27FC236}">
                <a16:creationId xmlns:a16="http://schemas.microsoft.com/office/drawing/2014/main" id="{39F6A90C-18D4-47A8-82BB-D4E41F17A10A}"/>
              </a:ext>
            </a:extLst>
          </p:cNvPr>
          <p:cNvGraphicFramePr>
            <a:graphicFrameLocks noGrp="1"/>
          </p:cNvGraphicFramePr>
          <p:nvPr>
            <p:extLst>
              <p:ext uri="{D42A27DB-BD31-4B8C-83A1-F6EECF244321}">
                <p14:modId xmlns:p14="http://schemas.microsoft.com/office/powerpoint/2010/main" val="160236424"/>
              </p:ext>
            </p:extLst>
          </p:nvPr>
        </p:nvGraphicFramePr>
        <p:xfrm>
          <a:off x="1873329" y="3444846"/>
          <a:ext cx="7810069" cy="412568"/>
        </p:xfrm>
        <a:graphic>
          <a:graphicData uri="http://schemas.openxmlformats.org/drawingml/2006/table">
            <a:tbl>
              <a:tblPr/>
              <a:tblGrid>
                <a:gridCol w="7810069">
                  <a:extLst>
                    <a:ext uri="{9D8B030D-6E8A-4147-A177-3AD203B41FA5}">
                      <a16:colId xmlns:a16="http://schemas.microsoft.com/office/drawing/2014/main" val="2160205330"/>
                    </a:ext>
                  </a:extLst>
                </a:gridCol>
              </a:tblGrid>
              <a:tr h="316823">
                <a:tc>
                  <a:txBody>
                    <a:bodyPr/>
                    <a:lstStyle/>
                    <a:p>
                      <a:pPr algn="ctr" rtl="0" fontAlgn="ctr">
                        <a:spcBef>
                          <a:spcPts val="0"/>
                        </a:spcBef>
                        <a:spcAft>
                          <a:spcPts val="0"/>
                        </a:spcAft>
                      </a:pPr>
                      <a:r>
                        <a:rPr lang="en-SG" sz="2350" b="0" i="0" u="none" strike="noStrike" dirty="0" err="1">
                          <a:solidFill>
                            <a:srgbClr val="000000"/>
                          </a:solidFill>
                          <a:effectLst/>
                          <a:latin typeface="Consolas" panose="020B0609020204030204" pitchFamily="49" charset="0"/>
                        </a:rPr>
                        <a:t>gedit</a:t>
                      </a:r>
                      <a:r>
                        <a:rPr lang="en-SG" sz="2350" b="0" i="0" u="none" strike="noStrike" dirty="0">
                          <a:solidFill>
                            <a:srgbClr val="000000"/>
                          </a:solidFill>
                          <a:effectLst/>
                          <a:latin typeface="Consolas" panose="020B0609020204030204" pitchFamily="49" charset="0"/>
                        </a:rPr>
                        <a:t> /etc/</a:t>
                      </a:r>
                      <a:r>
                        <a:rPr lang="en-SG" sz="2350" b="0" i="0" u="none" strike="noStrike" dirty="0" err="1">
                          <a:solidFill>
                            <a:srgbClr val="000000"/>
                          </a:solidFill>
                          <a:effectLst/>
                          <a:latin typeface="Consolas" panose="020B0609020204030204" pitchFamily="49" charset="0"/>
                        </a:rPr>
                        <a:t>ettercap</a:t>
                      </a:r>
                      <a:r>
                        <a:rPr lang="en-SG" sz="2350" b="0" i="0" u="none" strike="noStrike" dirty="0">
                          <a:solidFill>
                            <a:srgbClr val="000000"/>
                          </a:solidFill>
                          <a:effectLst/>
                          <a:latin typeface="Consolas" panose="020B0609020204030204" pitchFamily="49" charset="0"/>
                        </a:rPr>
                        <a:t>/</a:t>
                      </a:r>
                      <a:r>
                        <a:rPr lang="en-SG" sz="2350" b="0" i="0" u="none" strike="noStrike" dirty="0" err="1">
                          <a:solidFill>
                            <a:srgbClr val="000000"/>
                          </a:solidFill>
                          <a:effectLst/>
                          <a:latin typeface="Consolas" panose="020B0609020204030204" pitchFamily="49" charset="0"/>
                        </a:rPr>
                        <a:t>etter.dns</a:t>
                      </a:r>
                      <a:endParaRPr lang="en-SG" dirty="0">
                        <a:effectLst/>
                      </a:endParaRPr>
                    </a:p>
                  </a:txBody>
                  <a:tcPr marL="54429" marR="54429" marT="27214" marB="27214" anchor="ctr">
                    <a:lnL w="5443" cap="flat" cmpd="sng" algn="ctr">
                      <a:solidFill>
                        <a:srgbClr val="000000"/>
                      </a:solidFill>
                      <a:prstDash val="solid"/>
                      <a:round/>
                      <a:headEnd type="none" w="med" len="med"/>
                      <a:tailEnd type="none" w="med" len="med"/>
                    </a:lnL>
                    <a:lnR w="5443" cap="flat" cmpd="sng" algn="ctr">
                      <a:solidFill>
                        <a:srgbClr val="000000"/>
                      </a:solidFill>
                      <a:prstDash val="solid"/>
                      <a:round/>
                      <a:headEnd type="none" w="med" len="med"/>
                      <a:tailEnd type="none" w="med" len="med"/>
                    </a:lnR>
                    <a:lnT w="5443" cap="flat" cmpd="sng" algn="ctr">
                      <a:solidFill>
                        <a:srgbClr val="000000"/>
                      </a:solidFill>
                      <a:prstDash val="solid"/>
                      <a:round/>
                      <a:headEnd type="none" w="med" len="med"/>
                      <a:tailEnd type="none" w="med" len="med"/>
                    </a:lnT>
                    <a:lnB w="5443"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689558130"/>
                  </a:ext>
                </a:extLst>
              </a:tr>
            </a:tbl>
          </a:graphicData>
        </a:graphic>
      </p:graphicFrame>
      <p:graphicFrame>
        <p:nvGraphicFramePr>
          <p:cNvPr id="7" name="Table 6">
            <a:extLst>
              <a:ext uri="{FF2B5EF4-FFF2-40B4-BE49-F238E27FC236}">
                <a16:creationId xmlns:a16="http://schemas.microsoft.com/office/drawing/2014/main" id="{E7F53C9A-1B3E-44BB-824F-F6BF29FFC727}"/>
              </a:ext>
            </a:extLst>
          </p:cNvPr>
          <p:cNvGraphicFramePr>
            <a:graphicFrameLocks noGrp="1"/>
          </p:cNvGraphicFramePr>
          <p:nvPr>
            <p:extLst>
              <p:ext uri="{D42A27DB-BD31-4B8C-83A1-F6EECF244321}">
                <p14:modId xmlns:p14="http://schemas.microsoft.com/office/powerpoint/2010/main" val="799968237"/>
              </p:ext>
            </p:extLst>
          </p:nvPr>
        </p:nvGraphicFramePr>
        <p:xfrm>
          <a:off x="4152914" y="4244402"/>
          <a:ext cx="4336569" cy="412568"/>
        </p:xfrm>
        <a:graphic>
          <a:graphicData uri="http://schemas.openxmlformats.org/drawingml/2006/table">
            <a:tbl>
              <a:tblPr/>
              <a:tblGrid>
                <a:gridCol w="4336569">
                  <a:extLst>
                    <a:ext uri="{9D8B030D-6E8A-4147-A177-3AD203B41FA5}">
                      <a16:colId xmlns:a16="http://schemas.microsoft.com/office/drawing/2014/main" val="2160205330"/>
                    </a:ext>
                  </a:extLst>
                </a:gridCol>
              </a:tblGrid>
              <a:tr h="316823">
                <a:tc>
                  <a:txBody>
                    <a:bodyPr/>
                    <a:lstStyle/>
                    <a:p>
                      <a:pPr algn="ctr" rtl="0" fontAlgn="ctr">
                        <a:spcBef>
                          <a:spcPts val="0"/>
                        </a:spcBef>
                        <a:spcAft>
                          <a:spcPts val="0"/>
                        </a:spcAft>
                      </a:pPr>
                      <a:r>
                        <a:rPr lang="en-SG" sz="2350" b="0" i="0" u="none" strike="noStrike" dirty="0">
                          <a:solidFill>
                            <a:srgbClr val="000000"/>
                          </a:solidFill>
                          <a:effectLst/>
                          <a:latin typeface="Consolas" panose="020B0609020204030204" pitchFamily="49" charset="0"/>
                        </a:rPr>
                        <a:t># </a:t>
                      </a:r>
                      <a:r>
                        <a:rPr lang="en-SG" sz="2350" b="0" i="0" u="none" strike="noStrike" dirty="0" err="1">
                          <a:solidFill>
                            <a:srgbClr val="000000"/>
                          </a:solidFill>
                          <a:effectLst/>
                          <a:latin typeface="Consolas" panose="020B0609020204030204" pitchFamily="49" charset="0"/>
                        </a:rPr>
                        <a:t>mircosoft</a:t>
                      </a:r>
                      <a:r>
                        <a:rPr lang="en-SG" sz="2350" b="0" i="0" u="none" strike="noStrike" dirty="0">
                          <a:solidFill>
                            <a:srgbClr val="000000"/>
                          </a:solidFill>
                          <a:effectLst/>
                          <a:latin typeface="Consolas" panose="020B0609020204030204" pitchFamily="49" charset="0"/>
                        </a:rPr>
                        <a:t> sucks ;)</a:t>
                      </a:r>
                      <a:endParaRPr lang="en-SG" dirty="0">
                        <a:effectLst/>
                      </a:endParaRPr>
                    </a:p>
                  </a:txBody>
                  <a:tcPr marL="54429" marR="54429" marT="27214" marB="27214" anchor="ctr">
                    <a:lnL w="5443" cap="flat" cmpd="sng" algn="ctr">
                      <a:solidFill>
                        <a:srgbClr val="000000"/>
                      </a:solidFill>
                      <a:prstDash val="solid"/>
                      <a:round/>
                      <a:headEnd type="none" w="med" len="med"/>
                      <a:tailEnd type="none" w="med" len="med"/>
                    </a:lnL>
                    <a:lnR w="5443" cap="flat" cmpd="sng" algn="ctr">
                      <a:solidFill>
                        <a:srgbClr val="000000"/>
                      </a:solidFill>
                      <a:prstDash val="solid"/>
                      <a:round/>
                      <a:headEnd type="none" w="med" len="med"/>
                      <a:tailEnd type="none" w="med" len="med"/>
                    </a:lnR>
                    <a:lnT w="5443" cap="flat" cmpd="sng" algn="ctr">
                      <a:solidFill>
                        <a:srgbClr val="000000"/>
                      </a:solidFill>
                      <a:prstDash val="solid"/>
                      <a:round/>
                      <a:headEnd type="none" w="med" len="med"/>
                      <a:tailEnd type="none" w="med" len="med"/>
                    </a:lnT>
                    <a:lnB w="5443"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689558130"/>
                  </a:ext>
                </a:extLst>
              </a:tr>
            </a:tbl>
          </a:graphicData>
        </a:graphic>
      </p:graphicFrame>
      <p:graphicFrame>
        <p:nvGraphicFramePr>
          <p:cNvPr id="8" name="Table 7">
            <a:extLst>
              <a:ext uri="{FF2B5EF4-FFF2-40B4-BE49-F238E27FC236}">
                <a16:creationId xmlns:a16="http://schemas.microsoft.com/office/drawing/2014/main" id="{3FEFAD36-9696-46B3-89EB-3280E7CC3B11}"/>
              </a:ext>
            </a:extLst>
          </p:cNvPr>
          <p:cNvGraphicFramePr>
            <a:graphicFrameLocks noGrp="1"/>
          </p:cNvGraphicFramePr>
          <p:nvPr>
            <p:extLst>
              <p:ext uri="{D42A27DB-BD31-4B8C-83A1-F6EECF244321}">
                <p14:modId xmlns:p14="http://schemas.microsoft.com/office/powerpoint/2010/main" val="1705915846"/>
              </p:ext>
            </p:extLst>
          </p:nvPr>
        </p:nvGraphicFramePr>
        <p:xfrm>
          <a:off x="3026757" y="5157198"/>
          <a:ext cx="6588881" cy="1098884"/>
        </p:xfrm>
        <a:graphic>
          <a:graphicData uri="http://schemas.openxmlformats.org/drawingml/2006/table">
            <a:tbl>
              <a:tblPr/>
              <a:tblGrid>
                <a:gridCol w="6588881">
                  <a:extLst>
                    <a:ext uri="{9D8B030D-6E8A-4147-A177-3AD203B41FA5}">
                      <a16:colId xmlns:a16="http://schemas.microsoft.com/office/drawing/2014/main" val="2160205330"/>
                    </a:ext>
                  </a:extLst>
                </a:gridCol>
              </a:tblGrid>
              <a:tr h="1098884">
                <a:tc>
                  <a:txBody>
                    <a:bodyPr/>
                    <a:lstStyle/>
                    <a:p>
                      <a:pPr algn="ctr" rtl="0" fontAlgn="ctr">
                        <a:spcBef>
                          <a:spcPts val="0"/>
                        </a:spcBef>
                        <a:spcAft>
                          <a:spcPts val="0"/>
                        </a:spcAft>
                      </a:pPr>
                      <a:r>
                        <a:rPr lang="en-SG" sz="1600" b="0" i="0" u="none" strike="noStrike" dirty="0">
                          <a:solidFill>
                            <a:srgbClr val="000000"/>
                          </a:solidFill>
                          <a:effectLst/>
                          <a:latin typeface="Consolas" panose="020B0609020204030204" pitchFamily="49" charset="0"/>
                        </a:rPr>
                        <a:t>g00gle.com A &lt;IP Address of kali machine&gt;</a:t>
                      </a:r>
                    </a:p>
                    <a:p>
                      <a:pPr algn="ctr" rtl="0" fontAlgn="ctr">
                        <a:spcBef>
                          <a:spcPts val="0"/>
                        </a:spcBef>
                        <a:spcAft>
                          <a:spcPts val="0"/>
                        </a:spcAft>
                      </a:pPr>
                      <a:r>
                        <a:rPr lang="en-SG" sz="1600" b="0" i="0" u="none" strike="noStrike" dirty="0">
                          <a:solidFill>
                            <a:srgbClr val="000000"/>
                          </a:solidFill>
                          <a:effectLst/>
                          <a:latin typeface="Consolas" panose="020B0609020204030204" pitchFamily="49" charset="0"/>
                        </a:rPr>
                        <a:t>*.g00gle.com A &lt;IP Address of kali machine&gt;</a:t>
                      </a:r>
                    </a:p>
                    <a:p>
                      <a:pPr algn="ctr" rtl="0" fontAlgn="ctr">
                        <a:spcBef>
                          <a:spcPts val="0"/>
                        </a:spcBef>
                        <a:spcAft>
                          <a:spcPts val="0"/>
                        </a:spcAft>
                      </a:pPr>
                      <a:r>
                        <a:rPr lang="en-SG" sz="1600" b="0" i="0" u="none" strike="noStrike" dirty="0">
                          <a:solidFill>
                            <a:srgbClr val="000000"/>
                          </a:solidFill>
                          <a:effectLst/>
                          <a:latin typeface="Consolas" panose="020B0609020204030204" pitchFamily="49" charset="0"/>
                        </a:rPr>
                        <a:t>www.g00gle.com PTR &lt;IP Address of kali machine&gt;</a:t>
                      </a:r>
                      <a:endParaRPr lang="en-SG" sz="1050" dirty="0">
                        <a:effectLst/>
                      </a:endParaRPr>
                    </a:p>
                  </a:txBody>
                  <a:tcPr marL="54429" marR="54429" marT="27214" marB="27214" anchor="ctr">
                    <a:lnL w="5443" cap="flat" cmpd="sng" algn="ctr">
                      <a:solidFill>
                        <a:srgbClr val="000000"/>
                      </a:solidFill>
                      <a:prstDash val="solid"/>
                      <a:round/>
                      <a:headEnd type="none" w="med" len="med"/>
                      <a:tailEnd type="none" w="med" len="med"/>
                    </a:lnL>
                    <a:lnR w="5443" cap="flat" cmpd="sng" algn="ctr">
                      <a:solidFill>
                        <a:srgbClr val="000000"/>
                      </a:solidFill>
                      <a:prstDash val="solid"/>
                      <a:round/>
                      <a:headEnd type="none" w="med" len="med"/>
                      <a:tailEnd type="none" w="med" len="med"/>
                    </a:lnR>
                    <a:lnT w="5443" cap="flat" cmpd="sng" algn="ctr">
                      <a:solidFill>
                        <a:srgbClr val="000000"/>
                      </a:solidFill>
                      <a:prstDash val="solid"/>
                      <a:round/>
                      <a:headEnd type="none" w="med" len="med"/>
                      <a:tailEnd type="none" w="med" len="med"/>
                    </a:lnT>
                    <a:lnB w="5443"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689558130"/>
                  </a:ext>
                </a:extLst>
              </a:tr>
            </a:tbl>
          </a:graphicData>
        </a:graphic>
      </p:graphicFrame>
    </p:spTree>
    <p:extLst>
      <p:ext uri="{BB962C8B-B14F-4D97-AF65-F5344CB8AC3E}">
        <p14:creationId xmlns:p14="http://schemas.microsoft.com/office/powerpoint/2010/main" val="28993755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pic>
        <p:nvPicPr>
          <p:cNvPr id="5" name="Picture 4" descr="Text&#10;&#10;Description automatically generated">
            <a:extLst>
              <a:ext uri="{FF2B5EF4-FFF2-40B4-BE49-F238E27FC236}">
                <a16:creationId xmlns:a16="http://schemas.microsoft.com/office/drawing/2014/main" id="{B9B9FA4B-320C-447F-A495-5A783638A62E}"/>
              </a:ext>
            </a:extLst>
          </p:cNvPr>
          <p:cNvPicPr>
            <a:picLocks noChangeAspect="1"/>
          </p:cNvPicPr>
          <p:nvPr/>
        </p:nvPicPr>
        <p:blipFill>
          <a:blip r:embed="rId2"/>
          <a:stretch>
            <a:fillRect/>
          </a:stretch>
        </p:blipFill>
        <p:spPr>
          <a:xfrm>
            <a:off x="2311351" y="2243431"/>
            <a:ext cx="7345932" cy="3416224"/>
          </a:xfrm>
          <a:prstGeom prst="rect">
            <a:avLst/>
          </a:prstGeom>
        </p:spPr>
      </p:pic>
    </p:spTree>
    <p:extLst>
      <p:ext uri="{BB962C8B-B14F-4D97-AF65-F5344CB8AC3E}">
        <p14:creationId xmlns:p14="http://schemas.microsoft.com/office/powerpoint/2010/main" val="12290138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sp>
        <p:nvSpPr>
          <p:cNvPr id="3" name="Text Placeholder 2">
            <a:extLst>
              <a:ext uri="{FF2B5EF4-FFF2-40B4-BE49-F238E27FC236}">
                <a16:creationId xmlns:a16="http://schemas.microsoft.com/office/drawing/2014/main" id="{C04C8631-6A0E-4F42-926B-7BF0D4D25936}"/>
              </a:ext>
            </a:extLst>
          </p:cNvPr>
          <p:cNvSpPr>
            <a:spLocks noGrp="1"/>
          </p:cNvSpPr>
          <p:nvPr>
            <p:ph type="body" idx="1"/>
          </p:nvPr>
        </p:nvSpPr>
        <p:spPr/>
        <p:txBody>
          <a:bodyPr/>
          <a:lstStyle/>
          <a:p>
            <a:pPr fontAlgn="base">
              <a:buClrTx/>
              <a:buSzPct val="100000"/>
              <a:buFont typeface="Arial" panose="020B0604020202020204" pitchFamily="34" charset="0"/>
              <a:buChar char="•"/>
            </a:pPr>
            <a:r>
              <a:rPr lang="en-US" dirty="0"/>
              <a:t>The </a:t>
            </a:r>
            <a:r>
              <a:rPr lang="en-US" b="1" i="1" dirty="0" err="1"/>
              <a:t>etter.dns</a:t>
            </a:r>
            <a:r>
              <a:rPr lang="en-US" b="1" dirty="0"/>
              <a:t> </a:t>
            </a:r>
            <a:r>
              <a:rPr lang="en-US" dirty="0"/>
              <a:t>file is the hosts file and is responsible for redirecting specific DNS requests</a:t>
            </a:r>
          </a:p>
          <a:p>
            <a:pPr fontAlgn="base">
              <a:buClrTx/>
              <a:buSzPct val="100000"/>
              <a:buFont typeface="Arial" panose="020B0604020202020204" pitchFamily="34" charset="0"/>
              <a:buChar char="•"/>
            </a:pPr>
            <a:endParaRPr lang="en-US" dirty="0"/>
          </a:p>
          <a:p>
            <a:pPr fontAlgn="base">
              <a:buClrTx/>
              <a:buSzPct val="100000"/>
              <a:buFont typeface="Arial" panose="020B0604020202020204" pitchFamily="34" charset="0"/>
              <a:buChar char="•"/>
            </a:pPr>
            <a:r>
              <a:rPr lang="en-US" dirty="0"/>
              <a:t>Basically, if an unsuspecting victim mistakenly visits </a:t>
            </a:r>
            <a:r>
              <a:rPr lang="en-US" i="1" dirty="0"/>
              <a:t>g00gle.com</a:t>
            </a:r>
            <a:r>
              <a:rPr lang="en-US" dirty="0"/>
              <a:t>, they will visit a website that looks like </a:t>
            </a:r>
            <a:r>
              <a:rPr lang="en-US" dirty="0" err="1"/>
              <a:t>GMail</a:t>
            </a:r>
            <a:r>
              <a:rPr lang="en-US" dirty="0"/>
              <a:t>, even though it’s the malicious website you made (a Gmail clone)</a:t>
            </a:r>
          </a:p>
          <a:p>
            <a:pPr fontAlgn="base">
              <a:buClrTx/>
              <a:buSzPct val="100000"/>
              <a:buFont typeface="Arial" panose="020B0604020202020204" pitchFamily="34" charset="0"/>
              <a:buChar char="•"/>
            </a:pPr>
            <a:endParaRPr lang="en-US" dirty="0"/>
          </a:p>
          <a:p>
            <a:pPr fontAlgn="base"/>
            <a:r>
              <a:rPr lang="en-US" dirty="0"/>
              <a:t>You can sniff sensitive information from any input here onwards</a:t>
            </a:r>
          </a:p>
          <a:p>
            <a:pPr>
              <a:lnSpc>
                <a:spcPct val="150000"/>
              </a:lnSpc>
              <a:buClrTx/>
              <a:buSzPct val="100000"/>
              <a:buFont typeface="Arial" panose="020B0604020202020204" pitchFamily="34" charset="0"/>
              <a:buChar char="•"/>
            </a:pPr>
            <a:endParaRPr lang="en-SG" dirty="0"/>
          </a:p>
        </p:txBody>
      </p:sp>
    </p:spTree>
    <p:extLst>
      <p:ext uri="{BB962C8B-B14F-4D97-AF65-F5344CB8AC3E}">
        <p14:creationId xmlns:p14="http://schemas.microsoft.com/office/powerpoint/2010/main" val="28374577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sp>
        <p:nvSpPr>
          <p:cNvPr id="3" name="Text Placeholder 2">
            <a:extLst>
              <a:ext uri="{FF2B5EF4-FFF2-40B4-BE49-F238E27FC236}">
                <a16:creationId xmlns:a16="http://schemas.microsoft.com/office/drawing/2014/main" id="{C04C8631-6A0E-4F42-926B-7BF0D4D25936}"/>
              </a:ext>
            </a:extLst>
          </p:cNvPr>
          <p:cNvSpPr>
            <a:spLocks noGrp="1"/>
          </p:cNvSpPr>
          <p:nvPr>
            <p:ph type="body" idx="1"/>
          </p:nvPr>
        </p:nvSpPr>
        <p:spPr/>
        <p:txBody>
          <a:bodyPr/>
          <a:lstStyle/>
          <a:p>
            <a:pPr fontAlgn="base">
              <a:buClrTx/>
              <a:buSzPct val="100000"/>
              <a:buFont typeface="Arial" panose="020B0604020202020204" pitchFamily="34" charset="0"/>
              <a:buChar char="•"/>
            </a:pPr>
            <a:r>
              <a:rPr lang="en-US" dirty="0"/>
              <a:t>Now we run Ettercap by entering the following command into the terminal</a:t>
            </a:r>
          </a:p>
          <a:p>
            <a:pPr>
              <a:lnSpc>
                <a:spcPct val="150000"/>
              </a:lnSpc>
              <a:buClrTx/>
              <a:buSzPct val="100000"/>
              <a:buFont typeface="Arial" panose="020B0604020202020204" pitchFamily="34" charset="0"/>
              <a:buChar char="•"/>
            </a:pPr>
            <a:endParaRPr lang="en-SG" dirty="0"/>
          </a:p>
        </p:txBody>
      </p:sp>
      <p:graphicFrame>
        <p:nvGraphicFramePr>
          <p:cNvPr id="4" name="Table 3">
            <a:extLst>
              <a:ext uri="{FF2B5EF4-FFF2-40B4-BE49-F238E27FC236}">
                <a16:creationId xmlns:a16="http://schemas.microsoft.com/office/drawing/2014/main" id="{E58E900E-A376-4B44-BA03-69610CBED061}"/>
              </a:ext>
            </a:extLst>
          </p:cNvPr>
          <p:cNvGraphicFramePr>
            <a:graphicFrameLocks noGrp="1"/>
          </p:cNvGraphicFramePr>
          <p:nvPr>
            <p:extLst>
              <p:ext uri="{D42A27DB-BD31-4B8C-83A1-F6EECF244321}">
                <p14:modId xmlns:p14="http://schemas.microsoft.com/office/powerpoint/2010/main" val="3349911706"/>
              </p:ext>
            </p:extLst>
          </p:nvPr>
        </p:nvGraphicFramePr>
        <p:xfrm>
          <a:off x="2980235" y="2395692"/>
          <a:ext cx="5644002" cy="412568"/>
        </p:xfrm>
        <a:graphic>
          <a:graphicData uri="http://schemas.openxmlformats.org/drawingml/2006/table">
            <a:tbl>
              <a:tblPr/>
              <a:tblGrid>
                <a:gridCol w="5644002">
                  <a:extLst>
                    <a:ext uri="{9D8B030D-6E8A-4147-A177-3AD203B41FA5}">
                      <a16:colId xmlns:a16="http://schemas.microsoft.com/office/drawing/2014/main" val="2160205330"/>
                    </a:ext>
                  </a:extLst>
                </a:gridCol>
              </a:tblGrid>
              <a:tr h="136259">
                <a:tc>
                  <a:txBody>
                    <a:bodyPr/>
                    <a:lstStyle/>
                    <a:p>
                      <a:pPr algn="ctr" rtl="0" fontAlgn="ctr">
                        <a:spcBef>
                          <a:spcPts val="0"/>
                        </a:spcBef>
                        <a:spcAft>
                          <a:spcPts val="0"/>
                        </a:spcAft>
                      </a:pPr>
                      <a:r>
                        <a:rPr lang="en-SG" sz="2350" b="0" i="0" u="none" strike="noStrike" dirty="0" err="1">
                          <a:solidFill>
                            <a:srgbClr val="000000"/>
                          </a:solidFill>
                          <a:effectLst/>
                          <a:latin typeface="Consolas" panose="020B0609020204030204" pitchFamily="49" charset="0"/>
                        </a:rPr>
                        <a:t>ettercap</a:t>
                      </a:r>
                      <a:r>
                        <a:rPr lang="en-SG" sz="2350" b="0" i="0" u="none" strike="noStrike" dirty="0">
                          <a:solidFill>
                            <a:srgbClr val="000000"/>
                          </a:solidFill>
                          <a:effectLst/>
                          <a:latin typeface="Consolas" panose="020B0609020204030204" pitchFamily="49" charset="0"/>
                        </a:rPr>
                        <a:t> -G</a:t>
                      </a:r>
                      <a:endParaRPr lang="en-SG" dirty="0">
                        <a:effectLst/>
                      </a:endParaRPr>
                    </a:p>
                  </a:txBody>
                  <a:tcPr marL="54429" marR="54429" marT="27214" marB="27214" anchor="ctr">
                    <a:lnL w="5443" cap="flat" cmpd="sng" algn="ctr">
                      <a:solidFill>
                        <a:srgbClr val="000000"/>
                      </a:solidFill>
                      <a:prstDash val="solid"/>
                      <a:round/>
                      <a:headEnd type="none" w="med" len="med"/>
                      <a:tailEnd type="none" w="med" len="med"/>
                    </a:lnL>
                    <a:lnR w="5443" cap="flat" cmpd="sng" algn="ctr">
                      <a:solidFill>
                        <a:srgbClr val="000000"/>
                      </a:solidFill>
                      <a:prstDash val="solid"/>
                      <a:round/>
                      <a:headEnd type="none" w="med" len="med"/>
                      <a:tailEnd type="none" w="med" len="med"/>
                    </a:lnR>
                    <a:lnT w="5443" cap="flat" cmpd="sng" algn="ctr">
                      <a:solidFill>
                        <a:srgbClr val="000000"/>
                      </a:solidFill>
                      <a:prstDash val="solid"/>
                      <a:round/>
                      <a:headEnd type="none" w="med" len="med"/>
                      <a:tailEnd type="none" w="med" len="med"/>
                    </a:lnT>
                    <a:lnB w="5443" cap="flat" cmpd="sng" algn="ctr">
                      <a:solidFill>
                        <a:srgbClr val="000000"/>
                      </a:solidFill>
                      <a:prstDash val="solid"/>
                      <a:round/>
                      <a:headEnd type="none" w="med" len="med"/>
                      <a:tailEnd type="none" w="med" len="med"/>
                    </a:lnB>
                    <a:solidFill>
                      <a:srgbClr val="D8D8D8"/>
                    </a:solidFill>
                  </a:tcPr>
                </a:tc>
                <a:extLst>
                  <a:ext uri="{0D108BD9-81ED-4DB2-BD59-A6C34878D82A}">
                    <a16:rowId xmlns:a16="http://schemas.microsoft.com/office/drawing/2014/main" val="1689558130"/>
                  </a:ext>
                </a:extLst>
              </a:tr>
            </a:tbl>
          </a:graphicData>
        </a:graphic>
      </p:graphicFrame>
      <p:pic>
        <p:nvPicPr>
          <p:cNvPr id="6" name="Picture 5" descr="Graphical user interface&#10;&#10;Description automatically generated">
            <a:extLst>
              <a:ext uri="{FF2B5EF4-FFF2-40B4-BE49-F238E27FC236}">
                <a16:creationId xmlns:a16="http://schemas.microsoft.com/office/drawing/2014/main" id="{F977F1B0-273A-4374-96D2-9700C6E447E9}"/>
              </a:ext>
            </a:extLst>
          </p:cNvPr>
          <p:cNvPicPr>
            <a:picLocks noChangeAspect="1"/>
          </p:cNvPicPr>
          <p:nvPr/>
        </p:nvPicPr>
        <p:blipFill>
          <a:blip r:embed="rId3"/>
          <a:stretch>
            <a:fillRect/>
          </a:stretch>
        </p:blipFill>
        <p:spPr>
          <a:xfrm>
            <a:off x="6159540" y="2938860"/>
            <a:ext cx="4996140" cy="3226578"/>
          </a:xfrm>
          <a:prstGeom prst="rect">
            <a:avLst/>
          </a:prstGeom>
        </p:spPr>
      </p:pic>
    </p:spTree>
    <p:extLst>
      <p:ext uri="{BB962C8B-B14F-4D97-AF65-F5344CB8AC3E}">
        <p14:creationId xmlns:p14="http://schemas.microsoft.com/office/powerpoint/2010/main" val="18387400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sp>
        <p:nvSpPr>
          <p:cNvPr id="3" name="Text Placeholder 2">
            <a:extLst>
              <a:ext uri="{FF2B5EF4-FFF2-40B4-BE49-F238E27FC236}">
                <a16:creationId xmlns:a16="http://schemas.microsoft.com/office/drawing/2014/main" id="{C04C8631-6A0E-4F42-926B-7BF0D4D25936}"/>
              </a:ext>
            </a:extLst>
          </p:cNvPr>
          <p:cNvSpPr>
            <a:spLocks noGrp="1"/>
          </p:cNvSpPr>
          <p:nvPr>
            <p:ph type="body" idx="1"/>
          </p:nvPr>
        </p:nvSpPr>
        <p:spPr/>
        <p:txBody>
          <a:bodyPr/>
          <a:lstStyle/>
          <a:p>
            <a:pPr fontAlgn="base">
              <a:lnSpc>
                <a:spcPct val="150000"/>
              </a:lnSpc>
              <a:buClrTx/>
              <a:buSzPct val="100000"/>
              <a:buFont typeface="Arial" panose="020B0604020202020204" pitchFamily="34" charset="0"/>
              <a:buChar char="•"/>
            </a:pPr>
            <a:r>
              <a:rPr lang="en-US" dirty="0"/>
              <a:t>In the menu bar, select</a:t>
            </a:r>
          </a:p>
          <a:p>
            <a:pPr lvl="1" fontAlgn="base">
              <a:lnSpc>
                <a:spcPct val="150000"/>
              </a:lnSpc>
              <a:buClrTx/>
              <a:buSzPct val="100000"/>
              <a:buFont typeface="Wingdings" panose="05000000000000000000" pitchFamily="2" charset="2"/>
              <a:buChar char="§"/>
            </a:pPr>
            <a:r>
              <a:rPr lang="en-US" b="1" dirty="0"/>
              <a:t>Sniff &gt; Unified sniffing …</a:t>
            </a:r>
          </a:p>
          <a:p>
            <a:pPr lvl="1" fontAlgn="base">
              <a:lnSpc>
                <a:spcPct val="150000"/>
              </a:lnSpc>
              <a:buClrTx/>
              <a:buSzPct val="100000"/>
              <a:buFont typeface="Wingdings" panose="05000000000000000000" pitchFamily="2" charset="2"/>
              <a:buChar char="§"/>
            </a:pPr>
            <a:r>
              <a:rPr lang="en-US" dirty="0"/>
              <a:t>(Select the interface connected to the internet) &gt; </a:t>
            </a:r>
            <a:r>
              <a:rPr lang="en-US" b="1" dirty="0"/>
              <a:t>OK</a:t>
            </a:r>
          </a:p>
          <a:p>
            <a:pPr fontAlgn="base">
              <a:lnSpc>
                <a:spcPct val="150000"/>
              </a:lnSpc>
              <a:buClrTx/>
              <a:buSzPct val="100000"/>
              <a:buFont typeface="Wingdings" panose="05000000000000000000" pitchFamily="2" charset="2"/>
              <a:buChar char="§"/>
            </a:pPr>
            <a:r>
              <a:rPr lang="en-US" dirty="0"/>
              <a:t>In the menu bar, select </a:t>
            </a:r>
            <a:r>
              <a:rPr lang="en-US" b="1" dirty="0"/>
              <a:t>Start &gt; Stop sniffing</a:t>
            </a:r>
          </a:p>
          <a:p>
            <a:pPr lvl="1" fontAlgn="base">
              <a:lnSpc>
                <a:spcPct val="150000"/>
              </a:lnSpc>
              <a:buClrTx/>
              <a:buSzPct val="100000"/>
              <a:buFont typeface="Wingdings" panose="05000000000000000000" pitchFamily="2" charset="2"/>
              <a:buChar char="§"/>
            </a:pPr>
            <a:r>
              <a:rPr lang="en-US" dirty="0"/>
              <a:t>Ettercap automatically sniffs, but this is not what we want at this stage</a:t>
            </a:r>
          </a:p>
          <a:p>
            <a:pPr fontAlgn="base">
              <a:lnSpc>
                <a:spcPct val="150000"/>
              </a:lnSpc>
              <a:buClrTx/>
              <a:buSzPct val="100000"/>
              <a:buFont typeface="Wingdings" panose="05000000000000000000" pitchFamily="2" charset="2"/>
              <a:buChar char="§"/>
            </a:pPr>
            <a:r>
              <a:rPr lang="en-US" dirty="0"/>
              <a:t>In the menu bar, select </a:t>
            </a:r>
            <a:r>
              <a:rPr lang="en-US" b="1" dirty="0"/>
              <a:t>Hosts &gt; Scan for hosts</a:t>
            </a:r>
          </a:p>
          <a:p>
            <a:pPr lvl="1" fontAlgn="base">
              <a:lnSpc>
                <a:spcPct val="150000"/>
              </a:lnSpc>
              <a:buClrTx/>
              <a:buSzPct val="100000"/>
              <a:buFont typeface="Wingdings" panose="05000000000000000000" pitchFamily="2" charset="2"/>
              <a:buChar char="§"/>
            </a:pPr>
            <a:r>
              <a:rPr lang="en-US" dirty="0"/>
              <a:t>Wait until it completes scanning</a:t>
            </a:r>
          </a:p>
          <a:p>
            <a:pPr>
              <a:lnSpc>
                <a:spcPct val="150000"/>
              </a:lnSpc>
              <a:buClrTx/>
              <a:buSzPct val="100000"/>
              <a:buFont typeface="Arial" panose="020B0604020202020204" pitchFamily="34" charset="0"/>
              <a:buChar char="•"/>
            </a:pPr>
            <a:endParaRPr lang="en-SG" dirty="0"/>
          </a:p>
        </p:txBody>
      </p:sp>
    </p:spTree>
    <p:extLst>
      <p:ext uri="{BB962C8B-B14F-4D97-AF65-F5344CB8AC3E}">
        <p14:creationId xmlns:p14="http://schemas.microsoft.com/office/powerpoint/2010/main" val="8669655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pic>
        <p:nvPicPr>
          <p:cNvPr id="5122" name="Picture 2">
            <a:extLst>
              <a:ext uri="{FF2B5EF4-FFF2-40B4-BE49-F238E27FC236}">
                <a16:creationId xmlns:a16="http://schemas.microsoft.com/office/drawing/2014/main" id="{F8DAB5E2-86AA-4A47-A2D1-9D8B55763F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7205" y="1785485"/>
            <a:ext cx="6993188" cy="4531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18192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sp>
        <p:nvSpPr>
          <p:cNvPr id="3" name="Text Placeholder 2">
            <a:extLst>
              <a:ext uri="{FF2B5EF4-FFF2-40B4-BE49-F238E27FC236}">
                <a16:creationId xmlns:a16="http://schemas.microsoft.com/office/drawing/2014/main" id="{C04C8631-6A0E-4F42-926B-7BF0D4D25936}"/>
              </a:ext>
            </a:extLst>
          </p:cNvPr>
          <p:cNvSpPr>
            <a:spLocks noGrp="1"/>
          </p:cNvSpPr>
          <p:nvPr>
            <p:ph type="body" idx="1"/>
          </p:nvPr>
        </p:nvSpPr>
        <p:spPr/>
        <p:txBody>
          <a:bodyPr/>
          <a:lstStyle/>
          <a:p>
            <a:pPr fontAlgn="base">
              <a:lnSpc>
                <a:spcPct val="150000"/>
              </a:lnSpc>
              <a:buClrTx/>
              <a:buSzPct val="100000"/>
              <a:buFont typeface="Arial" panose="020B0604020202020204" pitchFamily="34" charset="0"/>
              <a:buChar char="•"/>
            </a:pPr>
            <a:r>
              <a:rPr lang="en-US" dirty="0"/>
              <a:t>In the menu bar, select </a:t>
            </a:r>
            <a:r>
              <a:rPr lang="en-US" b="1" dirty="0"/>
              <a:t>Hosts &gt; Host list</a:t>
            </a:r>
          </a:p>
          <a:p>
            <a:pPr lvl="1" fontAlgn="base">
              <a:lnSpc>
                <a:spcPct val="150000"/>
              </a:lnSpc>
              <a:buClrTx/>
              <a:buSzPct val="100000"/>
              <a:buFont typeface="Arial" panose="020B0604020202020204" pitchFamily="34" charset="0"/>
              <a:buChar char="•"/>
            </a:pPr>
            <a:r>
              <a:rPr lang="en-US" dirty="0"/>
              <a:t>Displays all potential targets Ettercap found</a:t>
            </a:r>
          </a:p>
          <a:p>
            <a:pPr lvl="1" fontAlgn="base">
              <a:lnSpc>
                <a:spcPct val="150000"/>
              </a:lnSpc>
              <a:buClrTx/>
              <a:buSzPct val="100000"/>
              <a:buFont typeface="Arial" panose="020B0604020202020204" pitchFamily="34" charset="0"/>
              <a:buChar char="•"/>
            </a:pPr>
            <a:r>
              <a:rPr lang="en-US" dirty="0"/>
              <a:t>Ettercap requires at least 2 IP addresses</a:t>
            </a:r>
          </a:p>
          <a:p>
            <a:pPr lvl="2" fontAlgn="base">
              <a:lnSpc>
                <a:spcPct val="150000"/>
              </a:lnSpc>
              <a:buClrTx/>
              <a:buSzPct val="100000"/>
              <a:buFont typeface="Wingdings" panose="05000000000000000000" pitchFamily="2" charset="2"/>
              <a:buChar char="§"/>
            </a:pPr>
            <a:r>
              <a:rPr lang="en-US" dirty="0"/>
              <a:t>Victim’s IP Addresses</a:t>
            </a:r>
          </a:p>
          <a:p>
            <a:pPr lvl="2" fontAlgn="base">
              <a:lnSpc>
                <a:spcPct val="150000"/>
              </a:lnSpc>
              <a:buClrTx/>
              <a:buSzPct val="100000"/>
              <a:buFont typeface="Wingdings" panose="05000000000000000000" pitchFamily="2" charset="2"/>
              <a:buChar char="§"/>
            </a:pPr>
            <a:r>
              <a:rPr lang="en-US" dirty="0"/>
              <a:t>Your Network Gateway</a:t>
            </a:r>
          </a:p>
          <a:p>
            <a:pPr fontAlgn="base">
              <a:lnSpc>
                <a:spcPct val="100000"/>
              </a:lnSpc>
              <a:buClrTx/>
              <a:buSzPct val="100000"/>
              <a:buFont typeface="Arial" panose="020B0604020202020204" pitchFamily="34" charset="0"/>
              <a:buChar char="•"/>
            </a:pPr>
            <a:r>
              <a:rPr lang="en-US" dirty="0"/>
              <a:t>Finding victim’s IP address, in this case it will be your host machine (Windows machine)</a:t>
            </a:r>
          </a:p>
          <a:p>
            <a:pPr lvl="1" fontAlgn="base">
              <a:lnSpc>
                <a:spcPct val="100000"/>
              </a:lnSpc>
              <a:buClrTx/>
              <a:buSzPct val="100000"/>
              <a:buFont typeface="Arial" panose="020B0604020202020204" pitchFamily="34" charset="0"/>
              <a:buChar char="•"/>
            </a:pPr>
            <a:r>
              <a:rPr lang="en-US" dirty="0"/>
              <a:t>Launch a </a:t>
            </a:r>
            <a:r>
              <a:rPr lang="en-US" dirty="0" err="1"/>
              <a:t>cmd</a:t>
            </a:r>
            <a:r>
              <a:rPr lang="en-US" dirty="0"/>
              <a:t> and enter the following command “</a:t>
            </a:r>
            <a:r>
              <a:rPr lang="en-US" b="1" i="1" dirty="0"/>
              <a:t>ipconfig</a:t>
            </a:r>
            <a:r>
              <a:rPr lang="en-US" dirty="0"/>
              <a:t>”</a:t>
            </a:r>
          </a:p>
          <a:p>
            <a:pPr fontAlgn="base">
              <a:lnSpc>
                <a:spcPct val="100000"/>
              </a:lnSpc>
              <a:buClrTx/>
              <a:buSzPct val="100000"/>
              <a:buFont typeface="Arial" panose="020B0604020202020204" pitchFamily="34" charset="0"/>
              <a:buChar char="•"/>
            </a:pPr>
            <a:r>
              <a:rPr lang="en-US" dirty="0"/>
              <a:t>Select the victim’s IP address within Ettercap and </a:t>
            </a:r>
            <a:r>
              <a:rPr lang="en-US" b="1" dirty="0"/>
              <a:t>Add to Target 2</a:t>
            </a:r>
            <a:endParaRPr lang="en-SG" b="1" dirty="0"/>
          </a:p>
        </p:txBody>
      </p:sp>
    </p:spTree>
    <p:extLst>
      <p:ext uri="{BB962C8B-B14F-4D97-AF65-F5344CB8AC3E}">
        <p14:creationId xmlns:p14="http://schemas.microsoft.com/office/powerpoint/2010/main" val="35110497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sp>
        <p:nvSpPr>
          <p:cNvPr id="3" name="Text Placeholder 2">
            <a:extLst>
              <a:ext uri="{FF2B5EF4-FFF2-40B4-BE49-F238E27FC236}">
                <a16:creationId xmlns:a16="http://schemas.microsoft.com/office/drawing/2014/main" id="{C04C8631-6A0E-4F42-926B-7BF0D4D25936}"/>
              </a:ext>
            </a:extLst>
          </p:cNvPr>
          <p:cNvSpPr>
            <a:spLocks noGrp="1"/>
          </p:cNvSpPr>
          <p:nvPr>
            <p:ph type="body" idx="1"/>
          </p:nvPr>
        </p:nvSpPr>
        <p:spPr/>
        <p:txBody>
          <a:bodyPr/>
          <a:lstStyle/>
          <a:p>
            <a:pPr fontAlgn="base">
              <a:lnSpc>
                <a:spcPct val="100000"/>
              </a:lnSpc>
              <a:buClrTx/>
              <a:buSzPct val="100000"/>
              <a:buFont typeface="Arial" panose="020B0604020202020204" pitchFamily="34" charset="0"/>
              <a:buChar char="•"/>
            </a:pPr>
            <a:r>
              <a:rPr lang="en-US" dirty="0"/>
              <a:t>Finding Network Gateway IP address</a:t>
            </a:r>
          </a:p>
          <a:p>
            <a:pPr lvl="1" fontAlgn="base">
              <a:lnSpc>
                <a:spcPct val="100000"/>
              </a:lnSpc>
              <a:buClrTx/>
              <a:buSzPct val="100000"/>
              <a:buFont typeface="Arial" panose="020B0604020202020204" pitchFamily="34" charset="0"/>
              <a:buChar char="•"/>
            </a:pPr>
            <a:r>
              <a:rPr lang="en-US" dirty="0"/>
              <a:t>Can be found from the same </a:t>
            </a:r>
            <a:r>
              <a:rPr lang="en-US" b="1" i="1" dirty="0"/>
              <a:t>ipconfig</a:t>
            </a:r>
            <a:r>
              <a:rPr lang="en-US" dirty="0"/>
              <a:t> command </a:t>
            </a:r>
          </a:p>
          <a:p>
            <a:pPr lvl="1" fontAlgn="base">
              <a:lnSpc>
                <a:spcPct val="100000"/>
              </a:lnSpc>
              <a:buClrTx/>
              <a:buSzPct val="100000"/>
              <a:buFont typeface="Arial" panose="020B0604020202020204" pitchFamily="34" charset="0"/>
              <a:buChar char="•"/>
            </a:pPr>
            <a:endParaRPr lang="en-US" dirty="0"/>
          </a:p>
          <a:p>
            <a:pPr lvl="1" fontAlgn="base">
              <a:lnSpc>
                <a:spcPct val="100000"/>
              </a:lnSpc>
              <a:buClrTx/>
              <a:buSzPct val="100000"/>
              <a:buFont typeface="Arial" panose="020B0604020202020204" pitchFamily="34" charset="0"/>
              <a:buChar char="•"/>
            </a:pPr>
            <a:endParaRPr lang="en-US" dirty="0"/>
          </a:p>
          <a:p>
            <a:pPr lvl="1" fontAlgn="base">
              <a:lnSpc>
                <a:spcPct val="100000"/>
              </a:lnSpc>
              <a:buClrTx/>
              <a:buSzPct val="100000"/>
              <a:buFont typeface="Arial" panose="020B0604020202020204" pitchFamily="34" charset="0"/>
              <a:buChar char="•"/>
            </a:pPr>
            <a:endParaRPr lang="en-US" dirty="0"/>
          </a:p>
          <a:p>
            <a:pPr marL="571500" lvl="1" indent="0" fontAlgn="base">
              <a:lnSpc>
                <a:spcPct val="100000"/>
              </a:lnSpc>
              <a:buClrTx/>
              <a:buSzPct val="100000"/>
              <a:buNone/>
            </a:pPr>
            <a:endParaRPr lang="en-US" dirty="0"/>
          </a:p>
          <a:p>
            <a:pPr fontAlgn="base">
              <a:lnSpc>
                <a:spcPct val="100000"/>
              </a:lnSpc>
              <a:buClrTx/>
              <a:buSzPct val="100000"/>
              <a:buFont typeface="Arial" panose="020B0604020202020204" pitchFamily="34" charset="0"/>
              <a:buChar char="•"/>
            </a:pPr>
            <a:r>
              <a:rPr lang="en-US" dirty="0"/>
              <a:t>In Ettercap, select the Network Gateway IP address and </a:t>
            </a:r>
            <a:r>
              <a:rPr lang="en-US" b="1" dirty="0"/>
              <a:t>Add to Target 1</a:t>
            </a:r>
            <a:endParaRPr lang="en-SG" b="1" dirty="0"/>
          </a:p>
        </p:txBody>
      </p:sp>
      <p:pic>
        <p:nvPicPr>
          <p:cNvPr id="5" name="Picture 4" descr="Text&#10;&#10;Description automatically generated">
            <a:extLst>
              <a:ext uri="{FF2B5EF4-FFF2-40B4-BE49-F238E27FC236}">
                <a16:creationId xmlns:a16="http://schemas.microsoft.com/office/drawing/2014/main" id="{34E38A10-659A-45DE-B099-33E14160E949}"/>
              </a:ext>
            </a:extLst>
          </p:cNvPr>
          <p:cNvPicPr>
            <a:picLocks noChangeAspect="1"/>
          </p:cNvPicPr>
          <p:nvPr/>
        </p:nvPicPr>
        <p:blipFill rotWithShape="1">
          <a:blip r:embed="rId3">
            <a:extLst>
              <a:ext uri="{28A0092B-C50C-407E-A947-70E740481C1C}">
                <a14:useLocalDpi xmlns:a14="http://schemas.microsoft.com/office/drawing/2010/main" val="0"/>
              </a:ext>
            </a:extLst>
          </a:blip>
          <a:srcRect t="80876"/>
          <a:stretch/>
        </p:blipFill>
        <p:spPr>
          <a:xfrm>
            <a:off x="3035140" y="2770950"/>
            <a:ext cx="4693945" cy="1098496"/>
          </a:xfrm>
          <a:prstGeom prst="rect">
            <a:avLst/>
          </a:prstGeom>
        </p:spPr>
      </p:pic>
      <p:pic>
        <p:nvPicPr>
          <p:cNvPr id="9218" name="Picture 2">
            <a:extLst>
              <a:ext uri="{FF2B5EF4-FFF2-40B4-BE49-F238E27FC236}">
                <a16:creationId xmlns:a16="http://schemas.microsoft.com/office/drawing/2014/main" id="{85AA2CC4-7F5F-4CC6-93C4-F675C0A9EE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5304" y="4361924"/>
            <a:ext cx="4183781" cy="190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50649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sp>
        <p:nvSpPr>
          <p:cNvPr id="3" name="Text Placeholder 2">
            <a:extLst>
              <a:ext uri="{FF2B5EF4-FFF2-40B4-BE49-F238E27FC236}">
                <a16:creationId xmlns:a16="http://schemas.microsoft.com/office/drawing/2014/main" id="{C04C8631-6A0E-4F42-926B-7BF0D4D25936}"/>
              </a:ext>
            </a:extLst>
          </p:cNvPr>
          <p:cNvSpPr>
            <a:spLocks noGrp="1"/>
          </p:cNvSpPr>
          <p:nvPr>
            <p:ph type="body" idx="1"/>
          </p:nvPr>
        </p:nvSpPr>
        <p:spPr/>
        <p:txBody>
          <a:bodyPr/>
          <a:lstStyle/>
          <a:p>
            <a:pPr fontAlgn="base">
              <a:lnSpc>
                <a:spcPct val="150000"/>
              </a:lnSpc>
              <a:buClrTx/>
              <a:buSzPct val="100000"/>
              <a:buFont typeface="Arial" panose="020B0604020202020204" pitchFamily="34" charset="0"/>
              <a:buChar char="•"/>
            </a:pPr>
            <a:r>
              <a:rPr lang="en-US" dirty="0"/>
              <a:t>In the menu bar, select </a:t>
            </a:r>
            <a:r>
              <a:rPr lang="en-US" b="1" dirty="0"/>
              <a:t>MITM &gt; ARP poisoning</a:t>
            </a:r>
          </a:p>
          <a:p>
            <a:pPr fontAlgn="base">
              <a:lnSpc>
                <a:spcPct val="150000"/>
              </a:lnSpc>
              <a:buClrTx/>
              <a:buSzPct val="100000"/>
              <a:buFont typeface="Arial" panose="020B0604020202020204" pitchFamily="34" charset="0"/>
              <a:buChar char="•"/>
            </a:pPr>
            <a:r>
              <a:rPr lang="en-US" dirty="0"/>
              <a:t>Click </a:t>
            </a:r>
            <a:r>
              <a:rPr lang="en-US" b="1" dirty="0"/>
              <a:t>Sniff remote connections </a:t>
            </a:r>
            <a:r>
              <a:rPr lang="en-US" dirty="0"/>
              <a:t>&gt; select </a:t>
            </a:r>
            <a:r>
              <a:rPr lang="en-US" b="1" dirty="0"/>
              <a:t>OK</a:t>
            </a:r>
          </a:p>
          <a:p>
            <a:pPr fontAlgn="base">
              <a:lnSpc>
                <a:spcPct val="150000"/>
              </a:lnSpc>
              <a:buClrTx/>
              <a:buSzPct val="100000"/>
              <a:buFont typeface="Arial" panose="020B0604020202020204" pitchFamily="34" charset="0"/>
              <a:buChar char="•"/>
            </a:pPr>
            <a:r>
              <a:rPr lang="en-US" dirty="0"/>
              <a:t>In menu bar, select Plugins &gt; Manage the Plugins</a:t>
            </a:r>
          </a:p>
          <a:p>
            <a:pPr fontAlgn="base">
              <a:lnSpc>
                <a:spcPct val="150000"/>
              </a:lnSpc>
              <a:buClrTx/>
              <a:buSzPct val="100000"/>
              <a:buFont typeface="Arial" panose="020B0604020202020204" pitchFamily="34" charset="0"/>
              <a:buChar char="•"/>
            </a:pPr>
            <a:r>
              <a:rPr lang="en-US" dirty="0"/>
              <a:t>Double-click </a:t>
            </a:r>
            <a:r>
              <a:rPr lang="en-US" dirty="0" err="1"/>
              <a:t>dns_spoof</a:t>
            </a:r>
            <a:endParaRPr lang="en-US" dirty="0"/>
          </a:p>
          <a:p>
            <a:pPr lvl="1" fontAlgn="base">
              <a:lnSpc>
                <a:spcPct val="150000"/>
              </a:lnSpc>
              <a:buClrTx/>
              <a:buSzPct val="100000"/>
              <a:buFont typeface="Arial" panose="020B0604020202020204" pitchFamily="34" charset="0"/>
              <a:buChar char="•"/>
            </a:pPr>
            <a:r>
              <a:rPr lang="en-US" dirty="0"/>
              <a:t>Asterisk (*) should appear in the first column, denoting that the plugin is active</a:t>
            </a:r>
            <a:endParaRPr lang="en-SG" dirty="0"/>
          </a:p>
        </p:txBody>
      </p:sp>
    </p:spTree>
    <p:extLst>
      <p:ext uri="{BB962C8B-B14F-4D97-AF65-F5344CB8AC3E}">
        <p14:creationId xmlns:p14="http://schemas.microsoft.com/office/powerpoint/2010/main" val="17894963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sp>
        <p:nvSpPr>
          <p:cNvPr id="3" name="Text Placeholder 2">
            <a:extLst>
              <a:ext uri="{FF2B5EF4-FFF2-40B4-BE49-F238E27FC236}">
                <a16:creationId xmlns:a16="http://schemas.microsoft.com/office/drawing/2014/main" id="{C04C8631-6A0E-4F42-926B-7BF0D4D25936}"/>
              </a:ext>
            </a:extLst>
          </p:cNvPr>
          <p:cNvSpPr>
            <a:spLocks noGrp="1"/>
          </p:cNvSpPr>
          <p:nvPr>
            <p:ph type="body" idx="1"/>
          </p:nvPr>
        </p:nvSpPr>
        <p:spPr/>
        <p:txBody>
          <a:bodyPr/>
          <a:lstStyle/>
          <a:p>
            <a:pPr fontAlgn="base">
              <a:lnSpc>
                <a:spcPct val="100000"/>
              </a:lnSpc>
              <a:buClrTx/>
              <a:buSzPct val="100000"/>
              <a:buFont typeface="Arial" panose="020B0604020202020204" pitchFamily="34" charset="0"/>
              <a:buChar char="•"/>
            </a:pPr>
            <a:r>
              <a:rPr lang="en-US" dirty="0"/>
              <a:t>Now repeat the steps you did previously to clone the website from the first hands-on session using </a:t>
            </a:r>
            <a:r>
              <a:rPr lang="en-US" i="1" dirty="0" err="1"/>
              <a:t>setoolkit</a:t>
            </a:r>
            <a:endParaRPr lang="en-US" i="1" dirty="0"/>
          </a:p>
          <a:p>
            <a:pPr fontAlgn="base">
              <a:lnSpc>
                <a:spcPct val="100000"/>
              </a:lnSpc>
              <a:buClrTx/>
              <a:buSzPct val="100000"/>
              <a:buFont typeface="Arial" panose="020B0604020202020204" pitchFamily="34" charset="0"/>
              <a:buChar char="•"/>
            </a:pPr>
            <a:r>
              <a:rPr lang="en-US" dirty="0"/>
              <a:t>Once you see the following prompt as shown below, within </a:t>
            </a:r>
            <a:r>
              <a:rPr lang="en-US" i="1" dirty="0"/>
              <a:t>Ettercap, </a:t>
            </a:r>
            <a:r>
              <a:rPr lang="en-US" dirty="0"/>
              <a:t>in the menu bar, select </a:t>
            </a:r>
            <a:r>
              <a:rPr lang="en-US" b="1" dirty="0"/>
              <a:t>Start &gt; Start sniffing</a:t>
            </a:r>
            <a:endParaRPr lang="en-US" b="1" i="1" dirty="0"/>
          </a:p>
        </p:txBody>
      </p:sp>
      <p:pic>
        <p:nvPicPr>
          <p:cNvPr id="5" name="Picture 4">
            <a:extLst>
              <a:ext uri="{FF2B5EF4-FFF2-40B4-BE49-F238E27FC236}">
                <a16:creationId xmlns:a16="http://schemas.microsoft.com/office/drawing/2014/main" id="{DEA68E81-C4A6-4154-9527-EE99391289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380" y="3542556"/>
            <a:ext cx="6683509" cy="2326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03241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4354-F7E6-46E5-96E1-AECD4CC63237}"/>
              </a:ext>
            </a:extLst>
          </p:cNvPr>
          <p:cNvSpPr>
            <a:spLocks noGrp="1"/>
          </p:cNvSpPr>
          <p:nvPr>
            <p:ph type="title"/>
          </p:nvPr>
        </p:nvSpPr>
        <p:spPr/>
        <p:txBody>
          <a:bodyPr/>
          <a:lstStyle/>
          <a:p>
            <a:r>
              <a:rPr lang="en-US" dirty="0"/>
              <a:t>DNS Spoofing (Demo)</a:t>
            </a:r>
            <a:endParaRPr lang="en-SG" dirty="0"/>
          </a:p>
        </p:txBody>
      </p:sp>
      <p:sp>
        <p:nvSpPr>
          <p:cNvPr id="3" name="Text Placeholder 2">
            <a:extLst>
              <a:ext uri="{FF2B5EF4-FFF2-40B4-BE49-F238E27FC236}">
                <a16:creationId xmlns:a16="http://schemas.microsoft.com/office/drawing/2014/main" id="{C04C8631-6A0E-4F42-926B-7BF0D4D25936}"/>
              </a:ext>
            </a:extLst>
          </p:cNvPr>
          <p:cNvSpPr>
            <a:spLocks noGrp="1"/>
          </p:cNvSpPr>
          <p:nvPr>
            <p:ph type="body" idx="1"/>
          </p:nvPr>
        </p:nvSpPr>
        <p:spPr/>
        <p:txBody>
          <a:bodyPr/>
          <a:lstStyle/>
          <a:p>
            <a:pPr fontAlgn="base">
              <a:buClrTx/>
              <a:buSzPct val="100000"/>
              <a:buFont typeface="Arial" panose="020B0604020202020204" pitchFamily="34" charset="0"/>
              <a:buChar char="•"/>
            </a:pPr>
            <a:r>
              <a:rPr lang="en-US" dirty="0"/>
              <a:t>Every time the victim visits the webpage you indicated in the </a:t>
            </a:r>
            <a:r>
              <a:rPr lang="en-US" i="1" dirty="0" err="1"/>
              <a:t>etter.dns</a:t>
            </a:r>
            <a:r>
              <a:rPr lang="en-US" dirty="0"/>
              <a:t> file (in this case, g00gle.com), they will be redirected to the cloned site</a:t>
            </a:r>
          </a:p>
          <a:p>
            <a:pPr fontAlgn="base">
              <a:buClrTx/>
              <a:buSzPct val="100000"/>
              <a:buFont typeface="Arial" panose="020B0604020202020204" pitchFamily="34" charset="0"/>
              <a:buChar char="•"/>
            </a:pPr>
            <a:endParaRPr lang="en-US" dirty="0"/>
          </a:p>
          <a:p>
            <a:pPr fontAlgn="base">
              <a:buClrTx/>
              <a:buSzPct val="100000"/>
              <a:buFont typeface="Arial" panose="020B0604020202020204" pitchFamily="34" charset="0"/>
              <a:buChar char="•"/>
            </a:pPr>
            <a:r>
              <a:rPr lang="en-US" dirty="0"/>
              <a:t>This is extremely malicious, since the attacker could write a script that fetches the requested page immediately and sets up the </a:t>
            </a:r>
            <a:r>
              <a:rPr lang="en-US" i="1" dirty="0" err="1"/>
              <a:t>etter.dns</a:t>
            </a:r>
            <a:r>
              <a:rPr lang="en-US" dirty="0"/>
              <a:t> file and listens in on the login, all automatically</a:t>
            </a:r>
          </a:p>
          <a:p>
            <a:pPr fontAlgn="base">
              <a:buClrTx/>
              <a:buSzPct val="100000"/>
              <a:buFont typeface="Arial" panose="020B0604020202020204" pitchFamily="34" charset="0"/>
              <a:buChar char="•"/>
            </a:pPr>
            <a:endParaRPr lang="en-US" dirty="0"/>
          </a:p>
          <a:p>
            <a:pPr fontAlgn="base">
              <a:buClrTx/>
              <a:buSzPct val="100000"/>
              <a:buFont typeface="Arial" panose="020B0604020202020204" pitchFamily="34" charset="0"/>
              <a:buChar char="•"/>
            </a:pPr>
            <a:r>
              <a:rPr lang="en-US" dirty="0"/>
              <a:t>It’s worrying that it’s really that simple to perform a DNS Spoofing attack with very few resources</a:t>
            </a:r>
          </a:p>
        </p:txBody>
      </p:sp>
    </p:spTree>
    <p:extLst>
      <p:ext uri="{BB962C8B-B14F-4D97-AF65-F5344CB8AC3E}">
        <p14:creationId xmlns:p14="http://schemas.microsoft.com/office/powerpoint/2010/main" val="3533155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53"/>
          <p:cNvSpPr txBox="1"/>
          <p:nvPr/>
        </p:nvSpPr>
        <p:spPr>
          <a:xfrm>
            <a:off x="817567" y="898258"/>
            <a:ext cx="5459989" cy="900247"/>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Arial"/>
              <a:ea typeface="Arial"/>
              <a:cs typeface="Arial"/>
              <a:sym typeface="Arial"/>
            </a:endParaRPr>
          </a:p>
        </p:txBody>
      </p:sp>
      <p:sp>
        <p:nvSpPr>
          <p:cNvPr id="619" name="Google Shape;619;p5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What’s Covered So Far…</a:t>
            </a:r>
            <a:endParaRPr/>
          </a:p>
        </p:txBody>
      </p:sp>
      <p:sp>
        <p:nvSpPr>
          <p:cNvPr id="620" name="Google Shape;620;p53"/>
          <p:cNvSpPr txBox="1">
            <a:spLocks noGrp="1"/>
          </p:cNvSpPr>
          <p:nvPr>
            <p:ph type="body" idx="1"/>
          </p:nvPr>
        </p:nvSpPr>
        <p:spPr>
          <a:xfrm>
            <a:off x="1219954" y="1845735"/>
            <a:ext cx="10115203" cy="4114007"/>
          </a:xfrm>
          <a:prstGeom prst="rect">
            <a:avLst/>
          </a:prstGeom>
          <a:noFill/>
          <a:ln>
            <a:noFill/>
          </a:ln>
        </p:spPr>
        <p:txBody>
          <a:bodyPr spcFirstLastPara="1" wrap="square" lIns="0" tIns="45700" rIns="0" bIns="45700" anchor="t" anchorCtr="0">
            <a:noAutofit/>
          </a:bodyPr>
          <a:lstStyle/>
          <a:p>
            <a:pPr marL="91440" lvl="0" indent="-91440" algn="l" rtl="0">
              <a:lnSpc>
                <a:spcPct val="150000"/>
              </a:lnSpc>
              <a:spcBef>
                <a:spcPts val="0"/>
              </a:spcBef>
              <a:spcAft>
                <a:spcPts val="0"/>
              </a:spcAft>
              <a:buSzPts val="2000"/>
              <a:buFont typeface="Noto Sans Symbols"/>
              <a:buChar char="✔"/>
            </a:pPr>
            <a:r>
              <a:rPr lang="en-US" dirty="0"/>
              <a:t> What is Network Security?</a:t>
            </a:r>
            <a:endParaRPr dirty="0"/>
          </a:p>
          <a:p>
            <a:pPr marL="91440" lvl="0" indent="-91440" algn="l" rtl="0">
              <a:lnSpc>
                <a:spcPct val="150000"/>
              </a:lnSpc>
              <a:spcBef>
                <a:spcPts val="200"/>
              </a:spcBef>
              <a:spcAft>
                <a:spcPts val="0"/>
              </a:spcAft>
              <a:buSzPts val="2000"/>
              <a:buFont typeface="Noto Sans Symbols"/>
              <a:buChar char="✔"/>
            </a:pPr>
            <a:r>
              <a:rPr lang="en-US" dirty="0"/>
              <a:t> Concept of Firewall</a:t>
            </a:r>
            <a:endParaRPr dirty="0"/>
          </a:p>
          <a:p>
            <a:pPr marL="91440" lvl="0" indent="-91440" algn="l" rtl="0">
              <a:lnSpc>
                <a:spcPct val="150000"/>
              </a:lnSpc>
              <a:spcBef>
                <a:spcPts val="200"/>
              </a:spcBef>
              <a:spcAft>
                <a:spcPts val="0"/>
              </a:spcAft>
              <a:buSzPts val="2000"/>
              <a:buFont typeface="Noto Sans Symbols"/>
              <a:buChar char="✔"/>
            </a:pPr>
            <a:r>
              <a:rPr lang="en-US" dirty="0"/>
              <a:t> Types of Firewall</a:t>
            </a:r>
            <a:endParaRPr dirty="0"/>
          </a:p>
          <a:p>
            <a:pPr marL="91440" lvl="0" indent="-91440" algn="l" rtl="0">
              <a:lnSpc>
                <a:spcPct val="150000"/>
              </a:lnSpc>
              <a:spcBef>
                <a:spcPts val="200"/>
              </a:spcBef>
              <a:spcAft>
                <a:spcPts val="0"/>
              </a:spcAft>
              <a:buSzPts val="2000"/>
              <a:buFont typeface="Noto Sans Symbols"/>
              <a:buChar char="✔"/>
            </a:pPr>
            <a:r>
              <a:rPr lang="en-US" dirty="0"/>
              <a:t> Techniques led by Firewall</a:t>
            </a:r>
          </a:p>
          <a:p>
            <a:pPr marL="384048" lvl="1" indent="-182880">
              <a:lnSpc>
                <a:spcPct val="150000"/>
              </a:lnSpc>
              <a:buSzPts val="2000"/>
              <a:buFont typeface="Courier New"/>
              <a:buChar char="o"/>
            </a:pPr>
            <a:r>
              <a:rPr lang="en-US" dirty="0"/>
              <a:t> Packet Filtering</a:t>
            </a:r>
          </a:p>
          <a:p>
            <a:pPr marL="384048" lvl="1" indent="-182880">
              <a:lnSpc>
                <a:spcPct val="150000"/>
              </a:lnSpc>
              <a:spcBef>
                <a:spcPts val="400"/>
              </a:spcBef>
              <a:buSzPts val="2000"/>
              <a:buFont typeface="Courier New"/>
              <a:buChar char="o"/>
            </a:pPr>
            <a:r>
              <a:rPr lang="en-US" dirty="0"/>
              <a:t> Stateful Packet Filtering</a:t>
            </a:r>
          </a:p>
          <a:p>
            <a:pPr marL="384048" lvl="1" indent="-182880">
              <a:lnSpc>
                <a:spcPct val="150000"/>
              </a:lnSpc>
              <a:spcBef>
                <a:spcPts val="400"/>
              </a:spcBef>
              <a:spcAft>
                <a:spcPts val="400"/>
              </a:spcAft>
              <a:buSzPts val="2000"/>
              <a:buFont typeface="Courier New"/>
              <a:buChar char="o"/>
            </a:pPr>
            <a:r>
              <a:rPr lang="en-US" dirty="0"/>
              <a:t> Application-Level Filtering</a:t>
            </a:r>
          </a:p>
          <a:p>
            <a:pPr marL="91440" lvl="0" indent="-91440" algn="l" rtl="0">
              <a:lnSpc>
                <a:spcPct val="150000"/>
              </a:lnSpc>
              <a:spcBef>
                <a:spcPts val="200"/>
              </a:spcBef>
              <a:spcAft>
                <a:spcPts val="0"/>
              </a:spcAft>
              <a:buSzPts val="2000"/>
              <a:buFont typeface="Noto Sans Symbols"/>
              <a:buChar char="✔"/>
            </a:pPr>
            <a:r>
              <a:rPr lang="en-US" dirty="0"/>
              <a:t> Spoofing Techniques</a:t>
            </a:r>
            <a:endParaRPr dirty="0"/>
          </a:p>
          <a:p>
            <a:pPr marL="201168" lvl="1" indent="0" algn="l" rtl="0">
              <a:lnSpc>
                <a:spcPct val="150000"/>
              </a:lnSpc>
              <a:spcBef>
                <a:spcPts val="200"/>
              </a:spcBef>
              <a:spcAft>
                <a:spcPts val="0"/>
              </a:spcAft>
              <a:buSzPts val="2000"/>
              <a:buNone/>
            </a:pPr>
            <a:endParaRPr dirty="0"/>
          </a:p>
        </p:txBody>
      </p:sp>
    </p:spTree>
  </p:cSld>
  <p:clrMapOvr>
    <a:masterClrMapping/>
  </p:clrMapOvr>
  <p:transition spd="slow">
    <p:fade thruBlk="1"/>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55"/>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Autofit/>
          </a:bodyPr>
          <a:lstStyle/>
          <a:p>
            <a:pPr marL="0" lvl="0" indent="0" algn="ctr" rtl="0">
              <a:lnSpc>
                <a:spcPct val="85000"/>
              </a:lnSpc>
              <a:spcBef>
                <a:spcPts val="0"/>
              </a:spcBef>
              <a:spcAft>
                <a:spcPts val="0"/>
              </a:spcAft>
              <a:buClr>
                <a:srgbClr val="262626"/>
              </a:buClr>
              <a:buSzPts val="6600"/>
              <a:buFont typeface="Arial"/>
              <a:buNone/>
            </a:pPr>
            <a:r>
              <a:rPr lang="en-US" sz="6600" b="1" dirty="0"/>
              <a:t>Network Security</a:t>
            </a:r>
            <a:br>
              <a:rPr lang="en-US" sz="6600" b="1" dirty="0"/>
            </a:br>
            <a:r>
              <a:rPr lang="en-US" sz="6600" dirty="0"/>
              <a:t>SSL</a:t>
            </a:r>
            <a:endParaRPr sz="6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74A41E1-4BB2-4C11-A6CE-A8767F8E95C8}"/>
              </a:ext>
            </a:extLst>
          </p:cNvPr>
          <p:cNvSpPr>
            <a:spLocks noGrp="1"/>
          </p:cNvSpPr>
          <p:nvPr>
            <p:ph type="body" idx="1"/>
          </p:nvPr>
        </p:nvSpPr>
        <p:spPr>
          <a:xfrm>
            <a:off x="1116530" y="1778358"/>
            <a:ext cx="6227545" cy="4023360"/>
          </a:xfrm>
        </p:spPr>
        <p:txBody>
          <a:bodyPr/>
          <a:lstStyle/>
          <a:p>
            <a:pPr marL="114300" indent="0">
              <a:buNone/>
            </a:pPr>
            <a:r>
              <a:rPr lang="en-US" u="sng" dirty="0">
                <a:solidFill>
                  <a:schemeClr val="tx1"/>
                </a:solidFill>
              </a:rPr>
              <a:t>TCP/IP</a:t>
            </a:r>
            <a:r>
              <a:rPr lang="en-US" dirty="0">
                <a:solidFill>
                  <a:schemeClr val="tx1"/>
                </a:solidFill>
              </a:rPr>
              <a:t>: Transmission Control Protocol / Internet Protocol</a:t>
            </a:r>
          </a:p>
          <a:p>
            <a:pPr lvl="1">
              <a:buClrTx/>
              <a:buFont typeface="Arial" panose="020B0604020202020204" pitchFamily="34" charset="0"/>
              <a:buChar char="•"/>
            </a:pPr>
            <a:r>
              <a:rPr lang="en-US" dirty="0">
                <a:solidFill>
                  <a:schemeClr val="tx1"/>
                </a:solidFill>
              </a:rPr>
              <a:t>Standard manner by which data is transferred over the Internet</a:t>
            </a:r>
          </a:p>
          <a:p>
            <a:pPr lvl="1">
              <a:buClrTx/>
              <a:buFont typeface="Arial" panose="020B0604020202020204" pitchFamily="34" charset="0"/>
              <a:buChar char="•"/>
            </a:pPr>
            <a:endParaRPr lang="en-US" dirty="0">
              <a:solidFill>
                <a:schemeClr val="tx1"/>
              </a:solidFill>
            </a:endParaRPr>
          </a:p>
          <a:p>
            <a:pPr marL="114300" indent="0">
              <a:buClrTx/>
              <a:buNone/>
            </a:pPr>
            <a:r>
              <a:rPr lang="en-US" u="sng" dirty="0">
                <a:solidFill>
                  <a:schemeClr val="tx1"/>
                </a:solidFill>
              </a:rPr>
              <a:t>HTTP</a:t>
            </a:r>
            <a:r>
              <a:rPr lang="en-US" dirty="0">
                <a:solidFill>
                  <a:schemeClr val="tx1"/>
                </a:solidFill>
              </a:rPr>
              <a:t>: Hyper Text Transfer Protocol</a:t>
            </a:r>
          </a:p>
          <a:p>
            <a:pPr lvl="1">
              <a:buClrTx/>
              <a:buFont typeface="Arial" panose="020B0604020202020204" pitchFamily="34" charset="0"/>
              <a:buChar char="•"/>
            </a:pPr>
            <a:r>
              <a:rPr lang="en-US" dirty="0">
                <a:solidFill>
                  <a:schemeClr val="tx1"/>
                </a:solidFill>
              </a:rPr>
              <a:t>How a webpage is transferred, typically in plain text</a:t>
            </a:r>
          </a:p>
          <a:p>
            <a:pPr marL="114300" indent="0">
              <a:buClrTx/>
              <a:buNone/>
            </a:pPr>
            <a:r>
              <a:rPr lang="en-US" b="1" dirty="0">
                <a:solidFill>
                  <a:srgbClr val="FF0000"/>
                </a:solidFill>
              </a:rPr>
              <a:t>Lacks native/in-built encryption</a:t>
            </a:r>
            <a:endParaRPr lang="en-US" sz="1600" b="1" dirty="0">
              <a:solidFill>
                <a:srgbClr val="000000"/>
              </a:solidFill>
            </a:endParaRPr>
          </a:p>
          <a:p>
            <a:pPr lvl="1">
              <a:buClrTx/>
              <a:buFont typeface="Arial" panose="020B0604020202020204" pitchFamily="34" charset="0"/>
              <a:buChar char="•"/>
            </a:pPr>
            <a:r>
              <a:rPr lang="en-US" dirty="0"/>
              <a:t>Data transmission can be sniffed and read by anyone</a:t>
            </a:r>
          </a:p>
          <a:p>
            <a:pPr lvl="1">
              <a:buClrTx/>
              <a:buFont typeface="Arial" panose="020B0604020202020204" pitchFamily="34" charset="0"/>
              <a:buChar char="•"/>
            </a:pPr>
            <a:r>
              <a:rPr lang="en-US" dirty="0"/>
              <a:t>Not ideal when transmitting sensitive data such as identification and credit card numbers</a:t>
            </a:r>
            <a:endParaRPr lang="en-US" sz="1400" dirty="0">
              <a:solidFill>
                <a:srgbClr val="000000"/>
              </a:solidFill>
            </a:endParaRPr>
          </a:p>
          <a:p>
            <a:pPr marL="114300" indent="0">
              <a:buNone/>
            </a:pPr>
            <a:endParaRPr lang="en-SG" dirty="0">
              <a:solidFill>
                <a:schemeClr val="tx1"/>
              </a:solidFill>
            </a:endParaRPr>
          </a:p>
        </p:txBody>
      </p:sp>
      <p:sp>
        <p:nvSpPr>
          <p:cNvPr id="4" name="Google Shape;630;p56">
            <a:extLst>
              <a:ext uri="{FF2B5EF4-FFF2-40B4-BE49-F238E27FC236}">
                <a16:creationId xmlns:a16="http://schemas.microsoft.com/office/drawing/2014/main" id="{6D653365-B3A0-4C85-AFA4-C4478A0DF609}"/>
              </a:ext>
            </a:extLst>
          </p:cNvPr>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chemeClr val="accent2"/>
              </a:buClr>
              <a:buSzPts val="4400"/>
              <a:buFont typeface="Quattrocento Sans"/>
              <a:buNone/>
            </a:pPr>
            <a:r>
              <a:rPr lang="en-US" dirty="0"/>
              <a:t>TCP/IP &amp; HTTP</a:t>
            </a:r>
            <a:endParaRPr dirty="0"/>
          </a:p>
        </p:txBody>
      </p:sp>
      <p:pic>
        <p:nvPicPr>
          <p:cNvPr id="5" name="Google Shape;631;p56" descr="http://www.technologyuk.net/the_internet/internet/images/tcp_ip_encapsulation.gif">
            <a:extLst>
              <a:ext uri="{FF2B5EF4-FFF2-40B4-BE49-F238E27FC236}">
                <a16:creationId xmlns:a16="http://schemas.microsoft.com/office/drawing/2014/main" id="{642449EE-EF9E-4325-A986-1BE064F09FF1}"/>
              </a:ext>
            </a:extLst>
          </p:cNvPr>
          <p:cNvPicPr preferRelativeResize="0"/>
          <p:nvPr/>
        </p:nvPicPr>
        <p:blipFill rotWithShape="1">
          <a:blip r:embed="rId2">
            <a:alphaModFix/>
          </a:blip>
          <a:srcRect/>
          <a:stretch/>
        </p:blipFill>
        <p:spPr>
          <a:xfrm>
            <a:off x="7388991" y="2386270"/>
            <a:ext cx="4058386" cy="2942288"/>
          </a:xfrm>
          <a:prstGeom prst="rect">
            <a:avLst/>
          </a:prstGeom>
          <a:noFill/>
          <a:ln>
            <a:noFill/>
          </a:ln>
          <a:effectLst>
            <a:outerShdw blurRad="292100" dist="139700" dir="2700000" algn="tl" rotWithShape="0">
              <a:srgbClr val="333333">
                <a:alpha val="63921"/>
              </a:srgbClr>
            </a:outerShdw>
          </a:effectLst>
        </p:spPr>
      </p:pic>
    </p:spTree>
    <p:extLst>
      <p:ext uri="{BB962C8B-B14F-4D97-AF65-F5344CB8AC3E}">
        <p14:creationId xmlns:p14="http://schemas.microsoft.com/office/powerpoint/2010/main" val="4310361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5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TLS/SSL</a:t>
            </a:r>
            <a:endParaRPr/>
          </a:p>
        </p:txBody>
      </p:sp>
      <p:sp>
        <p:nvSpPr>
          <p:cNvPr id="638" name="Google Shape;638;p57"/>
          <p:cNvSpPr txBox="1">
            <a:spLocks noGrp="1"/>
          </p:cNvSpPr>
          <p:nvPr>
            <p:ph type="body" idx="1"/>
          </p:nvPr>
        </p:nvSpPr>
        <p:spPr>
          <a:xfrm>
            <a:off x="1203158" y="1825699"/>
            <a:ext cx="10058400" cy="4023360"/>
          </a:xfrm>
          <a:prstGeom prst="rect">
            <a:avLst/>
          </a:prstGeom>
          <a:noFill/>
          <a:ln>
            <a:noFill/>
          </a:ln>
        </p:spPr>
        <p:txBody>
          <a:bodyPr spcFirstLastPara="1" wrap="square" lIns="0" tIns="45700" rIns="0" bIns="45700" anchor="t" anchorCtr="0">
            <a:noAutofit/>
          </a:bodyPr>
          <a:lstStyle/>
          <a:p>
            <a:pPr marL="0" lvl="0" indent="0" algn="l" rtl="0">
              <a:lnSpc>
                <a:spcPct val="150000"/>
              </a:lnSpc>
              <a:spcBef>
                <a:spcPts val="0"/>
              </a:spcBef>
              <a:spcAft>
                <a:spcPts val="0"/>
              </a:spcAft>
              <a:buSzPts val="2000"/>
              <a:buNone/>
            </a:pPr>
            <a:r>
              <a:rPr lang="en-US" u="sng" dirty="0">
                <a:solidFill>
                  <a:schemeClr val="tx1"/>
                </a:solidFill>
              </a:rPr>
              <a:t>TSL/SSL</a:t>
            </a:r>
            <a:r>
              <a:rPr lang="en-US" dirty="0">
                <a:solidFill>
                  <a:schemeClr val="tx1"/>
                </a:solidFill>
              </a:rPr>
              <a:t>: Transport Layer Security/Secure Sockets Layer</a:t>
            </a:r>
          </a:p>
          <a:p>
            <a:pPr marL="800100" lvl="1">
              <a:lnSpc>
                <a:spcPct val="150000"/>
              </a:lnSpc>
              <a:spcBef>
                <a:spcPts val="0"/>
              </a:spcBef>
              <a:buClrTx/>
              <a:buSzPct val="100000"/>
              <a:buFont typeface="Arial" panose="020B0604020202020204" pitchFamily="34" charset="0"/>
              <a:buChar char="•"/>
            </a:pPr>
            <a:r>
              <a:rPr lang="en-US" dirty="0"/>
              <a:t>1995: Netscape introduced SSL 2.0</a:t>
            </a:r>
            <a:endParaRPr dirty="0"/>
          </a:p>
          <a:p>
            <a:pPr marL="0" lvl="0" indent="0" algn="l" rtl="0">
              <a:lnSpc>
                <a:spcPct val="150000"/>
              </a:lnSpc>
              <a:spcBef>
                <a:spcPts val="200"/>
              </a:spcBef>
              <a:spcAft>
                <a:spcPts val="0"/>
              </a:spcAft>
              <a:buSzPts val="2000"/>
              <a:buNone/>
            </a:pPr>
            <a:r>
              <a:rPr lang="en-US" dirty="0"/>
              <a:t>Prevents</a:t>
            </a:r>
          </a:p>
          <a:p>
            <a:pPr marL="800100" lvl="1">
              <a:lnSpc>
                <a:spcPct val="150000"/>
              </a:lnSpc>
              <a:buClrTx/>
              <a:buSzPct val="100000"/>
              <a:buFont typeface="Arial" panose="020B0604020202020204" pitchFamily="34" charset="0"/>
              <a:buChar char="•"/>
            </a:pPr>
            <a:r>
              <a:rPr lang="en-US" dirty="0"/>
              <a:t>Eavesdropping</a:t>
            </a:r>
          </a:p>
          <a:p>
            <a:pPr marL="800100" lvl="1">
              <a:lnSpc>
                <a:spcPct val="150000"/>
              </a:lnSpc>
              <a:buClrTx/>
              <a:buSzPct val="100000"/>
              <a:buFont typeface="Arial" panose="020B0604020202020204" pitchFamily="34" charset="0"/>
              <a:buChar char="•"/>
            </a:pPr>
            <a:r>
              <a:rPr lang="en-US" dirty="0"/>
              <a:t>Tampering</a:t>
            </a:r>
            <a:endParaRPr dirty="0"/>
          </a:p>
          <a:p>
            <a:pPr marL="0" lvl="0" indent="0" algn="l" rtl="0">
              <a:lnSpc>
                <a:spcPct val="150000"/>
              </a:lnSpc>
              <a:spcBef>
                <a:spcPts val="200"/>
              </a:spcBef>
              <a:spcAft>
                <a:spcPts val="0"/>
              </a:spcAft>
              <a:buSzPts val="2000"/>
              <a:buNone/>
            </a:pPr>
            <a:r>
              <a:rPr lang="en-US" dirty="0"/>
              <a:t>State of SSL over time</a:t>
            </a:r>
          </a:p>
          <a:p>
            <a:pPr marL="800100" lvl="1">
              <a:lnSpc>
                <a:spcPct val="150000"/>
              </a:lnSpc>
              <a:buClrTx/>
              <a:buSzPct val="100000"/>
              <a:buFont typeface="Arial" panose="020B0604020202020204" pitchFamily="34" charset="0"/>
              <a:buChar char="•"/>
            </a:pPr>
            <a:r>
              <a:rPr lang="en-US" dirty="0"/>
              <a:t>1996: SSL 3.0, complete redesign on SSL 2.0</a:t>
            </a:r>
          </a:p>
          <a:p>
            <a:pPr marL="800100" lvl="1">
              <a:lnSpc>
                <a:spcPct val="150000"/>
              </a:lnSpc>
              <a:buClrTx/>
              <a:buSzPct val="100000"/>
              <a:buFont typeface="Arial" panose="020B0604020202020204" pitchFamily="34" charset="0"/>
              <a:buChar char="•"/>
            </a:pPr>
            <a:r>
              <a:rPr lang="en-US" dirty="0"/>
              <a:t>1999: TLS 1.0, not compatible with SSL</a:t>
            </a:r>
          </a:p>
          <a:p>
            <a:pPr marL="800100" lvl="1">
              <a:lnSpc>
                <a:spcPct val="150000"/>
              </a:lnSpc>
              <a:buClrTx/>
              <a:buSzPct val="100000"/>
              <a:buFont typeface="Arial" panose="020B0604020202020204" pitchFamily="34" charset="0"/>
              <a:buChar char="•"/>
            </a:pPr>
            <a:r>
              <a:rPr lang="en-US" dirty="0"/>
              <a:t>2018: TLS 1.3, improved flexibility, mandates stronger cryptographic hash functions</a:t>
            </a:r>
            <a:endParaRPr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5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HTTPS</a:t>
            </a:r>
            <a:endParaRPr/>
          </a:p>
        </p:txBody>
      </p:sp>
      <p:sp>
        <p:nvSpPr>
          <p:cNvPr id="644" name="Google Shape;644;p58"/>
          <p:cNvSpPr txBox="1">
            <a:spLocks noGrp="1"/>
          </p:cNvSpPr>
          <p:nvPr>
            <p:ph type="body" idx="1"/>
          </p:nvPr>
        </p:nvSpPr>
        <p:spPr>
          <a:xfrm>
            <a:off x="1241659" y="1900989"/>
            <a:ext cx="9914021" cy="4023360"/>
          </a:xfrm>
          <a:prstGeom prst="rect">
            <a:avLst/>
          </a:prstGeom>
          <a:noFill/>
          <a:ln>
            <a:noFill/>
          </a:ln>
        </p:spPr>
        <p:txBody>
          <a:bodyPr spcFirstLastPara="1" wrap="square" lIns="0" tIns="45700" rIns="0" bIns="45700" anchor="t" anchorCtr="0">
            <a:noAutofit/>
          </a:bodyPr>
          <a:lstStyle/>
          <a:p>
            <a:pPr marL="0" lvl="0" indent="0" algn="l" rtl="0">
              <a:lnSpc>
                <a:spcPct val="150000"/>
              </a:lnSpc>
              <a:spcBef>
                <a:spcPts val="0"/>
              </a:spcBef>
              <a:spcAft>
                <a:spcPts val="0"/>
              </a:spcAft>
              <a:buSzPts val="2000"/>
              <a:buNone/>
            </a:pPr>
            <a:r>
              <a:rPr lang="en-US" u="sng" dirty="0">
                <a:solidFill>
                  <a:schemeClr val="tx1"/>
                </a:solidFill>
              </a:rPr>
              <a:t>HTTPS</a:t>
            </a:r>
            <a:r>
              <a:rPr lang="en-US" dirty="0">
                <a:solidFill>
                  <a:schemeClr val="tx1"/>
                </a:solidFill>
              </a:rPr>
              <a:t>: HTTP Secure</a:t>
            </a:r>
            <a:endParaRPr dirty="0">
              <a:solidFill>
                <a:schemeClr val="tx1"/>
              </a:solidFill>
            </a:endParaRPr>
          </a:p>
          <a:p>
            <a:pPr marL="0" lvl="0" indent="0" algn="l" rtl="0">
              <a:lnSpc>
                <a:spcPct val="100000"/>
              </a:lnSpc>
              <a:spcBef>
                <a:spcPts val="200"/>
              </a:spcBef>
              <a:spcAft>
                <a:spcPts val="0"/>
              </a:spcAft>
              <a:buSzPts val="2000"/>
              <a:buNone/>
            </a:pPr>
            <a:endParaRPr lang="en-US" dirty="0"/>
          </a:p>
          <a:p>
            <a:pPr marL="342900">
              <a:lnSpc>
                <a:spcPct val="100000"/>
              </a:lnSpc>
              <a:spcBef>
                <a:spcPts val="200"/>
              </a:spcBef>
              <a:buClrTx/>
              <a:buSzPts val="2000"/>
              <a:buFont typeface="Arial" panose="020B0604020202020204" pitchFamily="34" charset="0"/>
              <a:buChar char="•"/>
            </a:pPr>
            <a:r>
              <a:rPr lang="en-US" dirty="0"/>
              <a:t>Website data encrypted either with SSL or TLS (current)</a:t>
            </a:r>
          </a:p>
          <a:p>
            <a:pPr marL="342900">
              <a:lnSpc>
                <a:spcPct val="100000"/>
              </a:lnSpc>
              <a:spcBef>
                <a:spcPts val="200"/>
              </a:spcBef>
              <a:buClrTx/>
              <a:buSzPts val="2000"/>
              <a:buFont typeface="Arial" panose="020B0604020202020204" pitchFamily="34" charset="0"/>
              <a:buChar char="•"/>
            </a:pPr>
            <a:endParaRPr lang="en-US" dirty="0"/>
          </a:p>
          <a:p>
            <a:pPr marL="342900">
              <a:lnSpc>
                <a:spcPct val="100000"/>
              </a:lnSpc>
              <a:spcBef>
                <a:spcPts val="200"/>
              </a:spcBef>
              <a:buClrTx/>
              <a:buSzPts val="2000"/>
              <a:buFont typeface="Arial" panose="020B0604020202020204" pitchFamily="34" charset="0"/>
              <a:buChar char="•"/>
            </a:pPr>
            <a:r>
              <a:rPr lang="en-US" dirty="0"/>
              <a:t>Both TLS and SSL protocols use 'asymmetric' Public Key Infrastructure (PKI) system</a:t>
            </a:r>
          </a:p>
          <a:p>
            <a:pPr marL="342900">
              <a:lnSpc>
                <a:spcPct val="100000"/>
              </a:lnSpc>
              <a:spcBef>
                <a:spcPts val="200"/>
              </a:spcBef>
              <a:buClrTx/>
              <a:buSzPts val="2000"/>
              <a:buFont typeface="Arial" panose="020B0604020202020204" pitchFamily="34" charset="0"/>
              <a:buChar char="•"/>
            </a:pPr>
            <a:endParaRPr lang="en-US" dirty="0"/>
          </a:p>
          <a:p>
            <a:pPr marL="342900">
              <a:lnSpc>
                <a:spcPct val="100000"/>
              </a:lnSpc>
              <a:spcBef>
                <a:spcPts val="200"/>
              </a:spcBef>
              <a:buClrTx/>
              <a:buSzPts val="2000"/>
              <a:buFont typeface="Arial" panose="020B0604020202020204" pitchFamily="34" charset="0"/>
              <a:buChar char="•"/>
            </a:pPr>
            <a:r>
              <a:rPr lang="en-US" dirty="0"/>
              <a:t>An asymmetric system uses two 'keys' to encrypt communications (public, private)</a:t>
            </a:r>
          </a:p>
          <a:p>
            <a:pPr marL="342900">
              <a:lnSpc>
                <a:spcPct val="100000"/>
              </a:lnSpc>
              <a:spcBef>
                <a:spcPts val="200"/>
              </a:spcBef>
              <a:buClrTx/>
              <a:buSzPts val="2000"/>
              <a:buFont typeface="Arial" panose="020B0604020202020204" pitchFamily="34" charset="0"/>
              <a:buChar char="•"/>
            </a:pPr>
            <a:endParaRPr lang="en-US" dirty="0"/>
          </a:p>
          <a:p>
            <a:pPr marL="342900">
              <a:lnSpc>
                <a:spcPct val="100000"/>
              </a:lnSpc>
              <a:spcBef>
                <a:spcPts val="200"/>
              </a:spcBef>
              <a:buClrTx/>
              <a:buSzPts val="2000"/>
              <a:buFont typeface="Arial" panose="020B0604020202020204" pitchFamily="34" charset="0"/>
              <a:buChar char="•"/>
            </a:pPr>
            <a:r>
              <a:rPr lang="en-US" dirty="0"/>
              <a:t>Anything encrypted with the public key can only be decrypted by the private key and vice-versa</a:t>
            </a:r>
            <a:endParaRPr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5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dirty="0"/>
              <a:t>How does HTTPS work?</a:t>
            </a:r>
            <a:endParaRPr dirty="0"/>
          </a:p>
        </p:txBody>
      </p:sp>
      <p:sp>
        <p:nvSpPr>
          <p:cNvPr id="650" name="Google Shape;650;p59"/>
          <p:cNvSpPr txBox="1">
            <a:spLocks noGrp="1"/>
          </p:cNvSpPr>
          <p:nvPr>
            <p:ph type="body" idx="1"/>
          </p:nvPr>
        </p:nvSpPr>
        <p:spPr>
          <a:xfrm>
            <a:off x="1232034" y="1891364"/>
            <a:ext cx="10058400" cy="3383281"/>
          </a:xfrm>
          <a:prstGeom prst="rect">
            <a:avLst/>
          </a:prstGeom>
          <a:noFill/>
          <a:ln>
            <a:noFill/>
          </a:ln>
        </p:spPr>
        <p:txBody>
          <a:bodyPr spcFirstLastPara="1" wrap="square" lIns="0" tIns="45700" rIns="0" bIns="45700" anchor="t" anchorCtr="0">
            <a:noAutofit/>
          </a:bodyPr>
          <a:lstStyle/>
          <a:p>
            <a:pPr lvl="0" indent="-457200" algn="l" rtl="0">
              <a:lnSpc>
                <a:spcPct val="100000"/>
              </a:lnSpc>
              <a:spcBef>
                <a:spcPts val="0"/>
              </a:spcBef>
              <a:spcAft>
                <a:spcPts val="0"/>
              </a:spcAft>
              <a:buClrTx/>
              <a:buSzPts val="2000"/>
              <a:buFont typeface="+mj-lt"/>
              <a:buAutoNum type="arabicPeriod"/>
            </a:pPr>
            <a:r>
              <a:rPr lang="en-US" dirty="0"/>
              <a:t>Upon making a HTTPS connection, website sends its SSL certificate to the browser (you)</a:t>
            </a:r>
          </a:p>
          <a:p>
            <a:pPr marL="800100" lvl="1">
              <a:lnSpc>
                <a:spcPct val="100000"/>
              </a:lnSpc>
              <a:spcBef>
                <a:spcPts val="0"/>
              </a:spcBef>
              <a:buClrTx/>
              <a:buSzPct val="100000"/>
              <a:buFont typeface="Arial" panose="020B0604020202020204" pitchFamily="34" charset="0"/>
              <a:buChar char="•"/>
            </a:pPr>
            <a:r>
              <a:rPr lang="en-US" dirty="0"/>
              <a:t>Certificate contains the public key needed to begin the secure session </a:t>
            </a:r>
          </a:p>
          <a:p>
            <a:pPr marL="800100" lvl="1">
              <a:lnSpc>
                <a:spcPct val="100000"/>
              </a:lnSpc>
              <a:spcBef>
                <a:spcPts val="0"/>
              </a:spcBef>
              <a:buClrTx/>
              <a:buSzPct val="100000"/>
              <a:buFont typeface="Arial" panose="020B0604020202020204" pitchFamily="34" charset="0"/>
              <a:buChar char="•"/>
            </a:pPr>
            <a:endParaRPr lang="en-US" dirty="0"/>
          </a:p>
          <a:p>
            <a:pPr indent="-457200">
              <a:lnSpc>
                <a:spcPct val="100000"/>
              </a:lnSpc>
              <a:spcBef>
                <a:spcPts val="0"/>
              </a:spcBef>
              <a:buClrTx/>
              <a:buSzPct val="100000"/>
              <a:buFont typeface="+mj-lt"/>
              <a:buAutoNum type="arabicPeriod"/>
            </a:pPr>
            <a:r>
              <a:rPr lang="en-US" dirty="0"/>
              <a:t>The browser and website then initiates the </a:t>
            </a:r>
            <a:r>
              <a:rPr lang="en-US" b="1" dirty="0"/>
              <a:t>SSL handshake</a:t>
            </a:r>
          </a:p>
          <a:p>
            <a:pPr lvl="1" indent="-457200">
              <a:lnSpc>
                <a:spcPct val="100000"/>
              </a:lnSpc>
              <a:buClrTx/>
              <a:buSzPct val="100000"/>
              <a:buFont typeface="Arial" panose="020B0604020202020204" pitchFamily="34" charset="0"/>
              <a:buChar char="•"/>
            </a:pPr>
            <a:r>
              <a:rPr lang="en-US" dirty="0"/>
              <a:t>Involves generation of shared secrets to establish a uniquely secure connection</a:t>
            </a:r>
          </a:p>
          <a:p>
            <a:pPr indent="-457200">
              <a:lnSpc>
                <a:spcPct val="100000"/>
              </a:lnSpc>
              <a:buClrTx/>
              <a:buSzPct val="100000"/>
              <a:buFont typeface="+mj-lt"/>
              <a:buAutoNum type="arabicPeriod"/>
            </a:pPr>
            <a:r>
              <a:rPr lang="en-US" dirty="0"/>
              <a:t>When a trusted SSL Digital Certificate is used during a HTTPS connection, users will see a padlock icon in the browser address bar </a:t>
            </a:r>
            <a:endParaRPr dirty="0"/>
          </a:p>
          <a:p>
            <a:pPr marL="800100" lvl="1">
              <a:lnSpc>
                <a:spcPct val="100000"/>
              </a:lnSpc>
              <a:spcAft>
                <a:spcPts val="200"/>
              </a:spcAft>
              <a:buClrTx/>
              <a:buSzPct val="100000"/>
              <a:buFont typeface="Arial" panose="020B0604020202020204" pitchFamily="34" charset="0"/>
              <a:buChar char="•"/>
            </a:pPr>
            <a:r>
              <a:rPr lang="en-US" dirty="0"/>
              <a:t>When an Extended Validation Certificate is installed on a website, the address bar will turn green</a:t>
            </a:r>
            <a:endParaRPr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60"/>
          <p:cNvSpPr txBox="1">
            <a:spLocks noGrp="1"/>
          </p:cNvSpPr>
          <p:nvPr>
            <p:ph type="title"/>
          </p:nvPr>
        </p:nvSpPr>
        <p:spPr>
          <a:xfrm>
            <a:off x="1097280" y="283697"/>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HTTPS Benefits</a:t>
            </a:r>
            <a:endParaRPr/>
          </a:p>
        </p:txBody>
      </p:sp>
      <p:sp>
        <p:nvSpPr>
          <p:cNvPr id="657" name="Google Shape;657;p60"/>
          <p:cNvSpPr txBox="1">
            <a:spLocks noGrp="1"/>
          </p:cNvSpPr>
          <p:nvPr>
            <p:ph type="body" idx="1"/>
          </p:nvPr>
        </p:nvSpPr>
        <p:spPr>
          <a:xfrm>
            <a:off x="1222408" y="1734454"/>
            <a:ext cx="10058400" cy="4023360"/>
          </a:xfrm>
          <a:prstGeom prst="rect">
            <a:avLst/>
          </a:prstGeom>
          <a:noFill/>
          <a:ln>
            <a:noFill/>
          </a:ln>
        </p:spPr>
        <p:txBody>
          <a:bodyPr spcFirstLastPara="1" wrap="square" lIns="0" tIns="45700" rIns="0" bIns="45700" anchor="t" anchorCtr="0">
            <a:noAutofit/>
          </a:bodyPr>
          <a:lstStyle/>
          <a:p>
            <a:pPr marL="0" lvl="0" indent="0" algn="l" rtl="0">
              <a:lnSpc>
                <a:spcPct val="150000"/>
              </a:lnSpc>
              <a:spcBef>
                <a:spcPts val="0"/>
              </a:spcBef>
              <a:spcAft>
                <a:spcPts val="0"/>
              </a:spcAft>
              <a:buSzPts val="2000"/>
              <a:buNone/>
            </a:pPr>
            <a:r>
              <a:rPr lang="en-US" dirty="0"/>
              <a:t>Communications are encrypted</a:t>
            </a:r>
            <a:endParaRPr dirty="0"/>
          </a:p>
          <a:p>
            <a:pPr marL="800100" lvl="1">
              <a:lnSpc>
                <a:spcPct val="150000"/>
              </a:lnSpc>
              <a:buClrTx/>
              <a:buSzPct val="100000"/>
              <a:buFont typeface="Arial" panose="020B0604020202020204" pitchFamily="34" charset="0"/>
              <a:buChar char="•"/>
            </a:pPr>
            <a:r>
              <a:rPr lang="en-US" dirty="0"/>
              <a:t>Data transferred no longer in plain text, only website and you are aware of the contents</a:t>
            </a:r>
          </a:p>
          <a:p>
            <a:pPr marL="800100" lvl="1">
              <a:lnSpc>
                <a:spcPct val="150000"/>
              </a:lnSpc>
              <a:buClrTx/>
              <a:buSzPct val="100000"/>
              <a:buFont typeface="Arial" panose="020B0604020202020204" pitchFamily="34" charset="0"/>
              <a:buChar char="•"/>
            </a:pPr>
            <a:r>
              <a:rPr lang="en-US" dirty="0"/>
              <a:t>Protects highly confidential online transactions (online banking, online shopping, etc.)</a:t>
            </a:r>
          </a:p>
          <a:p>
            <a:pPr marL="800100" lvl="1">
              <a:lnSpc>
                <a:spcPct val="150000"/>
              </a:lnSpc>
              <a:buClrTx/>
              <a:buSzPct val="100000"/>
              <a:buFont typeface="Arial" panose="020B0604020202020204" pitchFamily="34" charset="0"/>
              <a:buChar char="•"/>
            </a:pPr>
            <a:r>
              <a:rPr lang="en-US" dirty="0"/>
              <a:t>Browsers will display padlock icon in the address bar to indicate the connection is either fully or partially secured</a:t>
            </a:r>
          </a:p>
          <a:p>
            <a:pPr marL="800100" lvl="1">
              <a:lnSpc>
                <a:spcPct val="150000"/>
              </a:lnSpc>
              <a:buClrTx/>
              <a:buSzPct val="100000"/>
              <a:buFont typeface="Arial" panose="020B0604020202020204" pitchFamily="34" charset="0"/>
              <a:buChar char="•"/>
            </a:pPr>
            <a:r>
              <a:rPr lang="en-US" sz="2000" dirty="0"/>
              <a:t>Users trust secured website connections more than unsecured ones</a:t>
            </a:r>
            <a:endParaRPr sz="2000" dirty="0"/>
          </a:p>
        </p:txBody>
      </p:sp>
      <p:pic>
        <p:nvPicPr>
          <p:cNvPr id="658" name="Google Shape;658;p60" descr="A screenshot of a cell phone&#10;&#10;Description automatically generated"/>
          <p:cNvPicPr preferRelativeResize="0"/>
          <p:nvPr/>
        </p:nvPicPr>
        <p:blipFill rotWithShape="1">
          <a:blip r:embed="rId3">
            <a:alphaModFix/>
          </a:blip>
          <a:srcRect l="32032" r="16093"/>
          <a:stretch/>
        </p:blipFill>
        <p:spPr>
          <a:xfrm>
            <a:off x="4422808" y="4824453"/>
            <a:ext cx="3657600" cy="651896"/>
          </a:xfrm>
          <a:prstGeom prst="rect">
            <a:avLst/>
          </a:prstGeom>
          <a:noFill/>
          <a:ln w="19050" cap="flat" cmpd="sng">
            <a:solidFill>
              <a:schemeClr val="dk1"/>
            </a:solidFill>
            <a:prstDash val="solid"/>
            <a:round/>
            <a:headEnd type="none" w="sm" len="sm"/>
            <a:tailEnd type="none" w="sm" len="sm"/>
          </a:ln>
        </p:spPr>
      </p:pic>
      <p:pic>
        <p:nvPicPr>
          <p:cNvPr id="659" name="Google Shape;659;p60"/>
          <p:cNvPicPr preferRelativeResize="0"/>
          <p:nvPr/>
        </p:nvPicPr>
        <p:blipFill rotWithShape="1">
          <a:blip r:embed="rId4">
            <a:alphaModFix/>
          </a:blip>
          <a:srcRect b="50676"/>
          <a:stretch/>
        </p:blipFill>
        <p:spPr>
          <a:xfrm>
            <a:off x="609600" y="4590600"/>
            <a:ext cx="3657600" cy="1330917"/>
          </a:xfrm>
          <a:prstGeom prst="rect">
            <a:avLst/>
          </a:prstGeom>
          <a:noFill/>
          <a:ln w="19050" cap="flat" cmpd="sng">
            <a:solidFill>
              <a:schemeClr val="dk1"/>
            </a:solidFill>
            <a:prstDash val="solid"/>
            <a:round/>
            <a:headEnd type="none" w="sm" len="sm"/>
            <a:tailEnd type="none" w="sm" len="sm"/>
          </a:ln>
        </p:spPr>
      </p:pic>
      <p:pic>
        <p:nvPicPr>
          <p:cNvPr id="660" name="Google Shape;660;p60"/>
          <p:cNvPicPr preferRelativeResize="0"/>
          <p:nvPr/>
        </p:nvPicPr>
        <p:blipFill rotWithShape="1">
          <a:blip r:embed="rId5">
            <a:alphaModFix/>
          </a:blip>
          <a:srcRect l="35585" r="16818"/>
          <a:stretch/>
        </p:blipFill>
        <p:spPr>
          <a:xfrm>
            <a:off x="8236016" y="4823871"/>
            <a:ext cx="3657600" cy="700179"/>
          </a:xfrm>
          <a:prstGeom prst="rect">
            <a:avLst/>
          </a:prstGeom>
          <a:noFill/>
          <a:ln w="19050" cap="flat" cmpd="sng">
            <a:solidFill>
              <a:schemeClr val="dk1"/>
            </a:solidFill>
            <a:prstDash val="solid"/>
            <a:round/>
            <a:headEnd type="none" w="sm" len="sm"/>
            <a:tailEnd type="none" w="sm" len="sm"/>
          </a:ln>
        </p:spPr>
      </p:pic>
      <p:pic>
        <p:nvPicPr>
          <p:cNvPr id="661" name="Google Shape;661;p60"/>
          <p:cNvPicPr preferRelativeResize="0"/>
          <p:nvPr/>
        </p:nvPicPr>
        <p:blipFill rotWithShape="1">
          <a:blip r:embed="rId6">
            <a:alphaModFix/>
          </a:blip>
          <a:srcRect/>
          <a:stretch/>
        </p:blipFill>
        <p:spPr>
          <a:xfrm>
            <a:off x="8467725" y="602867"/>
            <a:ext cx="2381704" cy="1333754"/>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pic>
        <p:nvPicPr>
          <p:cNvPr id="666" name="Google Shape;666;p61" descr="HTTP Vs HTTPS"/>
          <p:cNvPicPr preferRelativeResize="0"/>
          <p:nvPr/>
        </p:nvPicPr>
        <p:blipFill rotWithShape="1">
          <a:blip r:embed="rId3">
            <a:alphaModFix/>
          </a:blip>
          <a:srcRect/>
          <a:stretch/>
        </p:blipFill>
        <p:spPr>
          <a:xfrm>
            <a:off x="3480312" y="919971"/>
            <a:ext cx="5231376" cy="5018059"/>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6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HTTPS Certificate</a:t>
            </a:r>
            <a:endParaRPr/>
          </a:p>
        </p:txBody>
      </p:sp>
      <p:pic>
        <p:nvPicPr>
          <p:cNvPr id="672" name="Google Shape;672;p62" descr="HTTPS Browsers"/>
          <p:cNvPicPr preferRelativeResize="0"/>
          <p:nvPr/>
        </p:nvPicPr>
        <p:blipFill rotWithShape="1">
          <a:blip r:embed="rId3">
            <a:alphaModFix/>
          </a:blip>
          <a:srcRect/>
          <a:stretch/>
        </p:blipFill>
        <p:spPr>
          <a:xfrm>
            <a:off x="3639973" y="1845735"/>
            <a:ext cx="4912057" cy="4386101"/>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3FF2B-22CA-4FFB-BDD8-1896338BAEAF}"/>
              </a:ext>
            </a:extLst>
          </p:cNvPr>
          <p:cNvSpPr>
            <a:spLocks noGrp="1"/>
          </p:cNvSpPr>
          <p:nvPr>
            <p:ph type="title"/>
          </p:nvPr>
        </p:nvSpPr>
        <p:spPr/>
        <p:txBody>
          <a:bodyPr/>
          <a:lstStyle/>
          <a:p>
            <a:r>
              <a:rPr lang="en-US" dirty="0"/>
              <a:t>HTTPS is a countermeasure for DNS Spoofing</a:t>
            </a:r>
            <a:endParaRPr lang="en-SG" dirty="0"/>
          </a:p>
        </p:txBody>
      </p:sp>
      <p:sp>
        <p:nvSpPr>
          <p:cNvPr id="3" name="Text Placeholder 2">
            <a:extLst>
              <a:ext uri="{FF2B5EF4-FFF2-40B4-BE49-F238E27FC236}">
                <a16:creationId xmlns:a16="http://schemas.microsoft.com/office/drawing/2014/main" id="{35F7E187-3779-43EB-B26A-12185DFE199E}"/>
              </a:ext>
            </a:extLst>
          </p:cNvPr>
          <p:cNvSpPr>
            <a:spLocks noGrp="1"/>
          </p:cNvSpPr>
          <p:nvPr>
            <p:ph type="body" idx="1"/>
          </p:nvPr>
        </p:nvSpPr>
        <p:spPr/>
        <p:txBody>
          <a:bodyPr/>
          <a:lstStyle/>
          <a:p>
            <a:pPr fontAlgn="base">
              <a:buClrTx/>
              <a:buSzPct val="100000"/>
              <a:buFont typeface="Arial" panose="020B0604020202020204" pitchFamily="34" charset="0"/>
              <a:buChar char="•"/>
            </a:pPr>
            <a:r>
              <a:rPr lang="en-US" dirty="0"/>
              <a:t>Attacks of this kind can be easily foiled by encryption</a:t>
            </a:r>
          </a:p>
          <a:p>
            <a:pPr lvl="1" fontAlgn="base">
              <a:buClrTx/>
              <a:buSzPct val="100000"/>
              <a:buFont typeface="Arial" panose="020B0604020202020204" pitchFamily="34" charset="0"/>
              <a:buChar char="•"/>
            </a:pPr>
            <a:r>
              <a:rPr lang="en-US" dirty="0"/>
              <a:t>Most popular websites and browsers use TLS/SSL to secure web traffic by default (HTTPS vs HTTP)</a:t>
            </a:r>
          </a:p>
          <a:p>
            <a:pPr lvl="1" fontAlgn="base">
              <a:buClrTx/>
              <a:buSzPct val="100000"/>
              <a:buFont typeface="Arial" panose="020B0604020202020204" pitchFamily="34" charset="0"/>
              <a:buChar char="•"/>
            </a:pPr>
            <a:r>
              <a:rPr lang="en-US" dirty="0"/>
              <a:t>Instead of redirecting to the hacker's IP, user will be presented with an error screen</a:t>
            </a:r>
          </a:p>
          <a:p>
            <a:pPr lvl="1" fontAlgn="base">
              <a:buClrTx/>
              <a:buSzPct val="100000"/>
              <a:buFont typeface="Arial" panose="020B0604020202020204" pitchFamily="34" charset="0"/>
              <a:buChar char="•"/>
            </a:pPr>
            <a:endParaRPr lang="en-US" dirty="0"/>
          </a:p>
          <a:p>
            <a:pPr fontAlgn="base">
              <a:buClrTx/>
              <a:buSzPct val="100000"/>
              <a:buFont typeface="Arial" panose="020B0604020202020204" pitchFamily="34" charset="0"/>
              <a:buChar char="•"/>
            </a:pPr>
            <a:r>
              <a:rPr lang="en-US" dirty="0"/>
              <a:t>However, this countermeasure leads to complications as the hacker can use it in Denial-of-Service (DoS) attacks.</a:t>
            </a:r>
          </a:p>
          <a:p>
            <a:pPr lvl="1" fontAlgn="base">
              <a:buClrTx/>
              <a:buSzPct val="100000"/>
              <a:buFont typeface="Arial" panose="020B0604020202020204" pitchFamily="34" charset="0"/>
              <a:buChar char="•"/>
            </a:pPr>
            <a:r>
              <a:rPr lang="en-US" dirty="0"/>
              <a:t>Users of the entire network can easily be blocked from a list of popular sites</a:t>
            </a:r>
          </a:p>
          <a:p>
            <a:pPr lvl="1" fontAlgn="base">
              <a:buClrTx/>
              <a:buSzPct val="100000"/>
              <a:buFont typeface="Arial" panose="020B0604020202020204" pitchFamily="34" charset="0"/>
              <a:buChar char="•"/>
            </a:pPr>
            <a:r>
              <a:rPr lang="en-US" dirty="0"/>
              <a:t>For example, by DNS spoofing </a:t>
            </a:r>
            <a:r>
              <a:rPr lang="en-US" i="1" dirty="0"/>
              <a:t>google.com</a:t>
            </a:r>
            <a:r>
              <a:rPr lang="en-US" dirty="0"/>
              <a:t>, users in the network would be unable to access to google search engine</a:t>
            </a:r>
          </a:p>
          <a:p>
            <a:endParaRPr lang="en-SG" dirty="0"/>
          </a:p>
        </p:txBody>
      </p:sp>
    </p:spTree>
    <p:extLst>
      <p:ext uri="{BB962C8B-B14F-4D97-AF65-F5344CB8AC3E}">
        <p14:creationId xmlns:p14="http://schemas.microsoft.com/office/powerpoint/2010/main" val="105802066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63"/>
          <p:cNvSpPr txBox="1"/>
          <p:nvPr/>
        </p:nvSpPr>
        <p:spPr>
          <a:xfrm>
            <a:off x="817567" y="898258"/>
            <a:ext cx="5459989" cy="900247"/>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Arial"/>
              <a:ea typeface="Arial"/>
              <a:cs typeface="Arial"/>
              <a:sym typeface="Arial"/>
            </a:endParaRPr>
          </a:p>
        </p:txBody>
      </p:sp>
      <p:sp>
        <p:nvSpPr>
          <p:cNvPr id="678" name="Google Shape;678;p6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What’s Covered So Far…</a:t>
            </a:r>
            <a:endParaRPr/>
          </a:p>
        </p:txBody>
      </p:sp>
      <p:sp>
        <p:nvSpPr>
          <p:cNvPr id="679" name="Google Shape;679;p63"/>
          <p:cNvSpPr txBox="1">
            <a:spLocks noGrp="1"/>
          </p:cNvSpPr>
          <p:nvPr>
            <p:ph type="body" idx="1"/>
          </p:nvPr>
        </p:nvSpPr>
        <p:spPr>
          <a:xfrm>
            <a:off x="1097280" y="1845735"/>
            <a:ext cx="10115203" cy="4114007"/>
          </a:xfrm>
          <a:prstGeom prst="rect">
            <a:avLst/>
          </a:prstGeom>
          <a:noFill/>
          <a:ln>
            <a:noFill/>
          </a:ln>
        </p:spPr>
        <p:txBody>
          <a:bodyPr spcFirstLastPara="1" wrap="square" lIns="0" tIns="45700" rIns="0" bIns="45700" anchor="t" anchorCtr="0">
            <a:noAutofit/>
          </a:bodyPr>
          <a:lstStyle/>
          <a:p>
            <a:pPr marL="91440" lvl="0" indent="-91440" algn="l" rtl="0">
              <a:lnSpc>
                <a:spcPct val="200000"/>
              </a:lnSpc>
              <a:spcBef>
                <a:spcPts val="0"/>
              </a:spcBef>
              <a:spcAft>
                <a:spcPts val="0"/>
              </a:spcAft>
              <a:buSzPts val="2000"/>
              <a:buFont typeface="Noto Sans Symbols"/>
              <a:buChar char="✔"/>
            </a:pPr>
            <a:r>
              <a:rPr lang="en-US"/>
              <a:t> TCP/IP &amp; HTTP</a:t>
            </a:r>
            <a:endParaRPr/>
          </a:p>
          <a:p>
            <a:pPr marL="91440" lvl="0" indent="-91440" algn="l" rtl="0">
              <a:lnSpc>
                <a:spcPct val="200000"/>
              </a:lnSpc>
              <a:spcBef>
                <a:spcPts val="200"/>
              </a:spcBef>
              <a:spcAft>
                <a:spcPts val="0"/>
              </a:spcAft>
              <a:buSzPts val="2000"/>
              <a:buFont typeface="Noto Sans Symbols"/>
              <a:buChar char="✔"/>
            </a:pPr>
            <a:r>
              <a:rPr lang="en-US"/>
              <a:t> HTTPS</a:t>
            </a:r>
            <a:endParaRPr/>
          </a:p>
          <a:p>
            <a:pPr marL="91440" lvl="0" indent="-91440" algn="l" rtl="0">
              <a:lnSpc>
                <a:spcPct val="200000"/>
              </a:lnSpc>
              <a:spcBef>
                <a:spcPts val="200"/>
              </a:spcBef>
              <a:spcAft>
                <a:spcPts val="0"/>
              </a:spcAft>
              <a:buSzPts val="2000"/>
              <a:buFont typeface="Noto Sans Symbols"/>
              <a:buChar char="✔"/>
            </a:pPr>
            <a:r>
              <a:rPr lang="en-US"/>
              <a:t> HTTPS Process</a:t>
            </a:r>
            <a:endParaRPr sz="2000"/>
          </a:p>
          <a:p>
            <a:pPr marL="91440" lvl="0" indent="-91440" algn="l" rtl="0">
              <a:lnSpc>
                <a:spcPct val="200000"/>
              </a:lnSpc>
              <a:spcBef>
                <a:spcPts val="200"/>
              </a:spcBef>
              <a:spcAft>
                <a:spcPts val="0"/>
              </a:spcAft>
              <a:buSzPts val="2000"/>
              <a:buFont typeface="Noto Sans Symbols"/>
              <a:buChar char="✔"/>
            </a:pPr>
            <a:r>
              <a:rPr lang="en-US"/>
              <a:t> HTTPS Benefits</a:t>
            </a:r>
            <a:endParaRPr/>
          </a:p>
          <a:p>
            <a:pPr marL="342891" lvl="0" indent="-190489" algn="l" rtl="0">
              <a:lnSpc>
                <a:spcPct val="150000"/>
              </a:lnSpc>
              <a:spcBef>
                <a:spcPts val="200"/>
              </a:spcBef>
              <a:spcAft>
                <a:spcPts val="0"/>
              </a:spcAft>
              <a:buSzPts val="2400"/>
              <a:buNone/>
            </a:pPr>
            <a:endParaRPr sz="2400"/>
          </a:p>
          <a:p>
            <a:pPr marL="342891" lvl="0" indent="0" algn="l" rtl="0">
              <a:lnSpc>
                <a:spcPct val="150000"/>
              </a:lnSpc>
              <a:spcBef>
                <a:spcPts val="200"/>
              </a:spcBef>
              <a:spcAft>
                <a:spcPts val="0"/>
              </a:spcAft>
              <a:buSzPts val="2400"/>
              <a:buNone/>
            </a:pPr>
            <a:endParaRPr sz="2400"/>
          </a:p>
          <a:p>
            <a:pPr marL="342891" lvl="0" indent="0" algn="l" rtl="0">
              <a:lnSpc>
                <a:spcPct val="150000"/>
              </a:lnSpc>
              <a:spcBef>
                <a:spcPts val="200"/>
              </a:spcBef>
              <a:spcAft>
                <a:spcPts val="0"/>
              </a:spcAft>
              <a:buSzPts val="2400"/>
              <a:buNone/>
            </a:pPr>
            <a:endParaRPr sz="2400"/>
          </a:p>
          <a:p>
            <a:pPr marL="342891" lvl="0" indent="0" algn="l" rtl="0">
              <a:lnSpc>
                <a:spcPct val="150000"/>
              </a:lnSpc>
              <a:spcBef>
                <a:spcPts val="200"/>
              </a:spcBef>
              <a:spcAft>
                <a:spcPts val="0"/>
              </a:spcAft>
              <a:buSzPts val="2400"/>
              <a:buNone/>
            </a:pPr>
            <a:endParaRPr sz="2400"/>
          </a:p>
          <a:p>
            <a:pPr marL="342891" lvl="0" indent="-190489" algn="l" rtl="0">
              <a:lnSpc>
                <a:spcPct val="150000"/>
              </a:lnSpc>
              <a:spcBef>
                <a:spcPts val="200"/>
              </a:spcBef>
              <a:spcAft>
                <a:spcPts val="0"/>
              </a:spcAft>
              <a:buSzPts val="2400"/>
              <a:buNone/>
            </a:pPr>
            <a:endParaRPr sz="2400"/>
          </a:p>
          <a:p>
            <a:pPr marL="342891" lvl="0" indent="0" algn="l" rtl="0">
              <a:lnSpc>
                <a:spcPct val="150000"/>
              </a:lnSpc>
              <a:spcBef>
                <a:spcPts val="200"/>
              </a:spcBef>
              <a:spcAft>
                <a:spcPts val="0"/>
              </a:spcAft>
              <a:buSzPts val="2200"/>
              <a:buNone/>
            </a:pPr>
            <a:endParaRPr sz="2200"/>
          </a:p>
          <a:p>
            <a:pPr marL="342891" lvl="0" indent="-190489" algn="l" rtl="0">
              <a:lnSpc>
                <a:spcPct val="150000"/>
              </a:lnSpc>
              <a:spcBef>
                <a:spcPts val="200"/>
              </a:spcBef>
              <a:spcAft>
                <a:spcPts val="200"/>
              </a:spcAft>
              <a:buSzPts val="2400"/>
              <a:buNone/>
            </a:pPr>
            <a:endParaRPr sz="2400"/>
          </a:p>
        </p:txBody>
      </p:sp>
    </p:spTree>
  </p:cSld>
  <p:clrMapOvr>
    <a:masterClrMapping/>
  </p:clrMapOvr>
  <p:transition spd="slow">
    <p:fade thruBlk="1"/>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5" name="Google Shape;685;p64"/>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200"/>
              </a:spcAft>
              <a:buSzPts val="2400"/>
              <a:buNone/>
            </a:pPr>
            <a:r>
              <a:rPr lang="en-US" dirty="0"/>
              <a:t> </a:t>
            </a:r>
            <a:endParaRPr dirty="0"/>
          </a:p>
        </p:txBody>
      </p:sp>
      <p:sp>
        <p:nvSpPr>
          <p:cNvPr id="7" name="Google Shape;625;p55">
            <a:extLst>
              <a:ext uri="{FF2B5EF4-FFF2-40B4-BE49-F238E27FC236}">
                <a16:creationId xmlns:a16="http://schemas.microsoft.com/office/drawing/2014/main" id="{191C20DE-D90C-48B8-BD05-BF5FB958D333}"/>
              </a:ext>
            </a:extLst>
          </p:cNvPr>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Autofit/>
          </a:bodyPr>
          <a:lstStyle/>
          <a:p>
            <a:pPr marL="0" lvl="0" indent="0" algn="ctr" rtl="0">
              <a:lnSpc>
                <a:spcPct val="85000"/>
              </a:lnSpc>
              <a:spcBef>
                <a:spcPts val="0"/>
              </a:spcBef>
              <a:spcAft>
                <a:spcPts val="0"/>
              </a:spcAft>
              <a:buClr>
                <a:srgbClr val="262626"/>
              </a:buClr>
              <a:buSzPts val="6600"/>
              <a:buFont typeface="Arial"/>
              <a:buNone/>
            </a:pPr>
            <a:r>
              <a:rPr lang="en-US" sz="6600" b="1" dirty="0"/>
              <a:t>Network Security</a:t>
            </a:r>
            <a:br>
              <a:rPr lang="en-US" sz="6600" b="1" dirty="0"/>
            </a:br>
            <a:r>
              <a:rPr lang="en-US" sz="6600" dirty="0"/>
              <a:t>VPN</a:t>
            </a:r>
            <a:endParaRPr sz="66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6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VPN</a:t>
            </a:r>
            <a:endParaRPr/>
          </a:p>
        </p:txBody>
      </p:sp>
      <p:sp>
        <p:nvSpPr>
          <p:cNvPr id="691" name="Google Shape;691;p65"/>
          <p:cNvSpPr txBox="1">
            <a:spLocks noGrp="1"/>
          </p:cNvSpPr>
          <p:nvPr>
            <p:ph type="body" idx="1"/>
          </p:nvPr>
        </p:nvSpPr>
        <p:spPr>
          <a:xfrm>
            <a:off x="1260910" y="1864985"/>
            <a:ext cx="10058400" cy="4023360"/>
          </a:xfrm>
          <a:prstGeom prst="rect">
            <a:avLst/>
          </a:prstGeom>
          <a:noFill/>
          <a:ln>
            <a:noFill/>
          </a:ln>
        </p:spPr>
        <p:txBody>
          <a:bodyPr spcFirstLastPara="1" wrap="square" lIns="0" tIns="45700" rIns="0" bIns="45700" anchor="t" anchorCtr="0">
            <a:noAutofit/>
          </a:bodyPr>
          <a:lstStyle/>
          <a:p>
            <a:pPr marL="0" lvl="0" indent="0" algn="l" rtl="0">
              <a:lnSpc>
                <a:spcPct val="100000"/>
              </a:lnSpc>
              <a:spcBef>
                <a:spcPts val="0"/>
              </a:spcBef>
              <a:spcAft>
                <a:spcPts val="0"/>
              </a:spcAft>
              <a:buSzPts val="2000"/>
              <a:buNone/>
            </a:pPr>
            <a:r>
              <a:rPr lang="en-US" dirty="0"/>
              <a:t>Provides a secure tunnel-like communication when traversing the Internet or, more generally, a network</a:t>
            </a:r>
          </a:p>
          <a:p>
            <a:pPr marL="0" lvl="0" indent="0" algn="l" rtl="0">
              <a:lnSpc>
                <a:spcPct val="100000"/>
              </a:lnSpc>
              <a:spcBef>
                <a:spcPts val="0"/>
              </a:spcBef>
              <a:spcAft>
                <a:spcPts val="0"/>
              </a:spcAft>
              <a:buSzPts val="2000"/>
              <a:buNone/>
            </a:pPr>
            <a:endParaRPr dirty="0"/>
          </a:p>
          <a:p>
            <a:pPr marL="0" lvl="0" indent="0" algn="l" rtl="0">
              <a:lnSpc>
                <a:spcPct val="100000"/>
              </a:lnSpc>
              <a:spcBef>
                <a:spcPts val="200"/>
              </a:spcBef>
              <a:spcAft>
                <a:spcPts val="0"/>
              </a:spcAft>
              <a:buSzPts val="2000"/>
              <a:buNone/>
            </a:pPr>
            <a:r>
              <a:rPr lang="en-US" dirty="0"/>
              <a:t>Communication between endpoints are encrypted</a:t>
            </a:r>
          </a:p>
          <a:p>
            <a:pPr marL="0" lvl="0" indent="0" algn="l" rtl="0">
              <a:lnSpc>
                <a:spcPct val="100000"/>
              </a:lnSpc>
              <a:spcBef>
                <a:spcPts val="200"/>
              </a:spcBef>
              <a:spcAft>
                <a:spcPts val="0"/>
              </a:spcAft>
              <a:buSzPts val="2000"/>
              <a:buNone/>
            </a:pPr>
            <a:endParaRPr dirty="0"/>
          </a:p>
          <a:p>
            <a:pPr marL="0" lvl="0" indent="0" algn="l" rtl="0">
              <a:lnSpc>
                <a:spcPct val="100000"/>
              </a:lnSpc>
              <a:spcBef>
                <a:spcPts val="200"/>
              </a:spcBef>
              <a:spcAft>
                <a:spcPts val="0"/>
              </a:spcAft>
              <a:buSzPts val="2000"/>
              <a:buNone/>
            </a:pPr>
            <a:r>
              <a:rPr lang="en-US" dirty="0"/>
              <a:t>End-points are either host-device or network point (server, </a:t>
            </a:r>
            <a:r>
              <a:rPr lang="en-US" dirty="0" err="1"/>
              <a:t>etc</a:t>
            </a:r>
            <a:r>
              <a:rPr lang="en-US" dirty="0"/>
              <a:t>)</a:t>
            </a:r>
            <a:endParaRPr dirty="0"/>
          </a:p>
          <a:p>
            <a:pPr marL="0" lvl="0" indent="0" algn="l" rtl="0">
              <a:lnSpc>
                <a:spcPct val="100000"/>
              </a:lnSpc>
              <a:spcBef>
                <a:spcPts val="200"/>
              </a:spcBef>
              <a:spcAft>
                <a:spcPts val="0"/>
              </a:spcAft>
              <a:buSzPts val="2000"/>
              <a:buNone/>
            </a:pPr>
            <a:endParaRPr lang="en-US" dirty="0"/>
          </a:p>
          <a:p>
            <a:pPr marL="0" lvl="0" indent="0" algn="l" rtl="0">
              <a:lnSpc>
                <a:spcPct val="100000"/>
              </a:lnSpc>
              <a:spcBef>
                <a:spcPts val="200"/>
              </a:spcBef>
              <a:spcAft>
                <a:spcPts val="0"/>
              </a:spcAft>
              <a:buSzPts val="2000"/>
              <a:buNone/>
            </a:pPr>
            <a:r>
              <a:rPr lang="en-US" dirty="0"/>
              <a:t>Involves the following:</a:t>
            </a:r>
            <a:endParaRPr lang="en-US" sz="1800" dirty="0"/>
          </a:p>
          <a:p>
            <a:pPr marL="800100" lvl="1">
              <a:lnSpc>
                <a:spcPct val="100000"/>
              </a:lnSpc>
              <a:buClrTx/>
              <a:buSzPct val="100000"/>
              <a:buFont typeface="Arial" panose="020B0604020202020204" pitchFamily="34" charset="0"/>
              <a:buChar char="•"/>
            </a:pPr>
            <a:r>
              <a:rPr lang="en-US" dirty="0"/>
              <a:t>Special software and hardware (requester: client, listener: server)</a:t>
            </a:r>
          </a:p>
          <a:p>
            <a:pPr marL="800100" lvl="1">
              <a:lnSpc>
                <a:spcPct val="100000"/>
              </a:lnSpc>
              <a:buClrTx/>
              <a:buSzPct val="100000"/>
              <a:buFont typeface="Arial" panose="020B0604020202020204" pitchFamily="34" charset="0"/>
              <a:buChar char="•"/>
            </a:pPr>
            <a:r>
              <a:rPr lang="en-US" sz="2000" dirty="0"/>
              <a:t>(often) Authentication required between client and server</a:t>
            </a:r>
            <a:endParaRPr dirty="0"/>
          </a:p>
          <a:p>
            <a:pPr marL="0" lvl="0" indent="0" algn="l" rtl="0">
              <a:lnSpc>
                <a:spcPct val="100000"/>
              </a:lnSpc>
              <a:spcBef>
                <a:spcPts val="400"/>
              </a:spcBef>
              <a:spcAft>
                <a:spcPts val="200"/>
              </a:spcAft>
              <a:buSzPts val="2000"/>
              <a:buNone/>
            </a:pPr>
            <a:endParaRPr lang="en-US" dirty="0"/>
          </a:p>
          <a:p>
            <a:pPr marL="0" lvl="0" indent="0" algn="l" rtl="0">
              <a:lnSpc>
                <a:spcPct val="100000"/>
              </a:lnSpc>
              <a:spcBef>
                <a:spcPts val="400"/>
              </a:spcBef>
              <a:spcAft>
                <a:spcPts val="200"/>
              </a:spcAft>
              <a:buSzPts val="2000"/>
              <a:buNone/>
            </a:pPr>
            <a:r>
              <a:rPr lang="en-US" dirty="0"/>
              <a:t>End-points appear in the same subnet</a:t>
            </a:r>
            <a:endParaRPr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6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VPN</a:t>
            </a:r>
            <a:endParaRPr/>
          </a:p>
        </p:txBody>
      </p:sp>
      <p:sp>
        <p:nvSpPr>
          <p:cNvPr id="697" name="Google Shape;697;p66"/>
          <p:cNvSpPr txBox="1">
            <a:spLocks noGrp="1"/>
          </p:cNvSpPr>
          <p:nvPr>
            <p:ph type="body" idx="1"/>
          </p:nvPr>
        </p:nvSpPr>
        <p:spPr>
          <a:xfrm>
            <a:off x="1222409" y="1836109"/>
            <a:ext cx="10058400" cy="4023360"/>
          </a:xfrm>
          <a:prstGeom prst="rect">
            <a:avLst/>
          </a:prstGeom>
          <a:noFill/>
          <a:ln>
            <a:noFill/>
          </a:ln>
        </p:spPr>
        <p:txBody>
          <a:bodyPr spcFirstLastPara="1" wrap="square" lIns="0" tIns="45700" rIns="0" bIns="45700" anchor="t" anchorCtr="0">
            <a:noAutofit/>
          </a:bodyPr>
          <a:lstStyle/>
          <a:p>
            <a:pPr marL="0" lvl="0" indent="0" algn="l" rtl="0">
              <a:lnSpc>
                <a:spcPct val="150000"/>
              </a:lnSpc>
              <a:spcBef>
                <a:spcPts val="0"/>
              </a:spcBef>
              <a:spcAft>
                <a:spcPts val="0"/>
              </a:spcAft>
              <a:buSzPts val="2000"/>
              <a:buNone/>
            </a:pPr>
            <a:r>
              <a:rPr lang="en-US" sz="1800" dirty="0"/>
              <a:t>Possible Configurations</a:t>
            </a:r>
          </a:p>
          <a:p>
            <a:pPr lvl="1" indent="-457200">
              <a:lnSpc>
                <a:spcPct val="150000"/>
              </a:lnSpc>
              <a:spcBef>
                <a:spcPts val="0"/>
              </a:spcBef>
              <a:buClrTx/>
              <a:buSzPct val="100000"/>
              <a:buFont typeface="+mj-lt"/>
              <a:buAutoNum type="arabicPeriod"/>
            </a:pPr>
            <a:r>
              <a:rPr lang="en-US" dirty="0"/>
              <a:t>Host to Host (1 to 1)</a:t>
            </a:r>
          </a:p>
          <a:p>
            <a:pPr lvl="1" indent="-457200">
              <a:lnSpc>
                <a:spcPct val="150000"/>
              </a:lnSpc>
              <a:spcBef>
                <a:spcPts val="0"/>
              </a:spcBef>
              <a:buClrTx/>
              <a:buSzPct val="100000"/>
              <a:buFont typeface="+mj-lt"/>
              <a:buAutoNum type="arabicPeriod"/>
            </a:pPr>
            <a:r>
              <a:rPr lang="en-US" dirty="0"/>
              <a:t>Host-to-Network (1 to Many)</a:t>
            </a:r>
          </a:p>
          <a:p>
            <a:pPr lvl="1" indent="-457200">
              <a:lnSpc>
                <a:spcPct val="150000"/>
              </a:lnSpc>
              <a:spcBef>
                <a:spcPts val="0"/>
              </a:spcBef>
              <a:buClrTx/>
              <a:buSzPct val="100000"/>
              <a:buFont typeface="+mj-lt"/>
              <a:buAutoNum type="arabicPeriod"/>
            </a:pPr>
            <a:r>
              <a:rPr lang="en-US" dirty="0"/>
              <a:t>Network-to-Network (Many to Many)</a:t>
            </a:r>
            <a:endParaRPr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67"/>
          <p:cNvSpPr txBox="1">
            <a:spLocks noGrp="1"/>
          </p:cNvSpPr>
          <p:nvPr>
            <p:ph type="title"/>
          </p:nvPr>
        </p:nvSpPr>
        <p:spPr>
          <a:xfrm>
            <a:off x="704850" y="3146683"/>
            <a:ext cx="2628900" cy="56463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FFFFFF"/>
              </a:buClr>
              <a:buSzPts val="3600"/>
              <a:buFont typeface="Arial"/>
              <a:buNone/>
            </a:pPr>
            <a:r>
              <a:rPr lang="en-US"/>
              <a:t>Host to Host</a:t>
            </a:r>
            <a:endParaRPr/>
          </a:p>
        </p:txBody>
      </p:sp>
      <p:pic>
        <p:nvPicPr>
          <p:cNvPr id="703" name="Google Shape;703;p67"/>
          <p:cNvPicPr preferRelativeResize="0"/>
          <p:nvPr/>
        </p:nvPicPr>
        <p:blipFill rotWithShape="1">
          <a:blip r:embed="rId3">
            <a:alphaModFix/>
          </a:blip>
          <a:srcRect/>
          <a:stretch/>
        </p:blipFill>
        <p:spPr>
          <a:xfrm>
            <a:off x="4834924" y="1151946"/>
            <a:ext cx="7286576" cy="4554111"/>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8"/>
          <p:cNvSpPr txBox="1">
            <a:spLocks noGrp="1"/>
          </p:cNvSpPr>
          <p:nvPr>
            <p:ph type="title"/>
          </p:nvPr>
        </p:nvSpPr>
        <p:spPr>
          <a:xfrm>
            <a:off x="324971" y="3105614"/>
            <a:ext cx="3528330" cy="646771"/>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FFFFFF"/>
              </a:buClr>
              <a:buSzPts val="3600"/>
              <a:buFont typeface="Arial"/>
              <a:buNone/>
            </a:pPr>
            <a:r>
              <a:rPr lang="en-US"/>
              <a:t>Host to Network</a:t>
            </a:r>
            <a:endParaRPr/>
          </a:p>
        </p:txBody>
      </p:sp>
      <p:pic>
        <p:nvPicPr>
          <p:cNvPr id="709" name="Google Shape;709;p68"/>
          <p:cNvPicPr preferRelativeResize="0"/>
          <p:nvPr/>
        </p:nvPicPr>
        <p:blipFill rotWithShape="1">
          <a:blip r:embed="rId3">
            <a:alphaModFix/>
          </a:blip>
          <a:srcRect/>
          <a:stretch/>
        </p:blipFill>
        <p:spPr>
          <a:xfrm>
            <a:off x="3985530" y="781383"/>
            <a:ext cx="8206471" cy="5295236"/>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69"/>
          <p:cNvSpPr txBox="1">
            <a:spLocks noGrp="1"/>
          </p:cNvSpPr>
          <p:nvPr>
            <p:ph type="title"/>
          </p:nvPr>
        </p:nvSpPr>
        <p:spPr>
          <a:xfrm>
            <a:off x="60870" y="3110477"/>
            <a:ext cx="4152948" cy="64750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FFFFFF"/>
              </a:buClr>
              <a:buSzPts val="3400"/>
              <a:buFont typeface="Arial"/>
              <a:buNone/>
            </a:pPr>
            <a:r>
              <a:rPr lang="en-US" sz="3400"/>
              <a:t>Network to Network</a:t>
            </a:r>
            <a:endParaRPr sz="3400"/>
          </a:p>
        </p:txBody>
      </p:sp>
      <p:grpSp>
        <p:nvGrpSpPr>
          <p:cNvPr id="715" name="Google Shape;715;p69"/>
          <p:cNvGrpSpPr/>
          <p:nvPr/>
        </p:nvGrpSpPr>
        <p:grpSpPr>
          <a:xfrm>
            <a:off x="4402945" y="1250547"/>
            <a:ext cx="7769704" cy="4356907"/>
            <a:chOff x="2405179" y="849109"/>
            <a:chExt cx="7769703" cy="4356906"/>
          </a:xfrm>
        </p:grpSpPr>
        <p:sp>
          <p:nvSpPr>
            <p:cNvPr id="716" name="Google Shape;716;p69"/>
            <p:cNvSpPr txBox="1"/>
            <p:nvPr/>
          </p:nvSpPr>
          <p:spPr>
            <a:xfrm>
              <a:off x="5092877" y="849109"/>
              <a:ext cx="2534733"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70C0"/>
                  </a:solidFill>
                  <a:latin typeface="Arial"/>
                  <a:ea typeface="Arial"/>
                  <a:cs typeface="Arial"/>
                  <a:sym typeface="Arial"/>
                </a:rPr>
                <a:t>VPN Appliance/Gateway</a:t>
              </a:r>
              <a:endParaRPr sz="1800" b="0" i="0" u="none" strike="noStrike" cap="none">
                <a:solidFill>
                  <a:schemeClr val="dk1"/>
                </a:solidFill>
                <a:latin typeface="Arial"/>
                <a:ea typeface="Arial"/>
                <a:cs typeface="Arial"/>
                <a:sym typeface="Arial"/>
              </a:endParaRPr>
            </a:p>
          </p:txBody>
        </p:sp>
        <p:grpSp>
          <p:nvGrpSpPr>
            <p:cNvPr id="717" name="Google Shape;717;p69"/>
            <p:cNvGrpSpPr/>
            <p:nvPr/>
          </p:nvGrpSpPr>
          <p:grpSpPr>
            <a:xfrm>
              <a:off x="2405179" y="1170802"/>
              <a:ext cx="7769703" cy="4035213"/>
              <a:chOff x="2405179" y="1170802"/>
              <a:chExt cx="7769703" cy="4035213"/>
            </a:xfrm>
          </p:grpSpPr>
          <p:pic>
            <p:nvPicPr>
              <p:cNvPr id="718" name="Google Shape;718;p69"/>
              <p:cNvPicPr preferRelativeResize="0"/>
              <p:nvPr/>
            </p:nvPicPr>
            <p:blipFill rotWithShape="1">
              <a:blip r:embed="rId3">
                <a:alphaModFix/>
              </a:blip>
              <a:srcRect/>
              <a:stretch/>
            </p:blipFill>
            <p:spPr>
              <a:xfrm>
                <a:off x="3260552" y="1925900"/>
                <a:ext cx="590136" cy="836884"/>
              </a:xfrm>
              <a:prstGeom prst="rect">
                <a:avLst/>
              </a:prstGeom>
              <a:noFill/>
              <a:ln>
                <a:noFill/>
              </a:ln>
            </p:spPr>
          </p:pic>
          <p:pic>
            <p:nvPicPr>
              <p:cNvPr id="719" name="Google Shape;719;p69"/>
              <p:cNvPicPr preferRelativeResize="0"/>
              <p:nvPr/>
            </p:nvPicPr>
            <p:blipFill rotWithShape="1">
              <a:blip r:embed="rId4">
                <a:alphaModFix/>
              </a:blip>
              <a:srcRect/>
              <a:stretch/>
            </p:blipFill>
            <p:spPr>
              <a:xfrm flipH="1">
                <a:off x="5231767" y="2241127"/>
                <a:ext cx="714375" cy="644338"/>
              </a:xfrm>
              <a:prstGeom prst="rect">
                <a:avLst/>
              </a:prstGeom>
              <a:noFill/>
              <a:ln>
                <a:noFill/>
              </a:ln>
            </p:spPr>
          </p:pic>
          <p:sp>
            <p:nvSpPr>
              <p:cNvPr id="720" name="Google Shape;720;p69"/>
              <p:cNvSpPr txBox="1"/>
              <p:nvPr/>
            </p:nvSpPr>
            <p:spPr>
              <a:xfrm>
                <a:off x="4609231" y="1447801"/>
                <a:ext cx="2064096"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Arial"/>
                    <a:ea typeface="Arial"/>
                    <a:cs typeface="Arial"/>
                    <a:sym typeface="Arial"/>
                  </a:rPr>
                  <a:t>System </a:t>
                </a:r>
                <a:endParaRPr sz="1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Arial"/>
                    <a:ea typeface="Arial"/>
                    <a:cs typeface="Arial"/>
                    <a:sym typeface="Arial"/>
                  </a:rPr>
                  <a:t>Administrator’s </a:t>
                </a:r>
                <a:endParaRPr sz="18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Arial"/>
                    <a:ea typeface="Arial"/>
                    <a:cs typeface="Arial"/>
                    <a:sym typeface="Arial"/>
                  </a:rPr>
                  <a:t>Station</a:t>
                </a:r>
                <a:endParaRPr sz="1800" b="0" i="0" u="none" strike="noStrike" cap="none">
                  <a:solidFill>
                    <a:schemeClr val="dk1"/>
                  </a:solidFill>
                  <a:latin typeface="Arial"/>
                  <a:ea typeface="Arial"/>
                  <a:cs typeface="Arial"/>
                  <a:sym typeface="Arial"/>
                </a:endParaRPr>
              </a:p>
            </p:txBody>
          </p:sp>
          <p:cxnSp>
            <p:nvCxnSpPr>
              <p:cNvPr id="721" name="Google Shape;721;p69"/>
              <p:cNvCxnSpPr/>
              <p:nvPr/>
            </p:nvCxnSpPr>
            <p:spPr>
              <a:xfrm>
                <a:off x="5460874" y="2762399"/>
                <a:ext cx="0" cy="228600"/>
              </a:xfrm>
              <a:prstGeom prst="straightConnector1">
                <a:avLst/>
              </a:prstGeom>
              <a:noFill/>
              <a:ln w="12700" cap="flat" cmpd="sng">
                <a:solidFill>
                  <a:schemeClr val="accent1"/>
                </a:solidFill>
                <a:prstDash val="solid"/>
                <a:round/>
                <a:headEnd type="none" w="sm" len="sm"/>
                <a:tailEnd type="none" w="sm" len="sm"/>
              </a:ln>
            </p:spPr>
          </p:cxnSp>
          <p:cxnSp>
            <p:nvCxnSpPr>
              <p:cNvPr id="722" name="Google Shape;722;p69"/>
              <p:cNvCxnSpPr>
                <a:stCxn id="718" idx="2"/>
              </p:cNvCxnSpPr>
              <p:nvPr/>
            </p:nvCxnSpPr>
            <p:spPr>
              <a:xfrm>
                <a:off x="3555620" y="2762784"/>
                <a:ext cx="0" cy="246000"/>
              </a:xfrm>
              <a:prstGeom prst="straightConnector1">
                <a:avLst/>
              </a:prstGeom>
              <a:noFill/>
              <a:ln w="12700" cap="flat" cmpd="sng">
                <a:solidFill>
                  <a:schemeClr val="accent1"/>
                </a:solidFill>
                <a:prstDash val="solid"/>
                <a:round/>
                <a:headEnd type="none" w="sm" len="sm"/>
                <a:tailEnd type="none" w="sm" len="sm"/>
              </a:ln>
            </p:spPr>
          </p:cxnSp>
          <p:pic>
            <p:nvPicPr>
              <p:cNvPr id="723" name="Google Shape;723;p69" descr="http://www.jefforsburn.com/network/images/netcloud.png"/>
              <p:cNvPicPr preferRelativeResize="0"/>
              <p:nvPr/>
            </p:nvPicPr>
            <p:blipFill rotWithShape="1">
              <a:blip r:embed="rId5">
                <a:alphaModFix/>
              </a:blip>
              <a:srcRect/>
              <a:stretch/>
            </p:blipFill>
            <p:spPr>
              <a:xfrm>
                <a:off x="3073400" y="3377215"/>
                <a:ext cx="2438400" cy="1828800"/>
              </a:xfrm>
              <a:prstGeom prst="rect">
                <a:avLst/>
              </a:prstGeom>
              <a:noFill/>
              <a:ln>
                <a:noFill/>
              </a:ln>
            </p:spPr>
          </p:pic>
          <p:cxnSp>
            <p:nvCxnSpPr>
              <p:cNvPr id="724" name="Google Shape;724;p69"/>
              <p:cNvCxnSpPr/>
              <p:nvPr/>
            </p:nvCxnSpPr>
            <p:spPr>
              <a:xfrm>
                <a:off x="2743200" y="2996215"/>
                <a:ext cx="4572000" cy="0"/>
              </a:xfrm>
              <a:prstGeom prst="straightConnector1">
                <a:avLst/>
              </a:prstGeom>
              <a:noFill/>
              <a:ln w="12700" cap="flat" cmpd="sng">
                <a:solidFill>
                  <a:schemeClr val="accent1"/>
                </a:solidFill>
                <a:prstDash val="solid"/>
                <a:round/>
                <a:headEnd type="none" w="sm" len="sm"/>
                <a:tailEnd type="none" w="sm" len="sm"/>
              </a:ln>
            </p:spPr>
          </p:cxnSp>
          <p:cxnSp>
            <p:nvCxnSpPr>
              <p:cNvPr id="725" name="Google Shape;725;p69"/>
              <p:cNvCxnSpPr/>
              <p:nvPr/>
            </p:nvCxnSpPr>
            <p:spPr>
              <a:xfrm>
                <a:off x="4292600" y="2996216"/>
                <a:ext cx="0" cy="550769"/>
              </a:xfrm>
              <a:prstGeom prst="straightConnector1">
                <a:avLst/>
              </a:prstGeom>
              <a:noFill/>
              <a:ln w="12700" cap="flat" cmpd="sng">
                <a:solidFill>
                  <a:schemeClr val="accent1"/>
                </a:solidFill>
                <a:prstDash val="solid"/>
                <a:round/>
                <a:headEnd type="none" w="sm" len="sm"/>
                <a:tailEnd type="none" w="sm" len="sm"/>
              </a:ln>
            </p:spPr>
          </p:cxnSp>
          <p:sp>
            <p:nvSpPr>
              <p:cNvPr id="726" name="Google Shape;726;p69"/>
              <p:cNvSpPr/>
              <p:nvPr/>
            </p:nvSpPr>
            <p:spPr>
              <a:xfrm>
                <a:off x="4216400" y="3333683"/>
                <a:ext cx="152400" cy="45719"/>
              </a:xfrm>
              <a:prstGeom prst="rect">
                <a:avLst/>
              </a:prstGeom>
              <a:solidFill>
                <a:schemeClr val="accent1"/>
              </a:solidFill>
              <a:ln w="15875" cap="flat" cmpd="sng">
                <a:solidFill>
                  <a:srgbClr val="A65F0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27" name="Google Shape;727;p69"/>
              <p:cNvSpPr txBox="1"/>
              <p:nvPr/>
            </p:nvSpPr>
            <p:spPr>
              <a:xfrm>
                <a:off x="2405179" y="1170802"/>
                <a:ext cx="1109856" cy="27699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Arial"/>
                    <a:ea typeface="Arial"/>
                    <a:cs typeface="Arial"/>
                    <a:sym typeface="Arial"/>
                  </a:rPr>
                  <a:t>Organization Z</a:t>
                </a:r>
                <a:endParaRPr sz="1200" b="1" i="0" u="none" strike="noStrike" cap="none">
                  <a:solidFill>
                    <a:schemeClr val="dk1"/>
                  </a:solidFill>
                  <a:latin typeface="Arial"/>
                  <a:ea typeface="Arial"/>
                  <a:cs typeface="Arial"/>
                  <a:sym typeface="Arial"/>
                </a:endParaRPr>
              </a:p>
            </p:txBody>
          </p:sp>
          <p:sp>
            <p:nvSpPr>
              <p:cNvPr id="728" name="Google Shape;728;p69"/>
              <p:cNvSpPr txBox="1"/>
              <p:nvPr/>
            </p:nvSpPr>
            <p:spPr>
              <a:xfrm>
                <a:off x="2919024" y="1669836"/>
                <a:ext cx="1695849" cy="27699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Arial"/>
                    <a:ea typeface="Arial"/>
                    <a:cs typeface="Arial"/>
                    <a:sym typeface="Arial"/>
                  </a:rPr>
                  <a:t>Web Server &amp; Database</a:t>
                </a:r>
                <a:endParaRPr sz="1200" b="1" i="0" u="none" strike="noStrike" cap="none">
                  <a:solidFill>
                    <a:schemeClr val="dk1"/>
                  </a:solidFill>
                  <a:latin typeface="Arial"/>
                  <a:ea typeface="Arial"/>
                  <a:cs typeface="Arial"/>
                  <a:sym typeface="Arial"/>
                </a:endParaRPr>
              </a:p>
            </p:txBody>
          </p:sp>
          <p:cxnSp>
            <p:nvCxnSpPr>
              <p:cNvPr id="729" name="Google Shape;729;p69"/>
              <p:cNvCxnSpPr/>
              <p:nvPr/>
            </p:nvCxnSpPr>
            <p:spPr>
              <a:xfrm>
                <a:off x="5642621" y="4019723"/>
                <a:ext cx="0" cy="211578"/>
              </a:xfrm>
              <a:prstGeom prst="straightConnector1">
                <a:avLst/>
              </a:prstGeom>
              <a:noFill/>
              <a:ln w="12700" cap="flat" cmpd="sng">
                <a:solidFill>
                  <a:schemeClr val="accent1"/>
                </a:solidFill>
                <a:prstDash val="solid"/>
                <a:round/>
                <a:headEnd type="none" w="sm" len="sm"/>
                <a:tailEnd type="none" w="sm" len="sm"/>
              </a:ln>
            </p:spPr>
          </p:cxnSp>
          <p:sp>
            <p:nvSpPr>
              <p:cNvPr id="730" name="Google Shape;730;p69"/>
              <p:cNvSpPr txBox="1"/>
              <p:nvPr/>
            </p:nvSpPr>
            <p:spPr>
              <a:xfrm>
                <a:off x="4229100" y="3202206"/>
                <a:ext cx="768696" cy="27699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Arial"/>
                    <a:ea typeface="Arial"/>
                    <a:cs typeface="Arial"/>
                    <a:sym typeface="Arial"/>
                  </a:rPr>
                  <a:t>Router</a:t>
                </a:r>
                <a:endParaRPr sz="1800" b="0" i="0" u="none" strike="noStrike" cap="none">
                  <a:solidFill>
                    <a:schemeClr val="dk1"/>
                  </a:solidFill>
                  <a:latin typeface="Arial"/>
                  <a:ea typeface="Arial"/>
                  <a:cs typeface="Arial"/>
                  <a:sym typeface="Arial"/>
                </a:endParaRPr>
              </a:p>
            </p:txBody>
          </p:sp>
          <p:sp>
            <p:nvSpPr>
              <p:cNvPr id="731" name="Google Shape;731;p69"/>
              <p:cNvSpPr/>
              <p:nvPr/>
            </p:nvSpPr>
            <p:spPr>
              <a:xfrm>
                <a:off x="4127500" y="3119513"/>
                <a:ext cx="368300" cy="88281"/>
              </a:xfrm>
              <a:prstGeom prst="rect">
                <a:avLst/>
              </a:prstGeom>
              <a:solidFill>
                <a:schemeClr val="accent1"/>
              </a:solidFill>
              <a:ln w="15875" cap="flat" cmpd="sng">
                <a:solidFill>
                  <a:srgbClr val="A65F0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32" name="Google Shape;732;p69"/>
              <p:cNvSpPr txBox="1"/>
              <p:nvPr/>
            </p:nvSpPr>
            <p:spPr>
              <a:xfrm>
                <a:off x="3417266" y="3008916"/>
                <a:ext cx="768696" cy="27699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Arial"/>
                    <a:ea typeface="Arial"/>
                    <a:cs typeface="Arial"/>
                    <a:sym typeface="Arial"/>
                  </a:rPr>
                  <a:t>Firewall</a:t>
                </a:r>
                <a:endParaRPr sz="1800" b="0" i="0" u="none" strike="noStrike" cap="none">
                  <a:solidFill>
                    <a:schemeClr val="dk1"/>
                  </a:solidFill>
                  <a:latin typeface="Arial"/>
                  <a:ea typeface="Arial"/>
                  <a:cs typeface="Arial"/>
                  <a:sym typeface="Arial"/>
                </a:endParaRPr>
              </a:p>
            </p:txBody>
          </p:sp>
          <p:sp>
            <p:nvSpPr>
              <p:cNvPr id="733" name="Google Shape;733;p69"/>
              <p:cNvSpPr txBox="1"/>
              <p:nvPr/>
            </p:nvSpPr>
            <p:spPr>
              <a:xfrm>
                <a:off x="6048128" y="1787401"/>
                <a:ext cx="2064096" cy="27699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Arial"/>
                    <a:ea typeface="Arial"/>
                    <a:cs typeface="Arial"/>
                    <a:sym typeface="Arial"/>
                  </a:rPr>
                  <a:t>Worker’s PC</a:t>
                </a:r>
                <a:endParaRPr sz="1800" b="0" i="0" u="none" strike="noStrike" cap="none">
                  <a:solidFill>
                    <a:schemeClr val="dk1"/>
                  </a:solidFill>
                  <a:latin typeface="Arial"/>
                  <a:ea typeface="Arial"/>
                  <a:cs typeface="Arial"/>
                  <a:sym typeface="Arial"/>
                </a:endParaRPr>
              </a:p>
            </p:txBody>
          </p:sp>
          <p:pic>
            <p:nvPicPr>
              <p:cNvPr id="734" name="Google Shape;734;p69"/>
              <p:cNvPicPr preferRelativeResize="0"/>
              <p:nvPr/>
            </p:nvPicPr>
            <p:blipFill rotWithShape="1">
              <a:blip r:embed="rId4">
                <a:alphaModFix/>
              </a:blip>
              <a:srcRect/>
              <a:stretch/>
            </p:blipFill>
            <p:spPr>
              <a:xfrm flipH="1">
                <a:off x="6399758" y="2156269"/>
                <a:ext cx="714375" cy="644338"/>
              </a:xfrm>
              <a:prstGeom prst="rect">
                <a:avLst/>
              </a:prstGeom>
              <a:noFill/>
              <a:ln>
                <a:noFill/>
              </a:ln>
            </p:spPr>
          </p:pic>
          <p:cxnSp>
            <p:nvCxnSpPr>
              <p:cNvPr id="735" name="Google Shape;735;p69"/>
              <p:cNvCxnSpPr/>
              <p:nvPr/>
            </p:nvCxnSpPr>
            <p:spPr>
              <a:xfrm>
                <a:off x="5379245" y="4231301"/>
                <a:ext cx="2946789" cy="0"/>
              </a:xfrm>
              <a:prstGeom prst="straightConnector1">
                <a:avLst/>
              </a:prstGeom>
              <a:noFill/>
              <a:ln w="12700" cap="flat" cmpd="sng">
                <a:solidFill>
                  <a:schemeClr val="accent1"/>
                </a:solidFill>
                <a:prstDash val="solid"/>
                <a:round/>
                <a:headEnd type="none" w="sm" len="sm"/>
                <a:tailEnd type="none" w="sm" len="sm"/>
              </a:ln>
            </p:spPr>
          </p:cxnSp>
          <p:cxnSp>
            <p:nvCxnSpPr>
              <p:cNvPr id="736" name="Google Shape;736;p69"/>
              <p:cNvCxnSpPr/>
              <p:nvPr/>
            </p:nvCxnSpPr>
            <p:spPr>
              <a:xfrm>
                <a:off x="6966433" y="3808145"/>
                <a:ext cx="0" cy="423156"/>
              </a:xfrm>
              <a:prstGeom prst="straightConnector1">
                <a:avLst/>
              </a:prstGeom>
              <a:noFill/>
              <a:ln w="12700" cap="flat" cmpd="sng">
                <a:solidFill>
                  <a:schemeClr val="accent1"/>
                </a:solidFill>
                <a:prstDash val="solid"/>
                <a:round/>
                <a:headEnd type="none" w="sm" len="sm"/>
                <a:tailEnd type="none" w="sm" len="sm"/>
              </a:ln>
            </p:spPr>
          </p:cxnSp>
          <p:cxnSp>
            <p:nvCxnSpPr>
              <p:cNvPr id="737" name="Google Shape;737;p69"/>
              <p:cNvCxnSpPr/>
              <p:nvPr/>
            </p:nvCxnSpPr>
            <p:spPr>
              <a:xfrm>
                <a:off x="6616239" y="2551206"/>
                <a:ext cx="0" cy="423156"/>
              </a:xfrm>
              <a:prstGeom prst="straightConnector1">
                <a:avLst/>
              </a:prstGeom>
              <a:noFill/>
              <a:ln w="12700" cap="flat" cmpd="sng">
                <a:solidFill>
                  <a:schemeClr val="accent1"/>
                </a:solidFill>
                <a:prstDash val="solid"/>
                <a:round/>
                <a:headEnd type="none" w="sm" len="sm"/>
                <a:tailEnd type="none" w="sm" len="sm"/>
              </a:ln>
            </p:spPr>
          </p:cxnSp>
          <p:sp>
            <p:nvSpPr>
              <p:cNvPr id="738" name="Google Shape;738;p69"/>
              <p:cNvSpPr/>
              <p:nvPr/>
            </p:nvSpPr>
            <p:spPr>
              <a:xfrm>
                <a:off x="5571500" y="4009469"/>
                <a:ext cx="138545" cy="45719"/>
              </a:xfrm>
              <a:prstGeom prst="rect">
                <a:avLst/>
              </a:prstGeom>
              <a:solidFill>
                <a:schemeClr val="accent1"/>
              </a:solidFill>
              <a:ln w="15875" cap="flat" cmpd="sng">
                <a:solidFill>
                  <a:srgbClr val="A65F0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39" name="Google Shape;739;p69"/>
              <p:cNvSpPr txBox="1"/>
              <p:nvPr/>
            </p:nvSpPr>
            <p:spPr>
              <a:xfrm>
                <a:off x="5740093" y="3584971"/>
                <a:ext cx="711803"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Arial"/>
                    <a:ea typeface="Arial"/>
                    <a:cs typeface="Arial"/>
                    <a:sym typeface="Arial"/>
                  </a:rPr>
                  <a:t>Router with Firewall</a:t>
                </a:r>
                <a:endParaRPr sz="1800" b="0" i="0" u="none" strike="noStrike" cap="none">
                  <a:solidFill>
                    <a:schemeClr val="dk1"/>
                  </a:solidFill>
                  <a:latin typeface="Arial"/>
                  <a:ea typeface="Arial"/>
                  <a:cs typeface="Arial"/>
                  <a:sym typeface="Arial"/>
                </a:endParaRPr>
              </a:p>
            </p:txBody>
          </p:sp>
          <p:cxnSp>
            <p:nvCxnSpPr>
              <p:cNvPr id="740" name="Google Shape;740;p69"/>
              <p:cNvCxnSpPr/>
              <p:nvPr/>
            </p:nvCxnSpPr>
            <p:spPr>
              <a:xfrm>
                <a:off x="5630353" y="3846135"/>
                <a:ext cx="9923" cy="328070"/>
              </a:xfrm>
              <a:prstGeom prst="straightConnector1">
                <a:avLst/>
              </a:prstGeom>
              <a:noFill/>
              <a:ln w="12700" cap="flat" cmpd="sng">
                <a:solidFill>
                  <a:schemeClr val="accent1"/>
                </a:solidFill>
                <a:prstDash val="solid"/>
                <a:round/>
                <a:headEnd type="none" w="sm" len="sm"/>
                <a:tailEnd type="none" w="sm" len="sm"/>
              </a:ln>
            </p:spPr>
          </p:cxnSp>
          <p:cxnSp>
            <p:nvCxnSpPr>
              <p:cNvPr id="741" name="Google Shape;741;p69"/>
              <p:cNvCxnSpPr/>
              <p:nvPr/>
            </p:nvCxnSpPr>
            <p:spPr>
              <a:xfrm>
                <a:off x="5158039" y="3847562"/>
                <a:ext cx="481823" cy="0"/>
              </a:xfrm>
              <a:prstGeom prst="straightConnector1">
                <a:avLst/>
              </a:prstGeom>
              <a:noFill/>
              <a:ln w="12700" cap="flat" cmpd="sng">
                <a:solidFill>
                  <a:schemeClr val="accent1"/>
                </a:solidFill>
                <a:prstDash val="solid"/>
                <a:round/>
                <a:headEnd type="none" w="sm" len="sm"/>
                <a:tailEnd type="none" w="sm" len="sm"/>
              </a:ln>
            </p:spPr>
          </p:cxnSp>
          <p:sp>
            <p:nvSpPr>
              <p:cNvPr id="742" name="Google Shape;742;p69"/>
              <p:cNvSpPr txBox="1"/>
              <p:nvPr/>
            </p:nvSpPr>
            <p:spPr>
              <a:xfrm>
                <a:off x="6781800" y="3289018"/>
                <a:ext cx="2064096" cy="276999"/>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Arial"/>
                    <a:ea typeface="Arial"/>
                    <a:cs typeface="Arial"/>
                    <a:sym typeface="Arial"/>
                  </a:rPr>
                  <a:t>Worker’s PC</a:t>
                </a:r>
                <a:endParaRPr sz="1800" b="0" i="0" u="none" strike="noStrike" cap="none">
                  <a:solidFill>
                    <a:schemeClr val="dk1"/>
                  </a:solidFill>
                  <a:latin typeface="Arial"/>
                  <a:ea typeface="Arial"/>
                  <a:cs typeface="Arial"/>
                  <a:sym typeface="Arial"/>
                </a:endParaRPr>
              </a:p>
            </p:txBody>
          </p:sp>
          <p:pic>
            <p:nvPicPr>
              <p:cNvPr id="743" name="Google Shape;743;p69"/>
              <p:cNvPicPr preferRelativeResize="0"/>
              <p:nvPr/>
            </p:nvPicPr>
            <p:blipFill rotWithShape="1">
              <a:blip r:embed="rId4">
                <a:alphaModFix/>
              </a:blip>
              <a:srcRect/>
              <a:stretch/>
            </p:blipFill>
            <p:spPr>
              <a:xfrm flipH="1">
                <a:off x="6641992" y="3340449"/>
                <a:ext cx="714375" cy="644338"/>
              </a:xfrm>
              <a:prstGeom prst="rect">
                <a:avLst/>
              </a:prstGeom>
              <a:noFill/>
              <a:ln>
                <a:noFill/>
              </a:ln>
            </p:spPr>
          </p:pic>
          <p:sp>
            <p:nvSpPr>
              <p:cNvPr id="744" name="Google Shape;744;p69"/>
              <p:cNvSpPr txBox="1"/>
              <p:nvPr/>
            </p:nvSpPr>
            <p:spPr>
              <a:xfrm>
                <a:off x="8290968" y="3867475"/>
                <a:ext cx="1883914" cy="27699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Arial"/>
                    <a:ea typeface="Arial"/>
                    <a:cs typeface="Arial"/>
                    <a:sym typeface="Arial"/>
                  </a:rPr>
                  <a:t>Branch A of Organization Z</a:t>
                </a:r>
                <a:endParaRPr sz="1200" b="1" i="0" u="none" strike="noStrike" cap="none">
                  <a:solidFill>
                    <a:schemeClr val="dk1"/>
                  </a:solidFill>
                  <a:latin typeface="Arial"/>
                  <a:ea typeface="Arial"/>
                  <a:cs typeface="Arial"/>
                  <a:sym typeface="Arial"/>
                </a:endParaRPr>
              </a:p>
            </p:txBody>
          </p:sp>
          <p:sp>
            <p:nvSpPr>
              <p:cNvPr id="745" name="Google Shape;745;p69"/>
              <p:cNvSpPr/>
              <p:nvPr/>
            </p:nvSpPr>
            <p:spPr>
              <a:xfrm>
                <a:off x="3850689" y="2344342"/>
                <a:ext cx="240821" cy="218954"/>
              </a:xfrm>
              <a:prstGeom prst="can">
                <a:avLst>
                  <a:gd name="adj" fmla="val 25000"/>
                </a:avLst>
              </a:prstGeom>
              <a:solidFill>
                <a:schemeClr val="accent1"/>
              </a:solidFill>
              <a:ln w="15875" cap="flat" cmpd="sng">
                <a:solidFill>
                  <a:srgbClr val="A65F0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746" name="Google Shape;746;p69"/>
              <p:cNvCxnSpPr/>
              <p:nvPr/>
            </p:nvCxnSpPr>
            <p:spPr>
              <a:xfrm>
                <a:off x="3756908" y="2453819"/>
                <a:ext cx="271977" cy="0"/>
              </a:xfrm>
              <a:prstGeom prst="straightConnector1">
                <a:avLst/>
              </a:prstGeom>
              <a:noFill/>
              <a:ln w="12700" cap="flat" cmpd="sng">
                <a:solidFill>
                  <a:schemeClr val="accent1"/>
                </a:solidFill>
                <a:prstDash val="solid"/>
                <a:round/>
                <a:headEnd type="none" w="sm" len="sm"/>
                <a:tailEnd type="none" w="sm" len="sm"/>
              </a:ln>
            </p:spPr>
          </p:cxnSp>
          <p:cxnSp>
            <p:nvCxnSpPr>
              <p:cNvPr id="747" name="Google Shape;747;p69"/>
              <p:cNvCxnSpPr/>
              <p:nvPr/>
            </p:nvCxnSpPr>
            <p:spPr>
              <a:xfrm flipH="1">
                <a:off x="4368800" y="1309300"/>
                <a:ext cx="664196" cy="1795462"/>
              </a:xfrm>
              <a:prstGeom prst="straightConnector1">
                <a:avLst/>
              </a:prstGeom>
              <a:noFill/>
              <a:ln w="12700" cap="flat" cmpd="sng">
                <a:solidFill>
                  <a:schemeClr val="accent1"/>
                </a:solidFill>
                <a:prstDash val="solid"/>
                <a:round/>
                <a:headEnd type="none" w="sm" len="sm"/>
                <a:tailEnd type="stealth" w="med" len="med"/>
              </a:ln>
            </p:spPr>
          </p:cxnSp>
          <p:sp>
            <p:nvSpPr>
              <p:cNvPr id="748" name="Google Shape;748;p69"/>
              <p:cNvSpPr txBox="1"/>
              <p:nvPr/>
            </p:nvSpPr>
            <p:spPr>
              <a:xfrm>
                <a:off x="7768817" y="2478438"/>
                <a:ext cx="2315598" cy="64633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70C0"/>
                    </a:solidFill>
                    <a:latin typeface="Arial"/>
                    <a:ea typeface="Arial"/>
                    <a:cs typeface="Arial"/>
                    <a:sym typeface="Arial"/>
                  </a:rPr>
                  <a:t>VPN Appliance/Gateway</a:t>
                </a:r>
                <a:endParaRPr sz="1800" b="0" i="0" u="none" strike="noStrike" cap="none">
                  <a:solidFill>
                    <a:schemeClr val="dk1"/>
                  </a:solidFill>
                  <a:latin typeface="Arial"/>
                  <a:ea typeface="Arial"/>
                  <a:cs typeface="Arial"/>
                  <a:sym typeface="Arial"/>
                </a:endParaRPr>
              </a:p>
            </p:txBody>
          </p:sp>
          <p:cxnSp>
            <p:nvCxnSpPr>
              <p:cNvPr id="749" name="Google Shape;749;p69"/>
              <p:cNvCxnSpPr>
                <a:stCxn id="748" idx="1"/>
                <a:endCxn id="739" idx="1"/>
              </p:cNvCxnSpPr>
              <p:nvPr/>
            </p:nvCxnSpPr>
            <p:spPr>
              <a:xfrm flipH="1">
                <a:off x="5740217" y="2801604"/>
                <a:ext cx="2028600" cy="1106400"/>
              </a:xfrm>
              <a:prstGeom prst="straightConnector1">
                <a:avLst/>
              </a:prstGeom>
              <a:noFill/>
              <a:ln w="12700" cap="flat" cmpd="sng">
                <a:solidFill>
                  <a:schemeClr val="accent1"/>
                </a:solidFill>
                <a:prstDash val="solid"/>
                <a:round/>
                <a:headEnd type="none" w="sm" len="sm"/>
                <a:tailEnd type="stealth" w="med" len="med"/>
              </a:ln>
            </p:spPr>
          </p:cxnSp>
          <p:sp>
            <p:nvSpPr>
              <p:cNvPr id="750" name="Google Shape;750;p69"/>
              <p:cNvSpPr/>
              <p:nvPr/>
            </p:nvSpPr>
            <p:spPr>
              <a:xfrm>
                <a:off x="4229769" y="3206839"/>
                <a:ext cx="1376834" cy="785612"/>
              </a:xfrm>
              <a:custGeom>
                <a:avLst/>
                <a:gdLst/>
                <a:ahLst/>
                <a:cxnLst/>
                <a:rect l="l" t="t" r="r" b="b"/>
                <a:pathLst>
                  <a:path w="1376834" h="785612" extrusionOk="0">
                    <a:moveTo>
                      <a:pt x="11673" y="0"/>
                    </a:moveTo>
                    <a:cubicBezTo>
                      <a:pt x="-133" y="240405"/>
                      <a:pt x="-11938" y="480811"/>
                      <a:pt x="24552" y="605307"/>
                    </a:cubicBezTo>
                    <a:cubicBezTo>
                      <a:pt x="61042" y="729803"/>
                      <a:pt x="110411" y="727657"/>
                      <a:pt x="230614" y="746975"/>
                    </a:cubicBezTo>
                    <a:cubicBezTo>
                      <a:pt x="350817" y="766293"/>
                      <a:pt x="580490" y="727657"/>
                      <a:pt x="745769" y="721217"/>
                    </a:cubicBezTo>
                    <a:cubicBezTo>
                      <a:pt x="911048" y="714778"/>
                      <a:pt x="1123549" y="710485"/>
                      <a:pt x="1222287" y="708338"/>
                    </a:cubicBezTo>
                    <a:cubicBezTo>
                      <a:pt x="1321025" y="706192"/>
                      <a:pt x="1312439" y="695459"/>
                      <a:pt x="1338197" y="708338"/>
                    </a:cubicBezTo>
                    <a:cubicBezTo>
                      <a:pt x="1363955" y="721217"/>
                      <a:pt x="1370394" y="753414"/>
                      <a:pt x="1376834" y="785612"/>
                    </a:cubicBezTo>
                  </a:path>
                </a:pathLst>
              </a:custGeom>
              <a:noFill/>
              <a:ln w="38100" cap="flat" cmpd="sng">
                <a:solidFill>
                  <a:srgbClr val="92D050"/>
                </a:solidFill>
                <a:prstDash val="lg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7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Benefits of VPN</a:t>
            </a:r>
            <a:endParaRPr/>
          </a:p>
        </p:txBody>
      </p:sp>
      <p:sp>
        <p:nvSpPr>
          <p:cNvPr id="756" name="Google Shape;756;p75"/>
          <p:cNvSpPr txBox="1"/>
          <p:nvPr/>
        </p:nvSpPr>
        <p:spPr>
          <a:xfrm>
            <a:off x="1280160" y="1804737"/>
            <a:ext cx="10058400" cy="4023360"/>
          </a:xfrm>
          <a:prstGeom prst="rect">
            <a:avLst/>
          </a:prstGeom>
          <a:noFill/>
          <a:ln>
            <a:noFill/>
          </a:ln>
        </p:spPr>
        <p:txBody>
          <a:bodyPr spcFirstLastPara="1" wrap="square" lIns="0" tIns="45700" rIns="0" bIns="45700" anchor="t" anchorCtr="0">
            <a:noAutofit/>
          </a:bodyPr>
          <a:lstStyle/>
          <a:p>
            <a:pPr lvl="1">
              <a:buClr>
                <a:schemeClr val="accent1"/>
              </a:buClr>
              <a:buSzPts val="2000"/>
            </a:pPr>
            <a:r>
              <a:rPr lang="en-US" sz="2000" b="0" i="0" u="none" strike="noStrike" cap="none" dirty="0">
                <a:solidFill>
                  <a:srgbClr val="3F3F3F"/>
                </a:solidFill>
                <a:latin typeface="Arial"/>
                <a:ea typeface="Arial"/>
                <a:cs typeface="Arial"/>
                <a:sym typeface="Arial"/>
              </a:rPr>
              <a:t>Cost-Saving</a:t>
            </a:r>
            <a:endParaRPr b="0" i="0" u="none" strike="noStrike" cap="none" dirty="0">
              <a:solidFill>
                <a:srgbClr val="000000"/>
              </a:solidFill>
              <a:latin typeface="Arial"/>
              <a:ea typeface="Arial"/>
              <a:cs typeface="Arial"/>
              <a:sym typeface="Arial"/>
            </a:endParaRPr>
          </a:p>
          <a:p>
            <a:pPr marL="384048" lvl="2" indent="-182880">
              <a:spcBef>
                <a:spcPts val="200"/>
              </a:spcBef>
              <a:buClrTx/>
              <a:buSzPts val="2000"/>
              <a:buFont typeface="Noto Sans Symbols"/>
              <a:buChar char="▪"/>
            </a:pPr>
            <a:r>
              <a:rPr lang="en-US" sz="2000" b="0" i="0" u="none" strike="noStrike" cap="none" dirty="0">
                <a:solidFill>
                  <a:srgbClr val="3F3F3F"/>
                </a:solidFill>
                <a:latin typeface="Arial"/>
                <a:ea typeface="Arial"/>
                <a:cs typeface="Arial"/>
                <a:sym typeface="Arial"/>
              </a:rPr>
              <a:t> </a:t>
            </a:r>
            <a:r>
              <a:rPr lang="en-US" sz="1800" b="0" i="0" u="none" strike="noStrike" cap="none" dirty="0">
                <a:solidFill>
                  <a:srgbClr val="3F3F3F"/>
                </a:solidFill>
                <a:latin typeface="Arial"/>
                <a:ea typeface="Arial"/>
                <a:cs typeface="Arial"/>
                <a:sym typeface="Arial"/>
              </a:rPr>
              <a:t>Enables companies to make use of the low-cost Internet, vs pricey leased line</a:t>
            </a:r>
            <a:endParaRPr b="0" i="0" u="none" strike="noStrike" cap="none" dirty="0">
              <a:solidFill>
                <a:srgbClr val="000000"/>
              </a:solidFill>
              <a:latin typeface="Arial"/>
              <a:ea typeface="Arial"/>
              <a:cs typeface="Arial"/>
              <a:sym typeface="Arial"/>
            </a:endParaRPr>
          </a:p>
          <a:p>
            <a:pPr lvl="1">
              <a:spcBef>
                <a:spcPts val="400"/>
              </a:spcBef>
              <a:buClr>
                <a:schemeClr val="accent1"/>
              </a:buClr>
              <a:buSzPts val="2000"/>
            </a:pPr>
            <a:endParaRPr lang="en-US" sz="2000" b="0" i="0" u="none" strike="noStrike" cap="none" dirty="0">
              <a:solidFill>
                <a:srgbClr val="3F3F3F"/>
              </a:solidFill>
              <a:latin typeface="Arial"/>
              <a:ea typeface="Arial"/>
              <a:cs typeface="Arial"/>
              <a:sym typeface="Arial"/>
            </a:endParaRPr>
          </a:p>
          <a:p>
            <a:pPr lvl="1">
              <a:spcBef>
                <a:spcPts val="400"/>
              </a:spcBef>
              <a:buClr>
                <a:schemeClr val="accent1"/>
              </a:buClr>
              <a:buSzPts val="2000"/>
            </a:pPr>
            <a:r>
              <a:rPr lang="en-US" sz="2000" b="0" i="0" u="none" strike="noStrike" cap="none" dirty="0">
                <a:solidFill>
                  <a:srgbClr val="3F3F3F"/>
                </a:solidFill>
                <a:latin typeface="Arial"/>
                <a:ea typeface="Arial"/>
                <a:cs typeface="Arial"/>
                <a:sym typeface="Arial"/>
              </a:rPr>
              <a:t>Flexible</a:t>
            </a:r>
            <a:endParaRPr b="0" i="0" u="none" strike="noStrike" cap="none" dirty="0">
              <a:solidFill>
                <a:srgbClr val="000000"/>
              </a:solidFill>
              <a:latin typeface="Arial"/>
              <a:ea typeface="Arial"/>
              <a:cs typeface="Arial"/>
              <a:sym typeface="Arial"/>
            </a:endParaRPr>
          </a:p>
          <a:p>
            <a:pPr marL="384048" lvl="2" indent="-182880">
              <a:spcBef>
                <a:spcPts val="200"/>
              </a:spcBef>
              <a:buClrTx/>
              <a:buSzPts val="2000"/>
              <a:buFont typeface="Noto Sans Symbols"/>
              <a:buChar char="▪"/>
            </a:pPr>
            <a:r>
              <a:rPr lang="en-US" sz="2000" b="0" i="0" u="none" strike="noStrike" cap="none" dirty="0">
                <a:solidFill>
                  <a:srgbClr val="3F3F3F"/>
                </a:solidFill>
                <a:latin typeface="Arial"/>
                <a:ea typeface="Arial"/>
                <a:cs typeface="Arial"/>
                <a:sym typeface="Arial"/>
              </a:rPr>
              <a:t> </a:t>
            </a:r>
            <a:r>
              <a:rPr lang="en-US" sz="1800" b="0" i="0" u="none" strike="noStrike" cap="none" dirty="0">
                <a:solidFill>
                  <a:srgbClr val="3F3F3F"/>
                </a:solidFill>
                <a:latin typeface="Arial"/>
                <a:ea typeface="Arial"/>
                <a:cs typeface="Arial"/>
                <a:sym typeface="Arial"/>
              </a:rPr>
              <a:t>Can be configured to meet needs and settings for secured communication</a:t>
            </a:r>
            <a:endParaRPr b="0" i="0" u="none" strike="noStrike" cap="none" dirty="0">
              <a:solidFill>
                <a:srgbClr val="000000"/>
              </a:solidFill>
              <a:latin typeface="Arial"/>
              <a:ea typeface="Arial"/>
              <a:cs typeface="Arial"/>
              <a:sym typeface="Arial"/>
            </a:endParaRPr>
          </a:p>
          <a:p>
            <a:pPr lvl="1">
              <a:spcBef>
                <a:spcPts val="400"/>
              </a:spcBef>
              <a:buClr>
                <a:schemeClr val="accent1"/>
              </a:buClr>
              <a:buSzPts val="2000"/>
            </a:pPr>
            <a:endParaRPr lang="en-US" sz="2000" b="0" i="0" u="none" strike="noStrike" cap="none" dirty="0">
              <a:solidFill>
                <a:srgbClr val="3F3F3F"/>
              </a:solidFill>
              <a:latin typeface="Arial"/>
              <a:ea typeface="Arial"/>
              <a:cs typeface="Arial"/>
              <a:sym typeface="Arial"/>
            </a:endParaRPr>
          </a:p>
          <a:p>
            <a:pPr lvl="1">
              <a:spcBef>
                <a:spcPts val="400"/>
              </a:spcBef>
              <a:buClr>
                <a:schemeClr val="accent1"/>
              </a:buClr>
              <a:buSzPts val="2000"/>
            </a:pPr>
            <a:r>
              <a:rPr lang="en-US" sz="2000" b="0" i="0" u="none" strike="noStrike" cap="none" dirty="0">
                <a:solidFill>
                  <a:srgbClr val="3F3F3F"/>
                </a:solidFill>
                <a:latin typeface="Arial"/>
                <a:ea typeface="Arial"/>
                <a:cs typeface="Arial"/>
                <a:sym typeface="Arial"/>
              </a:rPr>
              <a:t>Scalable</a:t>
            </a:r>
            <a:endParaRPr b="0" i="0" u="none" strike="noStrike" cap="none" dirty="0">
              <a:solidFill>
                <a:srgbClr val="000000"/>
              </a:solidFill>
              <a:latin typeface="Arial"/>
              <a:ea typeface="Arial"/>
              <a:cs typeface="Arial"/>
              <a:sym typeface="Arial"/>
            </a:endParaRPr>
          </a:p>
          <a:p>
            <a:pPr marL="384048" lvl="2" indent="-182880">
              <a:spcBef>
                <a:spcPts val="200"/>
              </a:spcBef>
              <a:buClrTx/>
              <a:buSzPts val="2000"/>
              <a:buFont typeface="Noto Sans Symbols"/>
              <a:buChar char="▪"/>
            </a:pPr>
            <a:r>
              <a:rPr lang="en-US" sz="2000" b="0" i="0" u="none" strike="noStrike" cap="none" dirty="0">
                <a:solidFill>
                  <a:srgbClr val="3F3F3F"/>
                </a:solidFill>
                <a:latin typeface="Arial"/>
                <a:ea typeface="Arial"/>
                <a:cs typeface="Arial"/>
                <a:sym typeface="Arial"/>
              </a:rPr>
              <a:t> </a:t>
            </a:r>
            <a:r>
              <a:rPr lang="en-US" sz="1800" b="0" i="0" u="none" strike="noStrike" cap="none" dirty="0">
                <a:solidFill>
                  <a:srgbClr val="3F3F3F"/>
                </a:solidFill>
                <a:latin typeface="Arial"/>
                <a:ea typeface="Arial"/>
                <a:cs typeface="Arial"/>
                <a:sym typeface="Arial"/>
              </a:rPr>
              <a:t>Extend company’s network to their separate branches and connect as though under one single network</a:t>
            </a:r>
          </a:p>
          <a:p>
            <a:pPr marL="384048" lvl="2" indent="-182880">
              <a:spcBef>
                <a:spcPts val="200"/>
              </a:spcBef>
              <a:buClr>
                <a:schemeClr val="accent1"/>
              </a:buClr>
              <a:buSzPts val="2000"/>
              <a:buFont typeface="Noto Sans Symbols"/>
              <a:buChar char="▪"/>
            </a:pPr>
            <a:endParaRPr b="0" i="0" u="none" strike="noStrike" cap="none" dirty="0">
              <a:solidFill>
                <a:srgbClr val="000000"/>
              </a:solidFill>
              <a:latin typeface="Arial"/>
              <a:ea typeface="Arial"/>
              <a:cs typeface="Arial"/>
              <a:sym typeface="Arial"/>
            </a:endParaRPr>
          </a:p>
          <a:p>
            <a:pPr lvl="1">
              <a:spcBef>
                <a:spcPts val="400"/>
              </a:spcBef>
              <a:spcAft>
                <a:spcPts val="200"/>
              </a:spcAft>
              <a:buClr>
                <a:schemeClr val="accent1"/>
              </a:buClr>
              <a:buSzPts val="2000"/>
            </a:pPr>
            <a:r>
              <a:rPr lang="en-US" sz="2000" b="0" i="0" u="none" strike="noStrike" cap="none" dirty="0">
                <a:solidFill>
                  <a:srgbClr val="3F3F3F"/>
                </a:solidFill>
                <a:latin typeface="Arial"/>
                <a:ea typeface="Arial"/>
                <a:cs typeface="Arial"/>
                <a:sym typeface="Arial"/>
              </a:rPr>
              <a:t>Can implement Extranet (allow partners/clients access to part of company’s network)</a:t>
            </a:r>
            <a:endParaRPr sz="2000" b="0" i="0" u="none" strike="noStrike" cap="none" dirty="0">
              <a:solidFill>
                <a:srgbClr val="7F7F7F"/>
              </a:solidFill>
              <a:latin typeface="Arial"/>
              <a:ea typeface="Arial"/>
              <a:cs typeface="Arial"/>
              <a:sym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76"/>
          <p:cNvSpPr txBox="1"/>
          <p:nvPr/>
        </p:nvSpPr>
        <p:spPr>
          <a:xfrm>
            <a:off x="817567" y="898258"/>
            <a:ext cx="5459989" cy="900247"/>
          </a:xfrm>
          <a:prstGeom prst="rect">
            <a:avLst/>
          </a:prstGeom>
          <a:noFill/>
          <a:ln>
            <a:noFill/>
          </a:ln>
        </p:spPr>
        <p:txBody>
          <a:bodyPr spcFirstLastPara="1" wrap="square" lIns="45700" tIns="22850" rIns="45700" bIns="22850" anchor="t" anchorCtr="0">
            <a:noAutofit/>
          </a:bodyPr>
          <a:lstStyle/>
          <a:p>
            <a:pPr marL="0" marR="0" lvl="0" indent="0" algn="l" rtl="0">
              <a:lnSpc>
                <a:spcPct val="100000"/>
              </a:lnSpc>
              <a:spcBef>
                <a:spcPts val="0"/>
              </a:spcBef>
              <a:spcAft>
                <a:spcPts val="0"/>
              </a:spcAft>
              <a:buClr>
                <a:srgbClr val="000000"/>
              </a:buClr>
              <a:buSzPts val="4400"/>
              <a:buFont typeface="Arial"/>
              <a:buNone/>
            </a:pPr>
            <a:endParaRPr sz="4400" b="0" i="0" u="none" strike="noStrike" cap="none">
              <a:solidFill>
                <a:schemeClr val="dk1"/>
              </a:solidFill>
              <a:latin typeface="Arial"/>
              <a:ea typeface="Arial"/>
              <a:cs typeface="Arial"/>
              <a:sym typeface="Arial"/>
            </a:endParaRPr>
          </a:p>
        </p:txBody>
      </p:sp>
      <p:sp>
        <p:nvSpPr>
          <p:cNvPr id="762" name="Google Shape;762;p7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What’s Covered So Far…</a:t>
            </a:r>
            <a:endParaRPr/>
          </a:p>
        </p:txBody>
      </p:sp>
      <p:sp>
        <p:nvSpPr>
          <p:cNvPr id="763" name="Google Shape;763;p76"/>
          <p:cNvSpPr txBox="1">
            <a:spLocks noGrp="1"/>
          </p:cNvSpPr>
          <p:nvPr>
            <p:ph type="body" idx="1"/>
          </p:nvPr>
        </p:nvSpPr>
        <p:spPr>
          <a:xfrm>
            <a:off x="1097280" y="1845735"/>
            <a:ext cx="10115203" cy="4114007"/>
          </a:xfrm>
          <a:prstGeom prst="rect">
            <a:avLst/>
          </a:prstGeom>
          <a:noFill/>
          <a:ln>
            <a:noFill/>
          </a:ln>
        </p:spPr>
        <p:txBody>
          <a:bodyPr spcFirstLastPara="1" wrap="square" lIns="0" tIns="45700" rIns="0" bIns="45700" anchor="t" anchorCtr="0">
            <a:noAutofit/>
          </a:bodyPr>
          <a:lstStyle/>
          <a:p>
            <a:pPr marL="91440" lvl="0" indent="-91440" algn="l" rtl="0">
              <a:lnSpc>
                <a:spcPct val="150000"/>
              </a:lnSpc>
              <a:spcBef>
                <a:spcPts val="0"/>
              </a:spcBef>
              <a:spcAft>
                <a:spcPts val="0"/>
              </a:spcAft>
              <a:buSzPts val="2000"/>
              <a:buFont typeface="Noto Sans Symbols"/>
              <a:buChar char="✔"/>
            </a:pPr>
            <a:r>
              <a:rPr lang="en-US" dirty="0"/>
              <a:t> VPN</a:t>
            </a:r>
            <a:endParaRPr dirty="0"/>
          </a:p>
          <a:p>
            <a:pPr marL="384048" lvl="1" indent="-182880" algn="l" rtl="0">
              <a:lnSpc>
                <a:spcPct val="150000"/>
              </a:lnSpc>
              <a:spcBef>
                <a:spcPts val="200"/>
              </a:spcBef>
              <a:spcAft>
                <a:spcPts val="0"/>
              </a:spcAft>
              <a:buSzPts val="2000"/>
              <a:buFont typeface="Courier New"/>
              <a:buChar char="o"/>
            </a:pPr>
            <a:r>
              <a:rPr lang="en-US" sz="2000" dirty="0"/>
              <a:t> Host to Host, Host to Network, Network to Network</a:t>
            </a:r>
            <a:endParaRPr dirty="0"/>
          </a:p>
          <a:p>
            <a:pPr marL="91440" lvl="0" indent="-91440" algn="l" rtl="0">
              <a:lnSpc>
                <a:spcPct val="150000"/>
              </a:lnSpc>
              <a:spcBef>
                <a:spcPts val="400"/>
              </a:spcBef>
              <a:spcAft>
                <a:spcPts val="0"/>
              </a:spcAft>
              <a:buSzPts val="2000"/>
              <a:buFont typeface="Noto Sans Symbols"/>
              <a:buChar char="✔"/>
            </a:pPr>
            <a:r>
              <a:rPr lang="en-US" dirty="0"/>
              <a:t>  Benefits of VPN</a:t>
            </a:r>
            <a:endParaRPr dirty="0"/>
          </a:p>
        </p:txBody>
      </p:sp>
    </p:spTree>
  </p:cSld>
  <p:clrMapOvr>
    <a:masterClrMapping/>
  </p:clrMapOvr>
  <p:transition spd="slow">
    <p:fade thruBlk="1"/>
  </p:transition>
</p:sld>
</file>

<file path=ppt/slides/slide97.xml><?xml version="1.0" encoding="utf-8"?>
<p:sld xmlns:a="http://schemas.openxmlformats.org/drawingml/2006/main" xmlns:r="http://schemas.openxmlformats.org/officeDocument/2006/relationships" xmlns:p="http://schemas.openxmlformats.org/presentationml/2006/main">
  <p:cSld>
    <p:bg>
      <p:bgPr>
        <a:blipFill>
          <a:blip r:embed="rId3">
            <a:alphaModFix amt="40000"/>
          </a:blip>
          <a:stretch>
            <a:fillRect/>
          </a:stretch>
        </a:blipFill>
        <a:effectLst/>
      </p:bgPr>
    </p:bg>
    <p:spTree>
      <p:nvGrpSpPr>
        <p:cNvPr id="1" name="Shape 767"/>
        <p:cNvGrpSpPr/>
        <p:nvPr/>
      </p:nvGrpSpPr>
      <p:grpSpPr>
        <a:xfrm>
          <a:off x="0" y="0"/>
          <a:ext cx="0" cy="0"/>
          <a:chOff x="0" y="0"/>
          <a:chExt cx="0" cy="0"/>
        </a:xfrm>
      </p:grpSpPr>
      <p:sp>
        <p:nvSpPr>
          <p:cNvPr id="768" name="Google Shape;768;p78"/>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Autofit/>
          </a:bodyPr>
          <a:lstStyle/>
          <a:p>
            <a:pPr marL="0" lvl="0" indent="0" algn="ctr" rtl="0">
              <a:lnSpc>
                <a:spcPct val="85000"/>
              </a:lnSpc>
              <a:spcBef>
                <a:spcPts val="0"/>
              </a:spcBef>
              <a:spcAft>
                <a:spcPts val="0"/>
              </a:spcAft>
              <a:buClr>
                <a:srgbClr val="262626"/>
              </a:buClr>
              <a:buSzPts val="6600"/>
              <a:buFont typeface="Arial"/>
              <a:buNone/>
            </a:pPr>
            <a:r>
              <a:rPr lang="en-US" sz="6600" b="1"/>
              <a:t>Wireless Security</a:t>
            </a:r>
            <a:endParaRPr sz="6600" b="1"/>
          </a:p>
        </p:txBody>
      </p:sp>
    </p:spTree>
  </p:cSld>
  <p:clrMapOvr>
    <a:masterClrMapping/>
  </p:clrMapOvr>
  <p:transition spd="slow">
    <p:fade thruBlk="1"/>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7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Wireless (WLAN) Security</a:t>
            </a:r>
            <a:endParaRPr/>
          </a:p>
        </p:txBody>
      </p:sp>
      <p:sp>
        <p:nvSpPr>
          <p:cNvPr id="774" name="Google Shape;774;p79"/>
          <p:cNvSpPr txBox="1">
            <a:spLocks noGrp="1"/>
          </p:cNvSpPr>
          <p:nvPr>
            <p:ph type="body" idx="1"/>
          </p:nvPr>
        </p:nvSpPr>
        <p:spPr>
          <a:xfrm>
            <a:off x="1260910" y="1737360"/>
            <a:ext cx="10058400" cy="4023360"/>
          </a:xfrm>
          <a:prstGeom prst="rect">
            <a:avLst/>
          </a:prstGeom>
          <a:noFill/>
          <a:ln>
            <a:noFill/>
          </a:ln>
        </p:spPr>
        <p:txBody>
          <a:bodyPr spcFirstLastPara="1" wrap="square" lIns="0" tIns="45700" rIns="0" bIns="45700" anchor="t" anchorCtr="0">
            <a:noAutofit/>
          </a:bodyPr>
          <a:lstStyle/>
          <a:p>
            <a:pPr marL="0" lvl="0" indent="0" algn="l" rtl="0">
              <a:lnSpc>
                <a:spcPct val="150000"/>
              </a:lnSpc>
              <a:spcBef>
                <a:spcPts val="0"/>
              </a:spcBef>
              <a:spcAft>
                <a:spcPts val="0"/>
              </a:spcAft>
              <a:buSzPts val="2000"/>
              <a:buNone/>
            </a:pPr>
            <a:r>
              <a:rPr lang="en-US" dirty="0">
                <a:solidFill>
                  <a:srgbClr val="7F7F7F"/>
                </a:solidFill>
              </a:rPr>
              <a:t>WLAN: Wireless Local Area Network</a:t>
            </a:r>
            <a:endParaRPr dirty="0"/>
          </a:p>
          <a:p>
            <a:pPr marL="0" lvl="0" indent="0" algn="l" rtl="0">
              <a:lnSpc>
                <a:spcPct val="250000"/>
              </a:lnSpc>
              <a:spcBef>
                <a:spcPts val="200"/>
              </a:spcBef>
              <a:spcAft>
                <a:spcPts val="0"/>
              </a:spcAft>
              <a:buSzPts val="2000"/>
              <a:buNone/>
            </a:pPr>
            <a:r>
              <a:rPr lang="en-US" dirty="0">
                <a:solidFill>
                  <a:srgbClr val="16BC9B"/>
                </a:solidFill>
                <a:latin typeface="Consolas"/>
                <a:ea typeface="Consolas"/>
                <a:cs typeface="Consolas"/>
                <a:sym typeface="Consolas"/>
              </a:rPr>
              <a:t>++</a:t>
            </a:r>
            <a:r>
              <a:rPr lang="en-US" dirty="0">
                <a:solidFill>
                  <a:schemeClr val="dk1"/>
                </a:solidFill>
              </a:rPr>
              <a:t> Users able to roam freely</a:t>
            </a:r>
            <a:endParaRPr dirty="0"/>
          </a:p>
          <a:p>
            <a:pPr marL="0" lvl="0" indent="0" algn="l" rtl="0">
              <a:lnSpc>
                <a:spcPct val="150000"/>
              </a:lnSpc>
              <a:spcBef>
                <a:spcPts val="200"/>
              </a:spcBef>
              <a:spcAft>
                <a:spcPts val="0"/>
              </a:spcAft>
              <a:buSzPts val="2000"/>
              <a:buNone/>
            </a:pPr>
            <a:r>
              <a:rPr lang="en-US" dirty="0">
                <a:solidFill>
                  <a:srgbClr val="FF0000"/>
                </a:solidFill>
                <a:latin typeface="Consolas"/>
                <a:ea typeface="Consolas"/>
                <a:cs typeface="Consolas"/>
                <a:sym typeface="Consolas"/>
              </a:rPr>
              <a:t>--</a:t>
            </a:r>
            <a:r>
              <a:rPr lang="en-US" dirty="0">
                <a:solidFill>
                  <a:schemeClr val="dk1"/>
                </a:solidFill>
              </a:rPr>
              <a:t> </a:t>
            </a:r>
            <a:r>
              <a:rPr lang="en-US" dirty="0" err="1">
                <a:solidFill>
                  <a:schemeClr val="dk1"/>
                </a:solidFill>
              </a:rPr>
              <a:t>Unauthorised</a:t>
            </a:r>
            <a:r>
              <a:rPr lang="en-US" dirty="0">
                <a:solidFill>
                  <a:schemeClr val="dk1"/>
                </a:solidFill>
              </a:rPr>
              <a:t> user receive RF signals: eavesdropping (via wireless sniffer)</a:t>
            </a:r>
            <a:endParaRPr dirty="0">
              <a:solidFill>
                <a:schemeClr val="dk1"/>
              </a:solidFill>
              <a:latin typeface="Consolas"/>
              <a:ea typeface="Consolas"/>
              <a:cs typeface="Consolas"/>
              <a:sym typeface="Consolas"/>
            </a:endParaRPr>
          </a:p>
          <a:p>
            <a:pPr marL="0" lvl="0" indent="0" algn="l" rtl="0">
              <a:lnSpc>
                <a:spcPct val="150000"/>
              </a:lnSpc>
              <a:spcBef>
                <a:spcPts val="1800"/>
              </a:spcBef>
              <a:spcAft>
                <a:spcPts val="0"/>
              </a:spcAft>
              <a:buSzPts val="2000"/>
              <a:buNone/>
            </a:pPr>
            <a:r>
              <a:rPr lang="en-US" dirty="0">
                <a:solidFill>
                  <a:schemeClr val="dk1"/>
                </a:solidFill>
              </a:rPr>
              <a:t>Security involves two areas:</a:t>
            </a:r>
            <a:endParaRPr dirty="0"/>
          </a:p>
          <a:p>
            <a:pPr marL="800100" lvl="1">
              <a:lnSpc>
                <a:spcPct val="100000"/>
              </a:lnSpc>
              <a:spcBef>
                <a:spcPts val="1800"/>
              </a:spcBef>
              <a:buClrTx/>
              <a:buSzPct val="100000"/>
              <a:buFont typeface="Arial" panose="020B0604020202020204" pitchFamily="34" charset="0"/>
              <a:buChar char="•"/>
            </a:pPr>
            <a:r>
              <a:rPr lang="en-US" b="1" dirty="0">
                <a:solidFill>
                  <a:schemeClr val="dk1"/>
                </a:solidFill>
              </a:rPr>
              <a:t>Authentication</a:t>
            </a:r>
            <a:r>
              <a:rPr lang="en-US" dirty="0">
                <a:solidFill>
                  <a:schemeClr val="dk1"/>
                </a:solidFill>
              </a:rPr>
              <a:t>: Authenticating wireless clients</a:t>
            </a:r>
            <a:endParaRPr lang="en-US" dirty="0"/>
          </a:p>
          <a:p>
            <a:pPr marL="800100" lvl="1">
              <a:lnSpc>
                <a:spcPct val="100000"/>
              </a:lnSpc>
              <a:spcBef>
                <a:spcPts val="1800"/>
              </a:spcBef>
              <a:buClrTx/>
              <a:buSzPct val="100000"/>
              <a:buFont typeface="Arial" panose="020B0604020202020204" pitchFamily="34" charset="0"/>
              <a:buChar char="•"/>
            </a:pPr>
            <a:r>
              <a:rPr lang="en-US" b="1" dirty="0">
                <a:solidFill>
                  <a:schemeClr val="dk1"/>
                </a:solidFill>
              </a:rPr>
              <a:t>Encryption</a:t>
            </a:r>
            <a:r>
              <a:rPr lang="en-US" dirty="0">
                <a:solidFill>
                  <a:schemeClr val="dk1"/>
                </a:solidFill>
              </a:rPr>
              <a:t>: keeping transmissions private (data privacy)</a:t>
            </a:r>
            <a:endParaRPr dirty="0">
              <a:solidFill>
                <a:schemeClr val="dk1"/>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8"/>
        <p:cNvGrpSpPr/>
        <p:nvPr/>
      </p:nvGrpSpPr>
      <p:grpSpPr>
        <a:xfrm>
          <a:off x="0" y="0"/>
          <a:ext cx="0" cy="0"/>
          <a:chOff x="0" y="0"/>
          <a:chExt cx="0" cy="0"/>
        </a:xfrm>
      </p:grpSpPr>
      <p:sp>
        <p:nvSpPr>
          <p:cNvPr id="779" name="Google Shape;779;p80"/>
          <p:cNvSpPr/>
          <p:nvPr/>
        </p:nvSpPr>
        <p:spPr>
          <a:xfrm>
            <a:off x="9625" y="0"/>
            <a:ext cx="12192000" cy="633431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0" name="Google Shape;780;p80"/>
          <p:cNvSpPr txBox="1">
            <a:spLocks noGrp="1"/>
          </p:cNvSpPr>
          <p:nvPr>
            <p:ph type="title"/>
          </p:nvPr>
        </p:nvSpPr>
        <p:spPr>
          <a:xfrm>
            <a:off x="5144679" y="634946"/>
            <a:ext cx="6405063"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Arial"/>
              <a:buNone/>
            </a:pPr>
            <a:r>
              <a:rPr lang="en-US"/>
              <a:t>Wi-Fi</a:t>
            </a:r>
            <a:endParaRPr/>
          </a:p>
        </p:txBody>
      </p:sp>
      <p:cxnSp>
        <p:nvCxnSpPr>
          <p:cNvPr id="781" name="Google Shape;781;p80"/>
          <p:cNvCxnSpPr/>
          <p:nvPr/>
        </p:nvCxnSpPr>
        <p:spPr>
          <a:xfrm>
            <a:off x="5181247" y="2086188"/>
            <a:ext cx="5852160" cy="0"/>
          </a:xfrm>
          <a:prstGeom prst="straightConnector1">
            <a:avLst/>
          </a:prstGeom>
          <a:noFill/>
          <a:ln w="9525" cap="flat" cmpd="sng">
            <a:solidFill>
              <a:srgbClr val="7F7F7F">
                <a:alpha val="89411"/>
              </a:srgbClr>
            </a:solidFill>
            <a:prstDash val="solid"/>
            <a:round/>
            <a:headEnd type="none" w="sm" len="sm"/>
            <a:tailEnd type="none" w="sm" len="sm"/>
          </a:ln>
        </p:spPr>
      </p:cxnSp>
      <p:pic>
        <p:nvPicPr>
          <p:cNvPr id="782" name="Google Shape;782;p80" descr="A picture containing clipart&#10;&#10;Description automatically generated">
            <a:hlinkClick r:id="rId3"/>
          </p:cNvPr>
          <p:cNvPicPr preferRelativeResize="0"/>
          <p:nvPr/>
        </p:nvPicPr>
        <p:blipFill rotWithShape="1">
          <a:blip r:embed="rId4">
            <a:alphaModFix/>
          </a:blip>
          <a:srcRect/>
          <a:stretch/>
        </p:blipFill>
        <p:spPr>
          <a:xfrm>
            <a:off x="1117507" y="3218101"/>
            <a:ext cx="3053280" cy="2476136"/>
          </a:xfrm>
          <a:prstGeom prst="rect">
            <a:avLst/>
          </a:prstGeom>
          <a:noFill/>
          <a:ln>
            <a:noFill/>
          </a:ln>
        </p:spPr>
      </p:pic>
      <p:sp>
        <p:nvSpPr>
          <p:cNvPr id="783" name="Google Shape;783;p80"/>
          <p:cNvSpPr txBox="1">
            <a:spLocks noGrp="1"/>
          </p:cNvSpPr>
          <p:nvPr>
            <p:ph type="body" idx="1"/>
          </p:nvPr>
        </p:nvSpPr>
        <p:spPr>
          <a:xfrm>
            <a:off x="5144679" y="2198914"/>
            <a:ext cx="6405063" cy="3670180"/>
          </a:xfrm>
          <a:prstGeom prst="rect">
            <a:avLst/>
          </a:prstGeom>
          <a:noFill/>
          <a:ln>
            <a:noFill/>
          </a:ln>
        </p:spPr>
        <p:txBody>
          <a:bodyPr spcFirstLastPara="1" wrap="square" lIns="0" tIns="45700" rIns="0" bIns="45700" anchor="t" anchorCtr="0">
            <a:normAutofit/>
          </a:bodyPr>
          <a:lstStyle/>
          <a:p>
            <a:pPr marL="0" lvl="0" indent="0" algn="l" rtl="0">
              <a:lnSpc>
                <a:spcPct val="90000"/>
              </a:lnSpc>
              <a:spcBef>
                <a:spcPts val="0"/>
              </a:spcBef>
              <a:spcAft>
                <a:spcPts val="0"/>
              </a:spcAft>
              <a:buSzPts val="2000"/>
              <a:buNone/>
            </a:pPr>
            <a:r>
              <a:rPr lang="en-US" dirty="0">
                <a:solidFill>
                  <a:srgbClr val="7F7F7F"/>
                </a:solidFill>
              </a:rPr>
              <a:t>Wi-Fi or </a:t>
            </a:r>
            <a:r>
              <a:rPr lang="en-US" dirty="0" err="1">
                <a:solidFill>
                  <a:srgbClr val="7F7F7F"/>
                </a:solidFill>
              </a:rPr>
              <a:t>WiFi</a:t>
            </a:r>
            <a:r>
              <a:rPr lang="en-US" dirty="0">
                <a:solidFill>
                  <a:srgbClr val="7F7F7F"/>
                </a:solidFill>
              </a:rPr>
              <a:t>: Wireless Fidelity</a:t>
            </a:r>
            <a:endParaRPr dirty="0"/>
          </a:p>
          <a:p>
            <a:pPr marL="342900">
              <a:spcBef>
                <a:spcPts val="1600"/>
              </a:spcBef>
              <a:buClrTx/>
              <a:buSzPts val="2000"/>
              <a:buFont typeface="Arial" panose="020B0604020202020204" pitchFamily="34" charset="0"/>
              <a:buChar char="•"/>
            </a:pPr>
            <a:r>
              <a:rPr lang="en-US" dirty="0"/>
              <a:t>Family of radio technologies commonly used for WLAN of devices</a:t>
            </a:r>
          </a:p>
          <a:p>
            <a:pPr marL="342900">
              <a:spcBef>
                <a:spcPts val="1600"/>
              </a:spcBef>
              <a:buClrTx/>
              <a:buSzPts val="2000"/>
              <a:buFont typeface="Arial" panose="020B0604020202020204" pitchFamily="34" charset="0"/>
              <a:buChar char="•"/>
            </a:pPr>
            <a:r>
              <a:rPr lang="en-US" dirty="0"/>
              <a:t>Based on the Institute of Electrical and Electronics Engineers’ (IEEE) 802.11 family of standards</a:t>
            </a:r>
          </a:p>
          <a:p>
            <a:pPr marL="342900">
              <a:spcBef>
                <a:spcPts val="1600"/>
              </a:spcBef>
              <a:buClrTx/>
              <a:buSzPts val="2000"/>
              <a:buFont typeface="Arial" panose="020B0604020202020204" pitchFamily="34" charset="0"/>
              <a:buChar char="•"/>
            </a:pPr>
            <a:r>
              <a:rPr lang="en-US" dirty="0"/>
              <a:t>Trademark of the Wi-Fi Alliance, a non-profit organisation that promotes the technology and certify products that conforms to certain standards of interoperability</a:t>
            </a:r>
            <a:endParaRPr dirty="0"/>
          </a:p>
        </p:txBody>
      </p:sp>
      <p:sp>
        <p:nvSpPr>
          <p:cNvPr id="784" name="Google Shape;784;p80"/>
          <p:cNvSpPr/>
          <p:nvPr/>
        </p:nvSpPr>
        <p:spPr>
          <a:xfrm>
            <a:off x="15" y="6334316"/>
            <a:ext cx="12191985" cy="66484"/>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5" name="Google Shape;785;p80"/>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86" name="Google Shape;786;p80" descr="Wi-Fi"/>
          <p:cNvPicPr preferRelativeResize="0"/>
          <p:nvPr/>
        </p:nvPicPr>
        <p:blipFill rotWithShape="1">
          <a:blip r:embed="rId5">
            <a:alphaModFix/>
          </a:blip>
          <a:srcRect/>
          <a:stretch/>
        </p:blipFill>
        <p:spPr>
          <a:xfrm>
            <a:off x="1414366" y="634946"/>
            <a:ext cx="2474686" cy="2474686"/>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8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WEP</a:t>
            </a:r>
            <a:endParaRPr/>
          </a:p>
        </p:txBody>
      </p:sp>
      <p:sp>
        <p:nvSpPr>
          <p:cNvPr id="792" name="Google Shape;792;p81"/>
          <p:cNvSpPr txBox="1">
            <a:spLocks noGrp="1"/>
          </p:cNvSpPr>
          <p:nvPr>
            <p:ph type="body" idx="1"/>
          </p:nvPr>
        </p:nvSpPr>
        <p:spPr>
          <a:xfrm>
            <a:off x="1241658" y="1845735"/>
            <a:ext cx="5650029" cy="4023360"/>
          </a:xfrm>
          <a:prstGeom prst="rect">
            <a:avLst/>
          </a:prstGeom>
          <a:noFill/>
          <a:ln>
            <a:noFill/>
          </a:ln>
        </p:spPr>
        <p:txBody>
          <a:bodyPr spcFirstLastPara="1" wrap="square" lIns="0" tIns="45700" rIns="0" bIns="45700" anchor="t" anchorCtr="0">
            <a:noAutofit/>
          </a:bodyPr>
          <a:lstStyle/>
          <a:p>
            <a:pPr marL="0" lvl="0" indent="0" algn="l" rtl="0">
              <a:lnSpc>
                <a:spcPct val="150000"/>
              </a:lnSpc>
              <a:spcBef>
                <a:spcPts val="0"/>
              </a:spcBef>
              <a:spcAft>
                <a:spcPts val="0"/>
              </a:spcAft>
              <a:buSzPts val="2000"/>
              <a:buNone/>
            </a:pPr>
            <a:r>
              <a:rPr lang="en-US" dirty="0">
                <a:solidFill>
                  <a:srgbClr val="7F7F7F"/>
                </a:solidFill>
              </a:rPr>
              <a:t>WEP: Wired Equivalent Privacy</a:t>
            </a:r>
            <a:endParaRPr dirty="0"/>
          </a:p>
          <a:p>
            <a:pPr marL="800100" lvl="1">
              <a:lnSpc>
                <a:spcPct val="150000"/>
              </a:lnSpc>
              <a:buClrTx/>
              <a:buSzPts val="2000"/>
              <a:buFont typeface="Arial" panose="020B0604020202020204" pitchFamily="34" charset="0"/>
              <a:buChar char="•"/>
            </a:pPr>
            <a:r>
              <a:rPr lang="en-US" dirty="0"/>
              <a:t>Original encryption method in 802.11 protocol</a:t>
            </a:r>
          </a:p>
          <a:p>
            <a:pPr marL="800100" lvl="1">
              <a:lnSpc>
                <a:spcPct val="150000"/>
              </a:lnSpc>
              <a:buClrTx/>
              <a:buSzPts val="2000"/>
              <a:buFont typeface="Arial" panose="020B0604020202020204" pitchFamily="34" charset="0"/>
              <a:buChar char="•"/>
            </a:pPr>
            <a:r>
              <a:rPr lang="en-US" dirty="0"/>
              <a:t>Known to have weaknesses and can be easily cracked</a:t>
            </a:r>
            <a:endParaRPr dirty="0"/>
          </a:p>
          <a:p>
            <a:pPr marL="0" lvl="0" indent="0" algn="l" rtl="0">
              <a:lnSpc>
                <a:spcPct val="150000"/>
              </a:lnSpc>
              <a:spcBef>
                <a:spcPts val="200"/>
              </a:spcBef>
              <a:spcAft>
                <a:spcPts val="0"/>
              </a:spcAft>
              <a:buSzPts val="2000"/>
              <a:buNone/>
            </a:pPr>
            <a:r>
              <a:rPr lang="en-US" u="sng" dirty="0">
                <a:solidFill>
                  <a:schemeClr val="hlink"/>
                </a:solidFill>
                <a:hlinkClick r:id="rId3"/>
              </a:rPr>
              <a:t>2001: Exploit published by cryptographers</a:t>
            </a:r>
            <a:endParaRPr dirty="0"/>
          </a:p>
          <a:p>
            <a:pPr marL="0" lvl="0" indent="0" algn="l" rtl="0">
              <a:lnSpc>
                <a:spcPct val="150000"/>
              </a:lnSpc>
              <a:spcBef>
                <a:spcPts val="200"/>
              </a:spcBef>
              <a:spcAft>
                <a:spcPts val="200"/>
              </a:spcAft>
              <a:buSzPts val="2000"/>
              <a:buNone/>
            </a:pPr>
            <a:r>
              <a:rPr lang="en-US" dirty="0"/>
              <a:t>2003: Superseded by WPA</a:t>
            </a:r>
            <a:endParaRPr dirty="0"/>
          </a:p>
        </p:txBody>
      </p:sp>
      <p:pic>
        <p:nvPicPr>
          <p:cNvPr id="793" name="Google Shape;793;p81"/>
          <p:cNvPicPr preferRelativeResize="0"/>
          <p:nvPr/>
        </p:nvPicPr>
        <p:blipFill rotWithShape="1">
          <a:blip r:embed="rId4">
            <a:alphaModFix/>
          </a:blip>
          <a:srcRect/>
          <a:stretch/>
        </p:blipFill>
        <p:spPr>
          <a:xfrm>
            <a:off x="6891687" y="2474249"/>
            <a:ext cx="4832944" cy="2766332"/>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8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WPA</a:t>
            </a:r>
            <a:endParaRPr/>
          </a:p>
        </p:txBody>
      </p:sp>
      <p:sp>
        <p:nvSpPr>
          <p:cNvPr id="799" name="Google Shape;799;p82"/>
          <p:cNvSpPr txBox="1">
            <a:spLocks noGrp="1"/>
          </p:cNvSpPr>
          <p:nvPr>
            <p:ph type="body" idx="1"/>
          </p:nvPr>
        </p:nvSpPr>
        <p:spPr>
          <a:xfrm>
            <a:off x="1270535" y="1737360"/>
            <a:ext cx="10058400" cy="4023360"/>
          </a:xfrm>
          <a:prstGeom prst="rect">
            <a:avLst/>
          </a:prstGeom>
          <a:noFill/>
          <a:ln>
            <a:noFill/>
          </a:ln>
        </p:spPr>
        <p:txBody>
          <a:bodyPr spcFirstLastPara="1" wrap="square" lIns="0" tIns="45700" rIns="0" bIns="45700" anchor="t" anchorCtr="0">
            <a:noAutofit/>
          </a:bodyPr>
          <a:lstStyle/>
          <a:p>
            <a:pPr marL="0" lvl="0" indent="0" algn="l" rtl="0">
              <a:lnSpc>
                <a:spcPct val="200000"/>
              </a:lnSpc>
              <a:spcBef>
                <a:spcPts val="0"/>
              </a:spcBef>
              <a:spcAft>
                <a:spcPts val="0"/>
              </a:spcAft>
              <a:buSzPts val="2000"/>
              <a:buNone/>
            </a:pPr>
            <a:r>
              <a:rPr lang="en-US" dirty="0">
                <a:solidFill>
                  <a:srgbClr val="7F7F7F"/>
                </a:solidFill>
              </a:rPr>
              <a:t>WPA: Wireless Protected Access</a:t>
            </a:r>
            <a:endParaRPr dirty="0"/>
          </a:p>
          <a:p>
            <a:pPr marL="0" lvl="0" indent="0" algn="l" rtl="0">
              <a:lnSpc>
                <a:spcPct val="200000"/>
              </a:lnSpc>
              <a:spcBef>
                <a:spcPts val="200"/>
              </a:spcBef>
              <a:spcAft>
                <a:spcPts val="0"/>
              </a:spcAft>
              <a:buSzPts val="2000"/>
              <a:buNone/>
            </a:pPr>
            <a:r>
              <a:rPr lang="en-US" dirty="0"/>
              <a:t>Security protocols to secure wireless computer networks</a:t>
            </a:r>
          </a:p>
          <a:p>
            <a:pPr marL="800100" lvl="1">
              <a:lnSpc>
                <a:spcPct val="200000"/>
              </a:lnSpc>
              <a:buClrTx/>
              <a:buSzPct val="100000"/>
              <a:buFont typeface="Arial" panose="020B0604020202020204" pitchFamily="34" charset="0"/>
              <a:buChar char="•"/>
            </a:pPr>
            <a:r>
              <a:rPr lang="en-US" dirty="0"/>
              <a:t>WPA: Introduced </a:t>
            </a:r>
            <a:r>
              <a:rPr lang="en-US" i="1" dirty="0"/>
              <a:t>TKIP (Temporal Key Integrity Protocol)</a:t>
            </a:r>
          </a:p>
          <a:p>
            <a:pPr marL="800100" lvl="1">
              <a:lnSpc>
                <a:spcPct val="200000"/>
              </a:lnSpc>
              <a:buClrTx/>
              <a:buSzPct val="100000"/>
              <a:buFont typeface="Arial" panose="020B0604020202020204" pitchFamily="34" charset="0"/>
              <a:buChar char="•"/>
            </a:pPr>
            <a:r>
              <a:rPr lang="en-US" dirty="0"/>
              <a:t>WPA2: Mandated </a:t>
            </a:r>
            <a:r>
              <a:rPr lang="en-US" i="1" dirty="0"/>
              <a:t>AES (Advanced Encryption Standard)</a:t>
            </a:r>
            <a:r>
              <a:rPr lang="en-US" dirty="0"/>
              <a:t>-based encryption mode</a:t>
            </a:r>
          </a:p>
          <a:p>
            <a:pPr marL="800100" lvl="1">
              <a:lnSpc>
                <a:spcPct val="200000"/>
              </a:lnSpc>
              <a:buClrTx/>
              <a:buSzPct val="100000"/>
              <a:buFont typeface="Arial" panose="020B0604020202020204" pitchFamily="34" charset="0"/>
              <a:buChar char="•"/>
            </a:pPr>
            <a:r>
              <a:rPr lang="en-US" dirty="0"/>
              <a:t>WPA3: </a:t>
            </a:r>
            <a:r>
              <a:rPr lang="en-US" i="1" dirty="0"/>
              <a:t>Encrypts</a:t>
            </a:r>
            <a:r>
              <a:rPr lang="en-US" dirty="0"/>
              <a:t> each individual device connection to an </a:t>
            </a:r>
            <a:r>
              <a:rPr lang="en-US" i="1" dirty="0"/>
              <a:t>unsecured access point</a:t>
            </a:r>
            <a:endParaRPr i="1"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8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WLAN Authentication</a:t>
            </a:r>
            <a:endParaRPr/>
          </a:p>
        </p:txBody>
      </p:sp>
      <p:sp>
        <p:nvSpPr>
          <p:cNvPr id="805" name="Google Shape;805;p83"/>
          <p:cNvSpPr txBox="1">
            <a:spLocks noGrp="1"/>
          </p:cNvSpPr>
          <p:nvPr>
            <p:ph type="body" idx="1"/>
          </p:nvPr>
        </p:nvSpPr>
        <p:spPr>
          <a:xfrm>
            <a:off x="1289786" y="1739856"/>
            <a:ext cx="10058400" cy="4023360"/>
          </a:xfrm>
          <a:prstGeom prst="rect">
            <a:avLst/>
          </a:prstGeom>
          <a:noFill/>
          <a:ln>
            <a:noFill/>
          </a:ln>
        </p:spPr>
        <p:txBody>
          <a:bodyPr spcFirstLastPara="1" wrap="square" lIns="0" tIns="45700" rIns="0" bIns="45700" anchor="t" anchorCtr="0">
            <a:noAutofit/>
          </a:bodyPr>
          <a:lstStyle/>
          <a:p>
            <a:pPr marL="0" lvl="0" indent="0" algn="l" rtl="0">
              <a:lnSpc>
                <a:spcPct val="150000"/>
              </a:lnSpc>
              <a:spcBef>
                <a:spcPts val="0"/>
              </a:spcBef>
              <a:spcAft>
                <a:spcPts val="0"/>
              </a:spcAft>
              <a:buSzPts val="2000"/>
              <a:buNone/>
            </a:pPr>
            <a:r>
              <a:rPr lang="en-US" dirty="0">
                <a:solidFill>
                  <a:srgbClr val="7F7F7F"/>
                </a:solidFill>
              </a:rPr>
              <a:t>AP: Access Point</a:t>
            </a:r>
            <a:endParaRPr dirty="0"/>
          </a:p>
          <a:p>
            <a:pPr marL="800100" lvl="1">
              <a:lnSpc>
                <a:spcPct val="150000"/>
              </a:lnSpc>
              <a:buClrTx/>
              <a:buSzPct val="100000"/>
              <a:buFont typeface="Arial" panose="020B0604020202020204" pitchFamily="34" charset="0"/>
              <a:buChar char="•"/>
            </a:pPr>
            <a:r>
              <a:rPr lang="en-US" dirty="0"/>
              <a:t>Wireless clients must be authenticated before being associated with an AP</a:t>
            </a:r>
          </a:p>
          <a:p>
            <a:pPr marL="800100" lvl="1">
              <a:lnSpc>
                <a:spcPct val="150000"/>
              </a:lnSpc>
              <a:buClrTx/>
              <a:buSzPct val="100000"/>
              <a:buFont typeface="Arial" panose="020B0604020202020204" pitchFamily="34" charset="0"/>
              <a:buChar char="•"/>
            </a:pPr>
            <a:r>
              <a:rPr lang="en-US" dirty="0"/>
              <a:t>Authentication is the process which wireless client has its identity verified by the AP</a:t>
            </a:r>
            <a:endParaRPr dirty="0"/>
          </a:p>
          <a:p>
            <a:pPr marL="0" lvl="0" indent="0" algn="l" rtl="0">
              <a:lnSpc>
                <a:spcPct val="150000"/>
              </a:lnSpc>
              <a:spcBef>
                <a:spcPts val="1600"/>
              </a:spcBef>
              <a:spcAft>
                <a:spcPts val="0"/>
              </a:spcAft>
              <a:buSzPts val="2000"/>
              <a:buNone/>
            </a:pPr>
            <a:r>
              <a:rPr lang="en-US" b="1" dirty="0"/>
              <a:t>Authentication Methods</a:t>
            </a:r>
            <a:endParaRPr dirty="0"/>
          </a:p>
          <a:p>
            <a:pPr marL="800100" lvl="1">
              <a:lnSpc>
                <a:spcPct val="100000"/>
              </a:lnSpc>
              <a:spcBef>
                <a:spcPts val="1600"/>
              </a:spcBef>
              <a:buClrTx/>
              <a:buSzPct val="100000"/>
              <a:buFont typeface="Arial" panose="020B0604020202020204" pitchFamily="34" charset="0"/>
              <a:buChar char="•"/>
            </a:pPr>
            <a:r>
              <a:rPr lang="en-US" dirty="0"/>
              <a:t>Open System Authentication</a:t>
            </a:r>
          </a:p>
          <a:p>
            <a:pPr marL="800100" lvl="1">
              <a:lnSpc>
                <a:spcPct val="100000"/>
              </a:lnSpc>
              <a:spcBef>
                <a:spcPts val="1600"/>
              </a:spcBef>
              <a:buClrTx/>
              <a:buSzPct val="100000"/>
              <a:buFont typeface="Arial" panose="020B0604020202020204" pitchFamily="34" charset="0"/>
              <a:buChar char="•"/>
            </a:pPr>
            <a:r>
              <a:rPr lang="en-US" dirty="0"/>
              <a:t>Shared Key Authentication</a:t>
            </a:r>
          </a:p>
          <a:p>
            <a:pPr marL="800100" lvl="1">
              <a:lnSpc>
                <a:spcPct val="100000"/>
              </a:lnSpc>
              <a:spcBef>
                <a:spcPts val="1600"/>
              </a:spcBef>
              <a:buClrTx/>
              <a:buSzPct val="100000"/>
              <a:buFont typeface="Arial" panose="020B0604020202020204" pitchFamily="34" charset="0"/>
              <a:buChar char="•"/>
            </a:pPr>
            <a:r>
              <a:rPr lang="en-US" dirty="0"/>
              <a:t>802.1x</a:t>
            </a:r>
            <a:endParaRPr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p8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WLAN Security Threats</a:t>
            </a:r>
            <a:endParaRPr/>
          </a:p>
        </p:txBody>
      </p:sp>
      <p:sp>
        <p:nvSpPr>
          <p:cNvPr id="811" name="Google Shape;811;p84"/>
          <p:cNvSpPr txBox="1">
            <a:spLocks noGrp="1"/>
          </p:cNvSpPr>
          <p:nvPr>
            <p:ph type="body" idx="1"/>
          </p:nvPr>
        </p:nvSpPr>
        <p:spPr>
          <a:xfrm>
            <a:off x="1212783" y="1845734"/>
            <a:ext cx="10058400" cy="4023360"/>
          </a:xfrm>
          <a:prstGeom prst="rect">
            <a:avLst/>
          </a:prstGeom>
          <a:noFill/>
          <a:ln>
            <a:noFill/>
          </a:ln>
        </p:spPr>
        <p:txBody>
          <a:bodyPr spcFirstLastPara="1" wrap="square" lIns="0" tIns="45700" rIns="0" bIns="45700" anchor="t" anchorCtr="0">
            <a:noAutofit/>
          </a:bodyPr>
          <a:lstStyle/>
          <a:p>
            <a:pPr marL="0" lvl="0" indent="0" algn="l" rtl="0">
              <a:lnSpc>
                <a:spcPct val="150000"/>
              </a:lnSpc>
              <a:spcBef>
                <a:spcPts val="0"/>
              </a:spcBef>
              <a:spcAft>
                <a:spcPts val="0"/>
              </a:spcAft>
              <a:buSzPts val="2000"/>
              <a:buNone/>
            </a:pPr>
            <a:r>
              <a:rPr lang="en-US" b="1" dirty="0"/>
              <a:t>Threats</a:t>
            </a:r>
            <a:endParaRPr sz="1800" b="1" dirty="0"/>
          </a:p>
          <a:p>
            <a:pPr lvl="1" indent="-457200">
              <a:lnSpc>
                <a:spcPct val="150000"/>
              </a:lnSpc>
              <a:buClrTx/>
              <a:buSzPct val="100000"/>
              <a:buFont typeface="+mj-lt"/>
              <a:buAutoNum type="arabicPeriod"/>
            </a:pPr>
            <a:r>
              <a:rPr lang="en-US" dirty="0"/>
              <a:t>Hardware Theft</a:t>
            </a:r>
          </a:p>
          <a:p>
            <a:pPr lvl="1" indent="-457200">
              <a:lnSpc>
                <a:spcPct val="150000"/>
              </a:lnSpc>
              <a:buClrTx/>
              <a:buSzPct val="100000"/>
              <a:buFont typeface="+mj-lt"/>
              <a:buAutoNum type="arabicPeriod"/>
            </a:pPr>
            <a:r>
              <a:rPr lang="en-US" dirty="0"/>
              <a:t>AP Impersonation (Rogue APs, Evil Twin)</a:t>
            </a:r>
          </a:p>
          <a:p>
            <a:pPr lvl="1" indent="-457200">
              <a:lnSpc>
                <a:spcPct val="150000"/>
              </a:lnSpc>
              <a:buClrTx/>
              <a:buSzPct val="100000"/>
              <a:buFont typeface="+mj-lt"/>
              <a:buAutoNum type="arabicPeriod"/>
            </a:pPr>
            <a:r>
              <a:rPr lang="en-US" dirty="0"/>
              <a:t>Passive Monitoring</a:t>
            </a:r>
          </a:p>
          <a:p>
            <a:pPr lvl="1" indent="-457200">
              <a:lnSpc>
                <a:spcPct val="150000"/>
              </a:lnSpc>
              <a:buClrTx/>
              <a:buSzPct val="100000"/>
              <a:buFont typeface="+mj-lt"/>
              <a:buAutoNum type="arabicPeriod"/>
            </a:pPr>
            <a:r>
              <a:rPr lang="en-US" dirty="0"/>
              <a:t>Denial of Service</a:t>
            </a:r>
          </a:p>
          <a:p>
            <a:pPr lvl="1" indent="-457200">
              <a:lnSpc>
                <a:spcPct val="150000"/>
              </a:lnSpc>
              <a:buClrTx/>
              <a:buSzPct val="100000"/>
              <a:buFont typeface="+mj-lt"/>
              <a:buAutoNum type="arabicPeriod"/>
            </a:pPr>
            <a:r>
              <a:rPr lang="en-US" dirty="0"/>
              <a:t>Ad Hoc Network</a:t>
            </a:r>
            <a:endParaRPr dirty="0"/>
          </a:p>
        </p:txBody>
      </p:sp>
      <p:pic>
        <p:nvPicPr>
          <p:cNvPr id="812" name="Google Shape;812;p84"/>
          <p:cNvPicPr preferRelativeResize="0"/>
          <p:nvPr/>
        </p:nvPicPr>
        <p:blipFill rotWithShape="1">
          <a:blip r:embed="rId3">
            <a:alphaModFix/>
          </a:blip>
          <a:srcRect/>
          <a:stretch/>
        </p:blipFill>
        <p:spPr>
          <a:xfrm>
            <a:off x="4691391" y="3807934"/>
            <a:ext cx="3101184" cy="2056220"/>
          </a:xfrm>
          <a:prstGeom prst="rect">
            <a:avLst/>
          </a:prstGeom>
          <a:noFill/>
          <a:ln>
            <a:noFill/>
          </a:ln>
        </p:spPr>
      </p:pic>
      <p:pic>
        <p:nvPicPr>
          <p:cNvPr id="813" name="Google Shape;813;p84" descr="Wi-Fi"/>
          <p:cNvPicPr preferRelativeResize="0"/>
          <p:nvPr/>
        </p:nvPicPr>
        <p:blipFill rotWithShape="1">
          <a:blip r:embed="rId4">
            <a:alphaModFix/>
          </a:blip>
          <a:srcRect/>
          <a:stretch/>
        </p:blipFill>
        <p:spPr>
          <a:xfrm>
            <a:off x="7657625" y="1394711"/>
            <a:ext cx="3310709" cy="3310709"/>
          </a:xfrm>
          <a:prstGeom prst="rect">
            <a:avLst/>
          </a:prstGeom>
          <a:noFill/>
          <a:ln>
            <a:noFill/>
          </a:ln>
        </p:spPr>
      </p:pic>
      <p:pic>
        <p:nvPicPr>
          <p:cNvPr id="814" name="Google Shape;814;p84" descr="Devil face with solid fill"/>
          <p:cNvPicPr preferRelativeResize="0"/>
          <p:nvPr/>
        </p:nvPicPr>
        <p:blipFill rotWithShape="1">
          <a:blip r:embed="rId5">
            <a:alphaModFix/>
          </a:blip>
          <a:srcRect/>
          <a:stretch/>
        </p:blipFill>
        <p:spPr>
          <a:xfrm>
            <a:off x="8855780" y="4018420"/>
            <a:ext cx="914400" cy="91440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8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WLAN Security Threats</a:t>
            </a:r>
            <a:endParaRPr/>
          </a:p>
        </p:txBody>
      </p:sp>
      <p:sp>
        <p:nvSpPr>
          <p:cNvPr id="820" name="Google Shape;820;p85"/>
          <p:cNvSpPr txBox="1">
            <a:spLocks noGrp="1"/>
          </p:cNvSpPr>
          <p:nvPr>
            <p:ph type="body" idx="1"/>
          </p:nvPr>
        </p:nvSpPr>
        <p:spPr>
          <a:xfrm>
            <a:off x="1097280" y="1730234"/>
            <a:ext cx="10058400" cy="4023360"/>
          </a:xfrm>
          <a:prstGeom prst="rect">
            <a:avLst/>
          </a:prstGeom>
          <a:noFill/>
          <a:ln>
            <a:noFill/>
          </a:ln>
        </p:spPr>
        <p:txBody>
          <a:bodyPr spcFirstLastPara="1" wrap="square" lIns="0" tIns="45700" rIns="0" bIns="45700" anchor="t" anchorCtr="0">
            <a:noAutofit/>
          </a:bodyPr>
          <a:lstStyle/>
          <a:p>
            <a:pPr marL="201163" lvl="1" indent="0" algn="l" rtl="0">
              <a:lnSpc>
                <a:spcPct val="150000"/>
              </a:lnSpc>
              <a:spcBef>
                <a:spcPts val="0"/>
              </a:spcBef>
              <a:spcAft>
                <a:spcPts val="0"/>
              </a:spcAft>
              <a:buSzPts val="2000"/>
              <a:buNone/>
            </a:pPr>
            <a:r>
              <a:rPr lang="en-US" sz="2000" b="1" dirty="0"/>
              <a:t>Rogue APs</a:t>
            </a:r>
            <a:endParaRPr lang="en-US" b="1" dirty="0"/>
          </a:p>
          <a:p>
            <a:pPr marL="1001263" lvl="2">
              <a:lnSpc>
                <a:spcPct val="150000"/>
              </a:lnSpc>
              <a:spcBef>
                <a:spcPts val="0"/>
              </a:spcBef>
              <a:buClrTx/>
              <a:buSzPct val="100000"/>
              <a:buFont typeface="Arial" panose="020B0604020202020204" pitchFamily="34" charset="0"/>
              <a:buChar char="•"/>
            </a:pPr>
            <a:r>
              <a:rPr lang="en-US" sz="1800" dirty="0"/>
              <a:t>Hacker’s AP connected to corporate wired-LAN</a:t>
            </a:r>
          </a:p>
          <a:p>
            <a:pPr marL="1001263" lvl="2">
              <a:lnSpc>
                <a:spcPct val="150000"/>
              </a:lnSpc>
              <a:spcBef>
                <a:spcPts val="0"/>
              </a:spcBef>
              <a:buClrTx/>
              <a:buSzPct val="100000"/>
              <a:buFont typeface="Arial" panose="020B0604020202020204" pitchFamily="34" charset="0"/>
              <a:buChar char="•"/>
            </a:pPr>
            <a:r>
              <a:rPr lang="en-US" sz="1800" dirty="0"/>
              <a:t>Bears same SSID, users may unknowingly connect to LAN via it</a:t>
            </a:r>
            <a:endParaRPr sz="1800" dirty="0"/>
          </a:p>
          <a:p>
            <a:pPr marL="201163" lvl="1" indent="0" algn="l" rtl="0">
              <a:lnSpc>
                <a:spcPct val="150000"/>
              </a:lnSpc>
              <a:spcBef>
                <a:spcPts val="1000"/>
              </a:spcBef>
              <a:spcAft>
                <a:spcPts val="0"/>
              </a:spcAft>
              <a:buSzPts val="2000"/>
              <a:buNone/>
            </a:pPr>
            <a:r>
              <a:rPr lang="en-US" sz="2000" b="1" dirty="0"/>
              <a:t>Ad Hoc Networks</a:t>
            </a:r>
            <a:endParaRPr lang="en-US" b="1" dirty="0"/>
          </a:p>
          <a:p>
            <a:pPr marL="1001263" lvl="2">
              <a:lnSpc>
                <a:spcPct val="150000"/>
              </a:lnSpc>
              <a:spcBef>
                <a:spcPts val="1000"/>
              </a:spcBef>
              <a:buClrTx/>
              <a:buSzPct val="100000"/>
              <a:buFont typeface="Arial" panose="020B0604020202020204" pitchFamily="34" charset="0"/>
              <a:buChar char="•"/>
            </a:pPr>
            <a:r>
              <a:rPr lang="en-US" sz="1800" dirty="0"/>
              <a:t>Peer-to-Peer (P2P) between stations without an AP</a:t>
            </a:r>
          </a:p>
          <a:p>
            <a:pPr marL="1001263" lvl="2">
              <a:lnSpc>
                <a:spcPct val="150000"/>
              </a:lnSpc>
              <a:spcBef>
                <a:spcPts val="1000"/>
              </a:spcBef>
              <a:buClrTx/>
              <a:buSzPct val="100000"/>
              <a:buFont typeface="Arial" panose="020B0604020202020204" pitchFamily="34" charset="0"/>
              <a:buChar char="•"/>
            </a:pPr>
            <a:r>
              <a:rPr lang="en-US" sz="1800" dirty="0"/>
              <a:t>No corporate security in place</a:t>
            </a:r>
          </a:p>
          <a:p>
            <a:pPr marL="1001263" lvl="2">
              <a:lnSpc>
                <a:spcPct val="150000"/>
              </a:lnSpc>
              <a:spcBef>
                <a:spcPts val="1000"/>
              </a:spcBef>
              <a:buClrTx/>
              <a:buSzPct val="100000"/>
              <a:buFont typeface="Arial" panose="020B0604020202020204" pitchFamily="34" charset="0"/>
              <a:buChar char="•"/>
            </a:pPr>
            <a:r>
              <a:rPr lang="en-US" sz="1800" dirty="0"/>
              <a:t>May provide an entry if the laptop is also connected to the wired LAN</a:t>
            </a:r>
            <a:endParaRPr sz="18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8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WLAN Security Threats</a:t>
            </a:r>
            <a:endParaRPr/>
          </a:p>
        </p:txBody>
      </p:sp>
      <p:sp>
        <p:nvSpPr>
          <p:cNvPr id="826" name="Google Shape;826;p8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Autofit/>
          </a:bodyPr>
          <a:lstStyle/>
          <a:p>
            <a:pPr marL="201163" lvl="1" indent="0" algn="l" rtl="0">
              <a:lnSpc>
                <a:spcPct val="90000"/>
              </a:lnSpc>
              <a:spcBef>
                <a:spcPts val="0"/>
              </a:spcBef>
              <a:spcAft>
                <a:spcPts val="0"/>
              </a:spcAft>
              <a:buSzPts val="2000"/>
              <a:buNone/>
            </a:pPr>
            <a:r>
              <a:rPr lang="en-US" sz="2000" b="1" dirty="0"/>
              <a:t>Denial of Service</a:t>
            </a:r>
            <a:endParaRPr sz="2000" b="1" dirty="0"/>
          </a:p>
          <a:p>
            <a:pPr marL="1001263" lvl="2">
              <a:spcBef>
                <a:spcPts val="1000"/>
              </a:spcBef>
              <a:buClrTx/>
              <a:buSzPct val="100000"/>
              <a:buFont typeface="Arial" panose="020B0604020202020204" pitchFamily="34" charset="0"/>
              <a:buChar char="•"/>
            </a:pPr>
            <a:r>
              <a:rPr lang="en-US" sz="1800" dirty="0"/>
              <a:t>Jamming the frequency where the WLAN is located to cause an interruption of service</a:t>
            </a:r>
          </a:p>
          <a:p>
            <a:pPr marL="1001263" lvl="2">
              <a:spcBef>
                <a:spcPts val="1000"/>
              </a:spcBef>
              <a:buClrTx/>
              <a:buSzPct val="100000"/>
              <a:buFont typeface="Arial" panose="020B0604020202020204" pitchFamily="34" charset="0"/>
              <a:buChar char="•"/>
            </a:pPr>
            <a:r>
              <a:rPr lang="en-US" sz="1800" dirty="0"/>
              <a:t>Flooding wireless network with probe requests or association frames, making network occupied for normal transmission</a:t>
            </a:r>
            <a:endParaRPr sz="1800" dirty="0"/>
          </a:p>
          <a:p>
            <a:pPr marL="384038" lvl="1" indent="-68576" algn="l" rtl="0">
              <a:lnSpc>
                <a:spcPct val="90000"/>
              </a:lnSpc>
              <a:spcBef>
                <a:spcPts val="1000"/>
              </a:spcBef>
              <a:spcAft>
                <a:spcPts val="0"/>
              </a:spcAft>
              <a:buSzPts val="2000"/>
              <a:buNone/>
            </a:pPr>
            <a:endParaRPr sz="2000" dirty="0"/>
          </a:p>
          <a:p>
            <a:pPr marL="201163" lvl="1" indent="0" algn="l" rtl="0">
              <a:lnSpc>
                <a:spcPct val="90000"/>
              </a:lnSpc>
              <a:spcBef>
                <a:spcPts val="1000"/>
              </a:spcBef>
              <a:spcAft>
                <a:spcPts val="0"/>
              </a:spcAft>
              <a:buSzPts val="2000"/>
              <a:buNone/>
            </a:pPr>
            <a:r>
              <a:rPr lang="en-US" sz="2000" b="1" dirty="0"/>
              <a:t>Passive Attacks</a:t>
            </a:r>
            <a:endParaRPr sz="2000" b="1" dirty="0"/>
          </a:p>
          <a:p>
            <a:pPr marL="1001263" lvl="2">
              <a:spcBef>
                <a:spcPts val="1000"/>
              </a:spcBef>
              <a:buClrTx/>
              <a:buSzPct val="100000"/>
              <a:buFont typeface="Arial" panose="020B0604020202020204" pitchFamily="34" charset="0"/>
              <a:buChar char="•"/>
            </a:pPr>
            <a:r>
              <a:rPr lang="en-US" sz="1800" dirty="0"/>
              <a:t>Gather information to be used in an active attack that a hacker is planning to execute later</a:t>
            </a:r>
          </a:p>
          <a:p>
            <a:pPr marL="1001263" lvl="2">
              <a:spcBef>
                <a:spcPts val="1000"/>
              </a:spcBef>
              <a:buClrTx/>
              <a:buSzPct val="100000"/>
              <a:buFont typeface="Arial" panose="020B0604020202020204" pitchFamily="34" charset="0"/>
              <a:buChar char="•"/>
            </a:pPr>
            <a:r>
              <a:rPr lang="en-US" sz="1800" dirty="0"/>
              <a:t>Wireless sniffing is often used</a:t>
            </a:r>
          </a:p>
          <a:p>
            <a:pPr marL="1001263" lvl="2">
              <a:spcBef>
                <a:spcPts val="1000"/>
              </a:spcBef>
              <a:buClrTx/>
              <a:buSzPct val="100000"/>
              <a:buFont typeface="Arial" panose="020B0604020202020204" pitchFamily="34" charset="0"/>
              <a:buChar char="•"/>
            </a:pPr>
            <a:r>
              <a:rPr lang="en-US" sz="1800" dirty="0"/>
              <a:t>Hacker captures large amounts of raw frames to analyze to discover a key for decryption</a:t>
            </a:r>
            <a:endParaRPr sz="18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8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WLAN Conventional Security Measures</a:t>
            </a:r>
            <a:endParaRPr/>
          </a:p>
        </p:txBody>
      </p:sp>
      <p:sp>
        <p:nvSpPr>
          <p:cNvPr id="832" name="Google Shape;832;p87"/>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Autofit/>
          </a:bodyPr>
          <a:lstStyle/>
          <a:p>
            <a:pPr marL="201163" lvl="1" indent="0" algn="l" rtl="0">
              <a:lnSpc>
                <a:spcPct val="150000"/>
              </a:lnSpc>
              <a:spcBef>
                <a:spcPts val="0"/>
              </a:spcBef>
              <a:spcAft>
                <a:spcPts val="0"/>
              </a:spcAft>
              <a:buSzPts val="2000"/>
              <a:buNone/>
            </a:pPr>
            <a:r>
              <a:rPr lang="en-US" sz="2000" dirty="0"/>
              <a:t>Setting SSID beacon/broadcast to “off” (hidden network)</a:t>
            </a:r>
            <a:endParaRPr dirty="0"/>
          </a:p>
          <a:p>
            <a:pPr marL="201163" lvl="1" indent="0" algn="l" rtl="0">
              <a:lnSpc>
                <a:spcPct val="150000"/>
              </a:lnSpc>
              <a:spcBef>
                <a:spcPts val="400"/>
              </a:spcBef>
              <a:spcAft>
                <a:spcPts val="0"/>
              </a:spcAft>
              <a:buSzPts val="2000"/>
              <a:buNone/>
            </a:pPr>
            <a:r>
              <a:rPr lang="en-US" sz="2000" dirty="0"/>
              <a:t>Access control list with MAC or IP addresses of approved clients</a:t>
            </a:r>
            <a:endParaRPr dirty="0"/>
          </a:p>
          <a:p>
            <a:pPr marL="201163" lvl="1" indent="0" algn="l" rtl="0">
              <a:lnSpc>
                <a:spcPct val="150000"/>
              </a:lnSpc>
              <a:spcBef>
                <a:spcPts val="400"/>
              </a:spcBef>
              <a:spcAft>
                <a:spcPts val="0"/>
              </a:spcAft>
              <a:buSzPts val="2000"/>
              <a:buNone/>
            </a:pPr>
            <a:r>
              <a:rPr lang="en-US" sz="2000" dirty="0"/>
              <a:t>Reduction of transmission power in APs used in WLANs - decreases distance radio waves travel, limit range hackers can pick up signal</a:t>
            </a:r>
            <a:endParaRPr dirty="0"/>
          </a:p>
          <a:p>
            <a:pPr marL="201163" lvl="1" indent="0" algn="l" rtl="0">
              <a:lnSpc>
                <a:spcPct val="150000"/>
              </a:lnSpc>
              <a:spcBef>
                <a:spcPts val="400"/>
              </a:spcBef>
              <a:spcAft>
                <a:spcPts val="0"/>
              </a:spcAft>
              <a:buSzPts val="2000"/>
              <a:buNone/>
            </a:pPr>
            <a:r>
              <a:rPr lang="en-US" sz="2000" dirty="0"/>
              <a:t>Utilise WPA, rather than WEP</a:t>
            </a:r>
            <a:endParaRPr dirty="0"/>
          </a:p>
          <a:p>
            <a:pPr marL="201163" lvl="1" indent="0" algn="l" rtl="0">
              <a:lnSpc>
                <a:spcPct val="150000"/>
              </a:lnSpc>
              <a:spcBef>
                <a:spcPts val="400"/>
              </a:spcBef>
              <a:spcAft>
                <a:spcPts val="0"/>
              </a:spcAft>
              <a:buSzPts val="2000"/>
              <a:buNone/>
            </a:pPr>
            <a:r>
              <a:rPr lang="en-US" sz="2000" dirty="0"/>
              <a:t>128-bit WEP keys rather than 40-bit keys</a:t>
            </a:r>
            <a:endParaRPr dirty="0"/>
          </a:p>
          <a:p>
            <a:pPr marL="201163" lvl="1" indent="0" algn="l" rtl="0">
              <a:lnSpc>
                <a:spcPct val="150000"/>
              </a:lnSpc>
              <a:spcBef>
                <a:spcPts val="400"/>
              </a:spcBef>
              <a:spcAft>
                <a:spcPts val="0"/>
              </a:spcAft>
              <a:buSzPts val="2000"/>
              <a:buNone/>
            </a:pPr>
            <a:r>
              <a:rPr lang="en-US" sz="2000" dirty="0"/>
              <a:t>WPA authentication with TKIP/AES encryption</a:t>
            </a:r>
            <a:endParaRPr sz="2000" dirty="0"/>
          </a:p>
          <a:p>
            <a:pPr marL="342891" lvl="0" indent="-215894" algn="l" rtl="0">
              <a:lnSpc>
                <a:spcPct val="90000"/>
              </a:lnSpc>
              <a:spcBef>
                <a:spcPts val="2000"/>
              </a:spcBef>
              <a:spcAft>
                <a:spcPts val="200"/>
              </a:spcAft>
              <a:buSzPts val="2000"/>
              <a:buNone/>
            </a:pPr>
            <a:endParaRPr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8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What’s Covered So Far…</a:t>
            </a:r>
            <a:endParaRPr/>
          </a:p>
        </p:txBody>
      </p:sp>
      <p:sp>
        <p:nvSpPr>
          <p:cNvPr id="838" name="Google Shape;838;p88"/>
          <p:cNvSpPr txBox="1">
            <a:spLocks noGrp="1"/>
          </p:cNvSpPr>
          <p:nvPr>
            <p:ph type="body" idx="1"/>
          </p:nvPr>
        </p:nvSpPr>
        <p:spPr>
          <a:xfrm>
            <a:off x="1097280" y="1737360"/>
            <a:ext cx="10115203" cy="4114007"/>
          </a:xfrm>
          <a:prstGeom prst="rect">
            <a:avLst/>
          </a:prstGeom>
          <a:noFill/>
          <a:ln>
            <a:noFill/>
          </a:ln>
        </p:spPr>
        <p:txBody>
          <a:bodyPr spcFirstLastPara="1" wrap="square" lIns="0" tIns="45700" rIns="0" bIns="45700" anchor="t" anchorCtr="0">
            <a:noAutofit/>
          </a:bodyPr>
          <a:lstStyle/>
          <a:p>
            <a:pPr marL="91440" lvl="0" indent="-91440" algn="l" rtl="0">
              <a:lnSpc>
                <a:spcPct val="200000"/>
              </a:lnSpc>
              <a:spcBef>
                <a:spcPts val="0"/>
              </a:spcBef>
              <a:spcAft>
                <a:spcPts val="0"/>
              </a:spcAft>
              <a:buSzPts val="2000"/>
              <a:buFont typeface="Noto Sans Symbols"/>
              <a:buChar char="✔"/>
            </a:pPr>
            <a:r>
              <a:rPr lang="en-US" dirty="0"/>
              <a:t> Wireless (WLAN) Security</a:t>
            </a:r>
            <a:endParaRPr dirty="0"/>
          </a:p>
          <a:p>
            <a:pPr marL="91440" lvl="0" indent="-91440" algn="l" rtl="0">
              <a:lnSpc>
                <a:spcPct val="200000"/>
              </a:lnSpc>
              <a:spcBef>
                <a:spcPts val="200"/>
              </a:spcBef>
              <a:spcAft>
                <a:spcPts val="0"/>
              </a:spcAft>
              <a:buSzPts val="2000"/>
              <a:buFont typeface="Noto Sans Symbols"/>
              <a:buChar char="✔"/>
            </a:pPr>
            <a:r>
              <a:rPr lang="en-US" dirty="0"/>
              <a:t> Wi-Fi</a:t>
            </a:r>
            <a:endParaRPr dirty="0"/>
          </a:p>
          <a:p>
            <a:pPr marL="91440" lvl="0" indent="-91440" algn="l" rtl="0">
              <a:lnSpc>
                <a:spcPct val="200000"/>
              </a:lnSpc>
              <a:spcBef>
                <a:spcPts val="200"/>
              </a:spcBef>
              <a:spcAft>
                <a:spcPts val="0"/>
              </a:spcAft>
              <a:buSzPts val="2000"/>
              <a:buFont typeface="Noto Sans Symbols"/>
              <a:buChar char="✔"/>
            </a:pPr>
            <a:r>
              <a:rPr lang="en-US" dirty="0"/>
              <a:t> WEP</a:t>
            </a:r>
            <a:endParaRPr dirty="0"/>
          </a:p>
          <a:p>
            <a:pPr marL="91440" lvl="0" indent="-91440" algn="l" rtl="0">
              <a:lnSpc>
                <a:spcPct val="200000"/>
              </a:lnSpc>
              <a:spcBef>
                <a:spcPts val="200"/>
              </a:spcBef>
              <a:spcAft>
                <a:spcPts val="0"/>
              </a:spcAft>
              <a:buSzPts val="2000"/>
              <a:buFont typeface="Noto Sans Symbols"/>
              <a:buChar char="✔"/>
            </a:pPr>
            <a:r>
              <a:rPr lang="en-US" dirty="0"/>
              <a:t> WPA</a:t>
            </a:r>
            <a:endParaRPr dirty="0"/>
          </a:p>
          <a:p>
            <a:pPr marL="91440" lvl="0" indent="-91440" algn="l" rtl="0">
              <a:lnSpc>
                <a:spcPct val="200000"/>
              </a:lnSpc>
              <a:spcBef>
                <a:spcPts val="200"/>
              </a:spcBef>
              <a:spcAft>
                <a:spcPts val="0"/>
              </a:spcAft>
              <a:buSzPts val="2000"/>
              <a:buFont typeface="Noto Sans Symbols"/>
              <a:buChar char="✔"/>
            </a:pPr>
            <a:r>
              <a:rPr lang="en-US" dirty="0"/>
              <a:t> WLAN Authentication</a:t>
            </a:r>
            <a:endParaRPr dirty="0"/>
          </a:p>
          <a:p>
            <a:pPr marL="91440" lvl="0" indent="-91440" algn="l" rtl="0">
              <a:lnSpc>
                <a:spcPct val="200000"/>
              </a:lnSpc>
              <a:spcBef>
                <a:spcPts val="200"/>
              </a:spcBef>
              <a:spcAft>
                <a:spcPts val="0"/>
              </a:spcAft>
              <a:buSzPts val="2000"/>
              <a:buFont typeface="Noto Sans Symbols"/>
              <a:buChar char="✔"/>
            </a:pPr>
            <a:r>
              <a:rPr lang="en-US" dirty="0"/>
              <a:t> WLAN Security Threats</a:t>
            </a:r>
            <a:endParaRPr dirty="0"/>
          </a:p>
          <a:p>
            <a:pPr marL="91440" lvl="0" indent="-91440" algn="l" rtl="0">
              <a:lnSpc>
                <a:spcPct val="200000"/>
              </a:lnSpc>
              <a:spcBef>
                <a:spcPts val="200"/>
              </a:spcBef>
              <a:spcAft>
                <a:spcPts val="200"/>
              </a:spcAft>
              <a:buSzPts val="2000"/>
              <a:buFont typeface="Noto Sans Symbols"/>
              <a:buChar char="✔"/>
            </a:pPr>
            <a:r>
              <a:rPr lang="en-US" dirty="0"/>
              <a:t> WLAN Conventional Security Measures </a:t>
            </a:r>
            <a:endParaRPr dirty="0"/>
          </a:p>
        </p:txBody>
      </p:sp>
    </p:spTree>
  </p:cSld>
  <p:clrMapOvr>
    <a:masterClrMapping/>
  </p:clrMapOvr>
  <p:transition spd="slow">
    <p:fade thruBlk="1"/>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
          <p:cNvSpPr txBox="1"/>
          <p:nvPr/>
        </p:nvSpPr>
        <p:spPr>
          <a:xfrm>
            <a:off x="3420462" y="2305334"/>
            <a:ext cx="5458899" cy="2744735"/>
          </a:xfrm>
          <a:prstGeom prst="rect">
            <a:avLst/>
          </a:prstGeom>
          <a:noFill/>
          <a:ln>
            <a:noFill/>
          </a:ln>
        </p:spPr>
        <p:txBody>
          <a:bodyPr spcFirstLastPara="1" wrap="square" lIns="45700" tIns="22850" rIns="45700" bIns="22850" anchor="t" anchorCtr="0">
            <a:noAutofit/>
          </a:bodyPr>
          <a:lstStyle/>
          <a:p>
            <a:pPr lvl="0" algn="ctr"/>
            <a:r>
              <a:rPr lang="en-US" sz="6000" b="1" dirty="0"/>
              <a:t>END</a:t>
            </a:r>
            <a:br>
              <a:rPr lang="en-US" sz="6000" dirty="0"/>
            </a:br>
            <a:r>
              <a:rPr lang="en-US" sz="6000" dirty="0"/>
              <a:t>!!! THANK YOU !!!</a:t>
            </a:r>
            <a:endParaRPr sz="900" b="0" i="0" u="none" strike="noStrike" cap="none" dirty="0">
              <a:solidFill>
                <a:schemeClr val="dk1"/>
              </a:solidFill>
              <a:latin typeface="Arial"/>
              <a:ea typeface="Arial"/>
              <a:cs typeface="Arial"/>
              <a:sym typeface="Arial"/>
            </a:endParaRPr>
          </a:p>
        </p:txBody>
      </p:sp>
      <p:grpSp>
        <p:nvGrpSpPr>
          <p:cNvPr id="116" name="Google Shape;116;p1"/>
          <p:cNvGrpSpPr/>
          <p:nvPr/>
        </p:nvGrpSpPr>
        <p:grpSpPr>
          <a:xfrm>
            <a:off x="-58723" y="-41945"/>
            <a:ext cx="12250723" cy="2152185"/>
            <a:chOff x="0" y="-156114"/>
            <a:chExt cx="24535151" cy="4304369"/>
          </a:xfrm>
        </p:grpSpPr>
        <p:sp>
          <p:nvSpPr>
            <p:cNvPr id="117" name="Google Shape;117;p1"/>
            <p:cNvSpPr/>
            <p:nvPr/>
          </p:nvSpPr>
          <p:spPr>
            <a:xfrm>
              <a:off x="23378291" y="2431564"/>
              <a:ext cx="1134322" cy="1716691"/>
            </a:xfrm>
            <a:custGeom>
              <a:avLst/>
              <a:gdLst/>
              <a:ahLst/>
              <a:cxnLst/>
              <a:rect l="l" t="t" r="r" b="b"/>
              <a:pathLst>
                <a:path w="1152" h="1740" extrusionOk="0">
                  <a:moveTo>
                    <a:pt x="0" y="1739"/>
                  </a:moveTo>
                  <a:lnTo>
                    <a:pt x="1151" y="918"/>
                  </a:lnTo>
                  <a:lnTo>
                    <a:pt x="1151" y="0"/>
                  </a:lnTo>
                  <a:lnTo>
                    <a:pt x="0" y="1739"/>
                  </a:lnTo>
                </a:path>
              </a:pathLst>
            </a:custGeom>
            <a:solidFill>
              <a:schemeClr val="accent3"/>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18" name="Google Shape;118;p1"/>
            <p:cNvSpPr/>
            <p:nvPr/>
          </p:nvSpPr>
          <p:spPr>
            <a:xfrm>
              <a:off x="23079220" y="-88970"/>
              <a:ext cx="1455931" cy="4233061"/>
            </a:xfrm>
            <a:custGeom>
              <a:avLst/>
              <a:gdLst/>
              <a:ahLst/>
              <a:cxnLst/>
              <a:rect l="l" t="t" r="r" b="b"/>
              <a:pathLst>
                <a:path w="1479" h="4296" extrusionOk="0">
                  <a:moveTo>
                    <a:pt x="0" y="0"/>
                  </a:moveTo>
                  <a:lnTo>
                    <a:pt x="327" y="4295"/>
                  </a:lnTo>
                  <a:lnTo>
                    <a:pt x="1478" y="2556"/>
                  </a:lnTo>
                  <a:lnTo>
                    <a:pt x="1478" y="0"/>
                  </a:lnTo>
                  <a:lnTo>
                    <a:pt x="0" y="0"/>
                  </a:lnTo>
                </a:path>
              </a:pathLst>
            </a:custGeom>
            <a:solidFill>
              <a:srgbClr val="78E0E6"/>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19" name="Google Shape;119;p1"/>
            <p:cNvSpPr/>
            <p:nvPr/>
          </p:nvSpPr>
          <p:spPr>
            <a:xfrm>
              <a:off x="20776620" y="-88970"/>
              <a:ext cx="2646748" cy="4233061"/>
            </a:xfrm>
            <a:custGeom>
              <a:avLst/>
              <a:gdLst/>
              <a:ahLst/>
              <a:cxnLst/>
              <a:rect l="l" t="t" r="r" b="b"/>
              <a:pathLst>
                <a:path w="2687" h="4296" extrusionOk="0">
                  <a:moveTo>
                    <a:pt x="0" y="0"/>
                  </a:moveTo>
                  <a:lnTo>
                    <a:pt x="2686" y="4295"/>
                  </a:lnTo>
                  <a:lnTo>
                    <a:pt x="2359" y="0"/>
                  </a:lnTo>
                  <a:lnTo>
                    <a:pt x="0" y="0"/>
                  </a:lnTo>
                </a:path>
              </a:pathLst>
            </a:custGeom>
            <a:solidFill>
              <a:schemeClr val="accent3"/>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20" name="Google Shape;120;p1"/>
            <p:cNvSpPr/>
            <p:nvPr/>
          </p:nvSpPr>
          <p:spPr>
            <a:xfrm>
              <a:off x="20420244" y="-88970"/>
              <a:ext cx="3003125" cy="4233061"/>
            </a:xfrm>
            <a:custGeom>
              <a:avLst/>
              <a:gdLst/>
              <a:ahLst/>
              <a:cxnLst/>
              <a:rect l="l" t="t" r="r" b="b"/>
              <a:pathLst>
                <a:path w="3049" h="4296" extrusionOk="0">
                  <a:moveTo>
                    <a:pt x="0" y="0"/>
                  </a:moveTo>
                  <a:lnTo>
                    <a:pt x="43" y="3187"/>
                  </a:lnTo>
                  <a:lnTo>
                    <a:pt x="3048" y="4295"/>
                  </a:lnTo>
                  <a:lnTo>
                    <a:pt x="362" y="0"/>
                  </a:lnTo>
                  <a:lnTo>
                    <a:pt x="0" y="0"/>
                  </a:lnTo>
                </a:path>
              </a:pathLst>
            </a:custGeom>
            <a:solidFill>
              <a:srgbClr val="78E0E6"/>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21" name="Google Shape;121;p1"/>
            <p:cNvSpPr/>
            <p:nvPr/>
          </p:nvSpPr>
          <p:spPr>
            <a:xfrm>
              <a:off x="17677877" y="-88971"/>
              <a:ext cx="2785824" cy="3142198"/>
            </a:xfrm>
            <a:custGeom>
              <a:avLst/>
              <a:gdLst/>
              <a:ahLst/>
              <a:cxnLst/>
              <a:rect l="l" t="t" r="r" b="b"/>
              <a:pathLst>
                <a:path w="2826" h="3188" extrusionOk="0">
                  <a:moveTo>
                    <a:pt x="2126" y="0"/>
                  </a:moveTo>
                  <a:lnTo>
                    <a:pt x="0" y="1954"/>
                  </a:lnTo>
                  <a:lnTo>
                    <a:pt x="2825" y="3187"/>
                  </a:lnTo>
                  <a:lnTo>
                    <a:pt x="2782" y="0"/>
                  </a:lnTo>
                  <a:lnTo>
                    <a:pt x="2126" y="0"/>
                  </a:lnTo>
                </a:path>
              </a:pathLst>
            </a:custGeom>
            <a:solidFill>
              <a:schemeClr val="accent3"/>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22" name="Google Shape;122;p1"/>
            <p:cNvSpPr/>
            <p:nvPr/>
          </p:nvSpPr>
          <p:spPr>
            <a:xfrm>
              <a:off x="17608342" y="-88971"/>
              <a:ext cx="2168684" cy="1925303"/>
            </a:xfrm>
            <a:custGeom>
              <a:avLst/>
              <a:gdLst/>
              <a:ahLst/>
              <a:cxnLst/>
              <a:rect l="l" t="t" r="r" b="b"/>
              <a:pathLst>
                <a:path w="2199" h="1955" extrusionOk="0">
                  <a:moveTo>
                    <a:pt x="0" y="0"/>
                  </a:moveTo>
                  <a:lnTo>
                    <a:pt x="72" y="1954"/>
                  </a:lnTo>
                  <a:lnTo>
                    <a:pt x="2198" y="0"/>
                  </a:lnTo>
                  <a:lnTo>
                    <a:pt x="0" y="0"/>
                  </a:lnTo>
                </a:path>
              </a:pathLst>
            </a:custGeom>
            <a:solidFill>
              <a:srgbClr val="78E0E6"/>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23" name="Google Shape;123;p1"/>
            <p:cNvSpPr/>
            <p:nvPr/>
          </p:nvSpPr>
          <p:spPr>
            <a:xfrm>
              <a:off x="14888519" y="-88734"/>
              <a:ext cx="2811899" cy="1925303"/>
            </a:xfrm>
            <a:custGeom>
              <a:avLst/>
              <a:gdLst/>
              <a:ahLst/>
              <a:cxnLst/>
              <a:rect l="l" t="t" r="r" b="b"/>
              <a:pathLst>
                <a:path w="2852" h="1955" extrusionOk="0">
                  <a:moveTo>
                    <a:pt x="0" y="0"/>
                  </a:moveTo>
                  <a:lnTo>
                    <a:pt x="2851" y="1954"/>
                  </a:lnTo>
                  <a:lnTo>
                    <a:pt x="2779" y="0"/>
                  </a:lnTo>
                  <a:lnTo>
                    <a:pt x="0" y="0"/>
                  </a:lnTo>
                </a:path>
              </a:pathLst>
            </a:custGeom>
            <a:solidFill>
              <a:schemeClr val="accent3"/>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24" name="Google Shape;124;p1"/>
            <p:cNvSpPr/>
            <p:nvPr/>
          </p:nvSpPr>
          <p:spPr>
            <a:xfrm>
              <a:off x="13589856" y="-88970"/>
              <a:ext cx="4137447" cy="3520308"/>
            </a:xfrm>
            <a:custGeom>
              <a:avLst/>
              <a:gdLst/>
              <a:ahLst/>
              <a:cxnLst/>
              <a:rect l="l" t="t" r="r" b="b"/>
              <a:pathLst>
                <a:path w="4196" h="3572" extrusionOk="0">
                  <a:moveTo>
                    <a:pt x="0" y="0"/>
                  </a:moveTo>
                  <a:lnTo>
                    <a:pt x="1886" y="3571"/>
                  </a:lnTo>
                  <a:lnTo>
                    <a:pt x="4195" y="1954"/>
                  </a:lnTo>
                  <a:lnTo>
                    <a:pt x="1344" y="0"/>
                  </a:lnTo>
                  <a:lnTo>
                    <a:pt x="0" y="0"/>
                  </a:lnTo>
                </a:path>
              </a:pathLst>
            </a:custGeom>
            <a:solidFill>
              <a:srgbClr val="78E0E6"/>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25" name="Google Shape;125;p1"/>
            <p:cNvSpPr/>
            <p:nvPr/>
          </p:nvSpPr>
          <p:spPr>
            <a:xfrm>
              <a:off x="11104147" y="-111272"/>
              <a:ext cx="4346058" cy="3520308"/>
            </a:xfrm>
            <a:custGeom>
              <a:avLst/>
              <a:gdLst/>
              <a:ahLst/>
              <a:cxnLst/>
              <a:rect l="l" t="t" r="r" b="b"/>
              <a:pathLst>
                <a:path w="4408" h="3572" extrusionOk="0">
                  <a:moveTo>
                    <a:pt x="965" y="0"/>
                  </a:moveTo>
                  <a:lnTo>
                    <a:pt x="0" y="1760"/>
                  </a:lnTo>
                  <a:lnTo>
                    <a:pt x="4407" y="3571"/>
                  </a:lnTo>
                  <a:lnTo>
                    <a:pt x="2521" y="0"/>
                  </a:lnTo>
                  <a:lnTo>
                    <a:pt x="965" y="0"/>
                  </a:lnTo>
                </a:path>
              </a:pathLst>
            </a:custGeom>
            <a:solidFill>
              <a:schemeClr val="accent2"/>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26" name="Google Shape;126;p1"/>
            <p:cNvSpPr/>
            <p:nvPr/>
          </p:nvSpPr>
          <p:spPr>
            <a:xfrm>
              <a:off x="9793019" y="-88970"/>
              <a:ext cx="369415" cy="195571"/>
            </a:xfrm>
            <a:custGeom>
              <a:avLst/>
              <a:gdLst/>
              <a:ahLst/>
              <a:cxnLst/>
              <a:rect l="l" t="t" r="r" b="b"/>
              <a:pathLst>
                <a:path w="374" h="198" extrusionOk="0">
                  <a:moveTo>
                    <a:pt x="112" y="0"/>
                  </a:moveTo>
                  <a:lnTo>
                    <a:pt x="0" y="197"/>
                  </a:lnTo>
                  <a:lnTo>
                    <a:pt x="373" y="0"/>
                  </a:lnTo>
                  <a:lnTo>
                    <a:pt x="112" y="0"/>
                  </a:lnTo>
                </a:path>
              </a:pathLst>
            </a:custGeom>
            <a:solidFill>
              <a:srgbClr val="146899"/>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27" name="Google Shape;127;p1"/>
            <p:cNvSpPr/>
            <p:nvPr/>
          </p:nvSpPr>
          <p:spPr>
            <a:xfrm>
              <a:off x="9698211" y="-88970"/>
              <a:ext cx="225996" cy="195571"/>
            </a:xfrm>
            <a:custGeom>
              <a:avLst/>
              <a:gdLst/>
              <a:ahLst/>
              <a:cxnLst/>
              <a:rect l="l" t="t" r="r" b="b"/>
              <a:pathLst>
                <a:path w="231" h="198" extrusionOk="0">
                  <a:moveTo>
                    <a:pt x="0" y="0"/>
                  </a:moveTo>
                  <a:lnTo>
                    <a:pt x="118" y="197"/>
                  </a:lnTo>
                  <a:lnTo>
                    <a:pt x="230" y="0"/>
                  </a:lnTo>
                  <a:lnTo>
                    <a:pt x="0" y="0"/>
                  </a:lnTo>
                </a:path>
              </a:pathLst>
            </a:custGeom>
            <a:solidFill>
              <a:srgbClr val="146899"/>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28" name="Google Shape;128;p1"/>
            <p:cNvSpPr/>
            <p:nvPr/>
          </p:nvSpPr>
          <p:spPr>
            <a:xfrm>
              <a:off x="8502000" y="61758"/>
              <a:ext cx="2646751" cy="2259950"/>
            </a:xfrm>
            <a:custGeom>
              <a:avLst/>
              <a:gdLst/>
              <a:ahLst/>
              <a:cxnLst/>
              <a:rect l="l" t="t" r="r" b="b"/>
              <a:pathLst>
                <a:path w="2686" h="2292" extrusionOk="0">
                  <a:moveTo>
                    <a:pt x="2685" y="1563"/>
                  </a:moveTo>
                  <a:lnTo>
                    <a:pt x="1308" y="0"/>
                  </a:lnTo>
                  <a:lnTo>
                    <a:pt x="0" y="2291"/>
                  </a:lnTo>
                  <a:lnTo>
                    <a:pt x="2685" y="1563"/>
                  </a:lnTo>
                </a:path>
              </a:pathLst>
            </a:custGeom>
            <a:solidFill>
              <a:schemeClr val="accent2"/>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29" name="Google Shape;129;p1"/>
            <p:cNvSpPr/>
            <p:nvPr/>
          </p:nvSpPr>
          <p:spPr>
            <a:xfrm>
              <a:off x="6821130" y="61996"/>
              <a:ext cx="2985743" cy="2259950"/>
            </a:xfrm>
            <a:custGeom>
              <a:avLst/>
              <a:gdLst/>
              <a:ahLst/>
              <a:cxnLst/>
              <a:rect l="l" t="t" r="r" b="b"/>
              <a:pathLst>
                <a:path w="3030" h="2292" extrusionOk="0">
                  <a:moveTo>
                    <a:pt x="3029" y="0"/>
                  </a:moveTo>
                  <a:lnTo>
                    <a:pt x="0" y="624"/>
                  </a:lnTo>
                  <a:lnTo>
                    <a:pt x="1721" y="2291"/>
                  </a:lnTo>
                  <a:lnTo>
                    <a:pt x="3029" y="0"/>
                  </a:lnTo>
                </a:path>
              </a:pathLst>
            </a:custGeom>
            <a:solidFill>
              <a:srgbClr val="146899"/>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30" name="Google Shape;130;p1"/>
            <p:cNvSpPr/>
            <p:nvPr/>
          </p:nvSpPr>
          <p:spPr>
            <a:xfrm>
              <a:off x="6829814" y="-88970"/>
              <a:ext cx="2985743" cy="808366"/>
            </a:xfrm>
            <a:custGeom>
              <a:avLst/>
              <a:gdLst/>
              <a:ahLst/>
              <a:cxnLst/>
              <a:rect l="l" t="t" r="r" b="b"/>
              <a:pathLst>
                <a:path w="3030" h="822" extrusionOk="0">
                  <a:moveTo>
                    <a:pt x="61" y="0"/>
                  </a:moveTo>
                  <a:lnTo>
                    <a:pt x="0" y="821"/>
                  </a:lnTo>
                  <a:lnTo>
                    <a:pt x="3029" y="197"/>
                  </a:lnTo>
                  <a:lnTo>
                    <a:pt x="2911" y="0"/>
                  </a:lnTo>
                  <a:lnTo>
                    <a:pt x="61" y="0"/>
                  </a:lnTo>
                </a:path>
              </a:pathLst>
            </a:custGeom>
            <a:solidFill>
              <a:srgbClr val="0D4566"/>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31" name="Google Shape;131;p1"/>
            <p:cNvSpPr/>
            <p:nvPr/>
          </p:nvSpPr>
          <p:spPr>
            <a:xfrm>
              <a:off x="5975275" y="-88970"/>
              <a:ext cx="943094" cy="808366"/>
            </a:xfrm>
            <a:custGeom>
              <a:avLst/>
              <a:gdLst/>
              <a:ahLst/>
              <a:cxnLst/>
              <a:rect l="l" t="t" r="r" b="b"/>
              <a:pathLst>
                <a:path w="955" h="822" extrusionOk="0">
                  <a:moveTo>
                    <a:pt x="0" y="0"/>
                  </a:moveTo>
                  <a:lnTo>
                    <a:pt x="893" y="821"/>
                  </a:lnTo>
                  <a:lnTo>
                    <a:pt x="954" y="0"/>
                  </a:lnTo>
                  <a:lnTo>
                    <a:pt x="0" y="0"/>
                  </a:lnTo>
                </a:path>
              </a:pathLst>
            </a:custGeom>
            <a:solidFill>
              <a:schemeClr val="accent1"/>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32" name="Google Shape;132;p1"/>
            <p:cNvSpPr/>
            <p:nvPr/>
          </p:nvSpPr>
          <p:spPr>
            <a:xfrm>
              <a:off x="5608571" y="674793"/>
              <a:ext cx="2916204" cy="1642810"/>
            </a:xfrm>
            <a:custGeom>
              <a:avLst/>
              <a:gdLst/>
              <a:ahLst/>
              <a:cxnLst/>
              <a:rect l="l" t="t" r="r" b="b"/>
              <a:pathLst>
                <a:path w="2959" h="1668" extrusionOk="0">
                  <a:moveTo>
                    <a:pt x="2958" y="1667"/>
                  </a:moveTo>
                  <a:lnTo>
                    <a:pt x="1237" y="0"/>
                  </a:lnTo>
                  <a:lnTo>
                    <a:pt x="0" y="1323"/>
                  </a:lnTo>
                  <a:lnTo>
                    <a:pt x="2958" y="1667"/>
                  </a:lnTo>
                </a:path>
              </a:pathLst>
            </a:custGeom>
            <a:solidFill>
              <a:schemeClr val="accent2"/>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33" name="Google Shape;133;p1"/>
            <p:cNvSpPr/>
            <p:nvPr/>
          </p:nvSpPr>
          <p:spPr>
            <a:xfrm>
              <a:off x="5092201" y="-155877"/>
              <a:ext cx="1760153" cy="2112184"/>
            </a:xfrm>
            <a:custGeom>
              <a:avLst/>
              <a:gdLst/>
              <a:ahLst/>
              <a:cxnLst/>
              <a:rect l="l" t="t" r="r" b="b"/>
              <a:pathLst>
                <a:path w="1787" h="2145" extrusionOk="0">
                  <a:moveTo>
                    <a:pt x="0" y="0"/>
                  </a:moveTo>
                  <a:lnTo>
                    <a:pt x="549" y="2144"/>
                  </a:lnTo>
                  <a:lnTo>
                    <a:pt x="1786" y="821"/>
                  </a:lnTo>
                  <a:lnTo>
                    <a:pt x="893" y="0"/>
                  </a:lnTo>
                  <a:lnTo>
                    <a:pt x="0" y="0"/>
                  </a:lnTo>
                </a:path>
              </a:pathLst>
            </a:custGeom>
            <a:solidFill>
              <a:schemeClr val="accent1"/>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34" name="Google Shape;134;p1"/>
            <p:cNvSpPr/>
            <p:nvPr/>
          </p:nvSpPr>
          <p:spPr>
            <a:xfrm>
              <a:off x="443059" y="190760"/>
              <a:ext cx="5232654" cy="2977052"/>
            </a:xfrm>
            <a:custGeom>
              <a:avLst/>
              <a:gdLst/>
              <a:ahLst/>
              <a:cxnLst/>
              <a:rect l="l" t="t" r="r" b="b"/>
              <a:pathLst>
                <a:path w="5311" h="3020" extrusionOk="0">
                  <a:moveTo>
                    <a:pt x="5310" y="1771"/>
                  </a:moveTo>
                  <a:lnTo>
                    <a:pt x="853" y="0"/>
                  </a:lnTo>
                  <a:lnTo>
                    <a:pt x="0" y="3019"/>
                  </a:lnTo>
                  <a:lnTo>
                    <a:pt x="5310" y="1771"/>
                  </a:lnTo>
                </a:path>
              </a:pathLst>
            </a:custGeom>
            <a:solidFill>
              <a:srgbClr val="0A2C5B"/>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35" name="Google Shape;135;p1"/>
            <p:cNvSpPr/>
            <p:nvPr/>
          </p:nvSpPr>
          <p:spPr>
            <a:xfrm>
              <a:off x="1264131" y="-156113"/>
              <a:ext cx="4393864" cy="2112184"/>
            </a:xfrm>
            <a:custGeom>
              <a:avLst/>
              <a:gdLst/>
              <a:ahLst/>
              <a:cxnLst/>
              <a:rect l="l" t="t" r="r" b="b"/>
              <a:pathLst>
                <a:path w="4458" h="2145" extrusionOk="0">
                  <a:moveTo>
                    <a:pt x="936" y="0"/>
                  </a:moveTo>
                  <a:lnTo>
                    <a:pt x="0" y="373"/>
                  </a:lnTo>
                  <a:lnTo>
                    <a:pt x="4457" y="2144"/>
                  </a:lnTo>
                  <a:lnTo>
                    <a:pt x="3908" y="0"/>
                  </a:lnTo>
                  <a:lnTo>
                    <a:pt x="936" y="0"/>
                  </a:lnTo>
                </a:path>
              </a:pathLst>
            </a:custGeom>
            <a:solidFill>
              <a:srgbClr val="104388"/>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36" name="Google Shape;136;p1"/>
            <p:cNvSpPr/>
            <p:nvPr/>
          </p:nvSpPr>
          <p:spPr>
            <a:xfrm>
              <a:off x="1264131" y="-133574"/>
              <a:ext cx="921364" cy="369415"/>
            </a:xfrm>
            <a:custGeom>
              <a:avLst/>
              <a:gdLst/>
              <a:ahLst/>
              <a:cxnLst/>
              <a:rect l="l" t="t" r="r" b="b"/>
              <a:pathLst>
                <a:path w="937" h="374" extrusionOk="0">
                  <a:moveTo>
                    <a:pt x="72" y="0"/>
                  </a:moveTo>
                  <a:lnTo>
                    <a:pt x="0" y="373"/>
                  </a:lnTo>
                  <a:lnTo>
                    <a:pt x="936" y="0"/>
                  </a:lnTo>
                  <a:lnTo>
                    <a:pt x="72" y="0"/>
                  </a:lnTo>
                </a:path>
              </a:pathLst>
            </a:custGeom>
            <a:solidFill>
              <a:schemeClr val="accent1"/>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37" name="Google Shape;137;p1"/>
            <p:cNvSpPr/>
            <p:nvPr/>
          </p:nvSpPr>
          <p:spPr>
            <a:xfrm>
              <a:off x="734484" y="-133574"/>
              <a:ext cx="621488" cy="369415"/>
            </a:xfrm>
            <a:custGeom>
              <a:avLst/>
              <a:gdLst/>
              <a:ahLst/>
              <a:cxnLst/>
              <a:rect l="l" t="t" r="r" b="b"/>
              <a:pathLst>
                <a:path w="629" h="374" extrusionOk="0">
                  <a:moveTo>
                    <a:pt x="0" y="0"/>
                  </a:moveTo>
                  <a:lnTo>
                    <a:pt x="556" y="373"/>
                  </a:lnTo>
                  <a:lnTo>
                    <a:pt x="628" y="0"/>
                  </a:lnTo>
                  <a:lnTo>
                    <a:pt x="0" y="0"/>
                  </a:lnTo>
                </a:path>
              </a:pathLst>
            </a:custGeom>
            <a:solidFill>
              <a:schemeClr val="accent1"/>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38" name="Google Shape;138;p1"/>
            <p:cNvSpPr/>
            <p:nvPr/>
          </p:nvSpPr>
          <p:spPr>
            <a:xfrm>
              <a:off x="0" y="885559"/>
              <a:ext cx="447642" cy="2259950"/>
            </a:xfrm>
            <a:custGeom>
              <a:avLst/>
              <a:gdLst/>
              <a:ahLst/>
              <a:cxnLst/>
              <a:rect l="l" t="t" r="r" b="b"/>
              <a:pathLst>
                <a:path w="453" h="2292" extrusionOk="0">
                  <a:moveTo>
                    <a:pt x="0" y="2104"/>
                  </a:moveTo>
                  <a:lnTo>
                    <a:pt x="452" y="2291"/>
                  </a:lnTo>
                  <a:lnTo>
                    <a:pt x="0" y="0"/>
                  </a:lnTo>
                  <a:lnTo>
                    <a:pt x="0" y="2104"/>
                  </a:lnTo>
                </a:path>
              </a:pathLst>
            </a:custGeom>
            <a:solidFill>
              <a:srgbClr val="0A2C5B"/>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39" name="Google Shape;139;p1"/>
            <p:cNvSpPr/>
            <p:nvPr/>
          </p:nvSpPr>
          <p:spPr>
            <a:xfrm>
              <a:off x="0" y="-156114"/>
              <a:ext cx="1286433" cy="3342117"/>
            </a:xfrm>
            <a:custGeom>
              <a:avLst/>
              <a:gdLst/>
              <a:ahLst/>
              <a:cxnLst/>
              <a:rect l="l" t="t" r="r" b="b"/>
              <a:pathLst>
                <a:path w="1306" h="3393" extrusionOk="0">
                  <a:moveTo>
                    <a:pt x="0" y="0"/>
                  </a:moveTo>
                  <a:lnTo>
                    <a:pt x="0" y="1101"/>
                  </a:lnTo>
                  <a:lnTo>
                    <a:pt x="452" y="3392"/>
                  </a:lnTo>
                  <a:lnTo>
                    <a:pt x="1305" y="373"/>
                  </a:lnTo>
                  <a:lnTo>
                    <a:pt x="749" y="0"/>
                  </a:lnTo>
                  <a:lnTo>
                    <a:pt x="0" y="0"/>
                  </a:lnTo>
                </a:path>
              </a:pathLst>
            </a:custGeom>
            <a:solidFill>
              <a:srgbClr val="104388"/>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40" name="Google Shape;140;p1"/>
            <p:cNvSpPr/>
            <p:nvPr/>
          </p:nvSpPr>
          <p:spPr>
            <a:xfrm>
              <a:off x="8462804" y="1591817"/>
              <a:ext cx="6988462" cy="1786231"/>
            </a:xfrm>
            <a:custGeom>
              <a:avLst/>
              <a:gdLst/>
              <a:ahLst/>
              <a:cxnLst/>
              <a:rect l="l" t="t" r="r" b="b"/>
              <a:pathLst>
                <a:path w="7093" h="1812" extrusionOk="0">
                  <a:moveTo>
                    <a:pt x="7092" y="1811"/>
                  </a:moveTo>
                  <a:lnTo>
                    <a:pt x="0" y="728"/>
                  </a:lnTo>
                  <a:lnTo>
                    <a:pt x="2685" y="0"/>
                  </a:lnTo>
                  <a:lnTo>
                    <a:pt x="7092" y="1811"/>
                  </a:lnTo>
                </a:path>
              </a:pathLst>
            </a:custGeom>
            <a:solidFill>
              <a:srgbClr val="146899"/>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sp>
          <p:nvSpPr>
            <p:cNvPr id="141" name="Google Shape;141;p1"/>
            <p:cNvSpPr/>
            <p:nvPr/>
          </p:nvSpPr>
          <p:spPr>
            <a:xfrm>
              <a:off x="9776123" y="-125128"/>
              <a:ext cx="2307757" cy="1734076"/>
            </a:xfrm>
            <a:custGeom>
              <a:avLst/>
              <a:gdLst/>
              <a:ahLst/>
              <a:cxnLst/>
              <a:rect l="l" t="t" r="r" b="b"/>
              <a:pathLst>
                <a:path w="2343" h="1761" extrusionOk="0">
                  <a:moveTo>
                    <a:pt x="373" y="0"/>
                  </a:moveTo>
                  <a:lnTo>
                    <a:pt x="0" y="197"/>
                  </a:lnTo>
                  <a:lnTo>
                    <a:pt x="1377" y="1760"/>
                  </a:lnTo>
                  <a:lnTo>
                    <a:pt x="2342" y="0"/>
                  </a:lnTo>
                  <a:lnTo>
                    <a:pt x="373" y="0"/>
                  </a:lnTo>
                </a:path>
              </a:pathLst>
            </a:custGeom>
            <a:solidFill>
              <a:srgbClr val="146899"/>
            </a:solidFill>
            <a:ln>
              <a:noFill/>
            </a:ln>
          </p:spPr>
          <p:txBody>
            <a:bodyPr spcFirstLastPara="1" wrap="square" lIns="45700" tIns="22850" rIns="45700" bIns="22850" anchor="ctr" anchorCtr="0">
              <a:noAutofit/>
            </a:bodyPr>
            <a:lstStyle/>
            <a:p>
              <a:pPr marL="0" marR="0" lvl="0" indent="0" algn="l" rtl="0">
                <a:spcBef>
                  <a:spcPts val="0"/>
                </a:spcBef>
                <a:spcAft>
                  <a:spcPts val="0"/>
                </a:spcAft>
                <a:buNone/>
              </a:pPr>
              <a:endParaRPr sz="3599">
                <a:solidFill>
                  <a:schemeClr val="dk1"/>
                </a:solidFill>
                <a:latin typeface="Nunito Light"/>
                <a:ea typeface="Nunito Light"/>
                <a:cs typeface="Nunito Light"/>
                <a:sym typeface="Nunito Light"/>
              </a:endParaRPr>
            </a:p>
          </p:txBody>
        </p:sp>
      </p:grpSp>
      <p:pic>
        <p:nvPicPr>
          <p:cNvPr id="142" name="Google Shape;142;p1" descr="Related image"/>
          <p:cNvPicPr preferRelativeResize="0"/>
          <p:nvPr/>
        </p:nvPicPr>
        <p:blipFill rotWithShape="1">
          <a:blip r:embed="rId3">
            <a:alphaModFix/>
          </a:blip>
          <a:srcRect/>
          <a:stretch/>
        </p:blipFill>
        <p:spPr>
          <a:xfrm>
            <a:off x="262443" y="5460342"/>
            <a:ext cx="2167520" cy="775972"/>
          </a:xfrm>
          <a:prstGeom prst="rect">
            <a:avLst/>
          </a:prstGeom>
          <a:noFill/>
          <a:ln>
            <a:noFill/>
          </a:ln>
        </p:spPr>
      </p:pic>
      <p:sp>
        <p:nvSpPr>
          <p:cNvPr id="31" name="Google Shape;245;p26">
            <a:extLst>
              <a:ext uri="{FF2B5EF4-FFF2-40B4-BE49-F238E27FC236}">
                <a16:creationId xmlns:a16="http://schemas.microsoft.com/office/drawing/2014/main" id="{870298FD-B020-4740-B1D1-7558DCC08629}"/>
              </a:ext>
            </a:extLst>
          </p:cNvPr>
          <p:cNvSpPr txBox="1">
            <a:spLocks/>
          </p:cNvSpPr>
          <p:nvPr/>
        </p:nvSpPr>
        <p:spPr>
          <a:xfrm>
            <a:off x="7759812" y="5947005"/>
            <a:ext cx="4564310" cy="422625"/>
          </a:xfrm>
          <a:prstGeom prst="rect">
            <a:avLst/>
          </a:prstGeom>
          <a:noFill/>
          <a:ln>
            <a:noFill/>
          </a:ln>
        </p:spPr>
        <p:txBody>
          <a:bodyPr spcFirstLastPara="1" wrap="square" lIns="91425" tIns="45700" rIns="91425" bIns="45700" anchor="t" anchorCtr="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spcBef>
                <a:spcPts val="0"/>
              </a:spcBef>
              <a:spcAft>
                <a:spcPts val="0"/>
              </a:spcAft>
              <a:buClr>
                <a:schemeClr val="dk1"/>
              </a:buClr>
              <a:buSzPts val="2800"/>
              <a:buNone/>
            </a:pPr>
            <a:r>
              <a:rPr lang="en-US" u="sng" dirty="0">
                <a:solidFill>
                  <a:schemeClr val="hlink"/>
                </a:solidFill>
                <a:hlinkClick r:id="rId4"/>
              </a:rPr>
              <a:t>http://www3.ntu.edu.sg/scse/wks.html</a:t>
            </a:r>
            <a:endParaRPr lang="en-US" dirty="0"/>
          </a:p>
          <a:p>
            <a:pPr marL="228600" indent="-50800">
              <a:spcBef>
                <a:spcPts val="0"/>
              </a:spcBef>
              <a:spcAft>
                <a:spcPts val="0"/>
              </a:spcAft>
              <a:buClr>
                <a:schemeClr val="dk1"/>
              </a:buClr>
              <a:buSzPts val="2800"/>
              <a:buFont typeface="Calibri" panose="020F0502020204030204" pitchFamily="34" charset="0"/>
              <a:buNone/>
            </a:pPr>
            <a:endParaRPr lang="en-US" dirty="0"/>
          </a:p>
        </p:txBody>
      </p:sp>
    </p:spTree>
    <p:extLst>
      <p:ext uri="{BB962C8B-B14F-4D97-AF65-F5344CB8AC3E}">
        <p14:creationId xmlns:p14="http://schemas.microsoft.com/office/powerpoint/2010/main" val="1485732039"/>
      </p:ext>
    </p:extLst>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TotalTime>
  <Words>4630</Words>
  <Application>Microsoft Office PowerPoint</Application>
  <PresentationFormat>Widescreen</PresentationFormat>
  <Paragraphs>699</Paragraphs>
  <Slides>108</Slides>
  <Notes>78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108</vt:i4>
      </vt:variant>
    </vt:vector>
  </HeadingPairs>
  <TitlesOfParts>
    <vt:vector size="118" baseType="lpstr">
      <vt:lpstr>Quattrocento Sans</vt:lpstr>
      <vt:lpstr>Calibri</vt:lpstr>
      <vt:lpstr>Courier New</vt:lpstr>
      <vt:lpstr>Arial</vt:lpstr>
      <vt:lpstr>Wingdings</vt:lpstr>
      <vt:lpstr>Nunito Light</vt:lpstr>
      <vt:lpstr>Noto Sans Symbols</vt:lpstr>
      <vt:lpstr>Lato Light</vt:lpstr>
      <vt:lpstr>Consolas</vt:lpstr>
      <vt:lpstr>Retrospect</vt:lpstr>
      <vt:lpstr>PowerPoint Presentation</vt:lpstr>
      <vt:lpstr>PowerPoint Presentation</vt:lpstr>
      <vt:lpstr>PowerPoint Presentation</vt:lpstr>
      <vt:lpstr>PowerPoint Presentation</vt:lpstr>
      <vt:lpstr>Cyberspace</vt:lpstr>
      <vt:lpstr>Cyberattack</vt:lpstr>
      <vt:lpstr>PowerPoint Presentation</vt:lpstr>
      <vt:lpstr>PowerPoint Presentation</vt:lpstr>
      <vt:lpstr>Cyber Security</vt:lpstr>
      <vt:lpstr>Cyber Security</vt:lpstr>
      <vt:lpstr>PowerPoint Presentation</vt:lpstr>
      <vt:lpstr>PowerPoint Presentation</vt:lpstr>
      <vt:lpstr>Hacking</vt:lpstr>
      <vt:lpstr>What’s Covered So Far…</vt:lpstr>
      <vt:lpstr>Today’s Focus</vt:lpstr>
      <vt:lpstr>Information Security</vt:lpstr>
      <vt:lpstr>Information Security</vt:lpstr>
      <vt:lpstr>Protect what?</vt:lpstr>
      <vt:lpstr>Goals of Information Security</vt:lpstr>
      <vt:lpstr>Intrusions vs Attacks</vt:lpstr>
      <vt:lpstr>Intrusions vs Attacks</vt:lpstr>
      <vt:lpstr>Phishing Attack</vt:lpstr>
      <vt:lpstr>Phishing Attack </vt:lpstr>
      <vt:lpstr>PowerPoint Presentation</vt:lpstr>
      <vt:lpstr>Tool Used </vt:lpstr>
      <vt:lpstr>Hands-On Session</vt:lpstr>
      <vt:lpstr>Hands-On Session</vt:lpstr>
      <vt:lpstr>Hands-On Session</vt:lpstr>
      <vt:lpstr>Hands-On Session</vt:lpstr>
      <vt:lpstr>Hands-On Session</vt:lpstr>
      <vt:lpstr>Hands-On Session</vt:lpstr>
      <vt:lpstr>Hackers and Attackers</vt:lpstr>
      <vt:lpstr>Types of Hacker</vt:lpstr>
      <vt:lpstr>Categories of Attacker</vt:lpstr>
      <vt:lpstr>Singapore’s Cyber Crime Law</vt:lpstr>
      <vt:lpstr>Singapore’s Cyber Crime Law</vt:lpstr>
      <vt:lpstr>What’s Covered So Far…</vt:lpstr>
      <vt:lpstr>PowerPoint Presentation</vt:lpstr>
      <vt:lpstr>Network Security</vt:lpstr>
      <vt:lpstr>Network Security</vt:lpstr>
      <vt:lpstr>Firewall: Concept</vt:lpstr>
      <vt:lpstr>Firewall: Types</vt:lpstr>
      <vt:lpstr>Firewall: Techniques</vt:lpstr>
      <vt:lpstr>Firewall: Packet Filtering</vt:lpstr>
      <vt:lpstr>Firewall: Packet Filtering</vt:lpstr>
      <vt:lpstr>Firewall: Stateful Packet Filtering</vt:lpstr>
      <vt:lpstr>Application-Level Filtering Technique</vt:lpstr>
      <vt:lpstr>IP Address Spoofing</vt:lpstr>
      <vt:lpstr>Why Spoof IP?</vt:lpstr>
      <vt:lpstr>How to know your IP Address?</vt:lpstr>
      <vt:lpstr>How to know your IP Address?</vt:lpstr>
      <vt:lpstr>IP Spoofing (Demo)</vt:lpstr>
      <vt:lpstr>IP Spoofing Countermeasures</vt:lpstr>
      <vt:lpstr>MAC Spoofing</vt:lpstr>
      <vt:lpstr>Why Spoof MAC Address?</vt:lpstr>
      <vt:lpstr>MAC Spoofing (Demo)</vt:lpstr>
      <vt:lpstr>MAC Spoofing (Demo)</vt:lpstr>
      <vt:lpstr>MAC Spoofing (Demo)</vt:lpstr>
      <vt:lpstr>MAC Spoofing (Demo)</vt:lpstr>
      <vt:lpstr>MAC Spoofing Countermeasures</vt:lpstr>
      <vt:lpstr>DNS Spoofing</vt:lpstr>
      <vt:lpstr>Remember the Phishing Demo?</vt:lpstr>
      <vt:lpstr>DNS Spoofing (Demo)</vt:lpstr>
      <vt:lpstr>DNS Spoofing (Demo)</vt:lpstr>
      <vt:lpstr>DNS Spoofing (Demo)</vt:lpstr>
      <vt:lpstr>DNS Spoofing (Demo)</vt:lpstr>
      <vt:lpstr>DNS Spoofing (Demo)</vt:lpstr>
      <vt:lpstr>DNS Spoofing (Demo)</vt:lpstr>
      <vt:lpstr>DNS Spoofing (Demo)</vt:lpstr>
      <vt:lpstr>DNS Spoofing (Demo)</vt:lpstr>
      <vt:lpstr>DNS Spoofing (Demo)</vt:lpstr>
      <vt:lpstr>DNS Spoofing (Demo)</vt:lpstr>
      <vt:lpstr>DNS Spoofing (Demo)</vt:lpstr>
      <vt:lpstr>DNS Spoofing (Demo)</vt:lpstr>
      <vt:lpstr>DNS Spoofing (Demo)</vt:lpstr>
      <vt:lpstr>DNS Spoofing (Demo)</vt:lpstr>
      <vt:lpstr>DNS Spoofing (Demo)</vt:lpstr>
      <vt:lpstr>What’s Covered So Far…</vt:lpstr>
      <vt:lpstr>Network Security SSL</vt:lpstr>
      <vt:lpstr>TCP/IP &amp; HTTP</vt:lpstr>
      <vt:lpstr>TLS/SSL</vt:lpstr>
      <vt:lpstr>HTTPS</vt:lpstr>
      <vt:lpstr>How does HTTPS work?</vt:lpstr>
      <vt:lpstr>HTTPS Benefits</vt:lpstr>
      <vt:lpstr>PowerPoint Presentation</vt:lpstr>
      <vt:lpstr>HTTPS Certificate</vt:lpstr>
      <vt:lpstr>HTTPS is a countermeasure for DNS Spoofing</vt:lpstr>
      <vt:lpstr>What’s Covered So Far…</vt:lpstr>
      <vt:lpstr>Network Security VPN</vt:lpstr>
      <vt:lpstr>VPN</vt:lpstr>
      <vt:lpstr>VPN</vt:lpstr>
      <vt:lpstr>Host to Host</vt:lpstr>
      <vt:lpstr>Host to Network</vt:lpstr>
      <vt:lpstr>Network to Network</vt:lpstr>
      <vt:lpstr>Benefits of VPN</vt:lpstr>
      <vt:lpstr>What’s Covered So Far…</vt:lpstr>
      <vt:lpstr>Wireless Security</vt:lpstr>
      <vt:lpstr>Wireless (WLAN) Security</vt:lpstr>
      <vt:lpstr>Wi-Fi</vt:lpstr>
      <vt:lpstr>WEP</vt:lpstr>
      <vt:lpstr>WPA</vt:lpstr>
      <vt:lpstr>WLAN Authentication</vt:lpstr>
      <vt:lpstr>WLAN Security Threats</vt:lpstr>
      <vt:lpstr>WLAN Security Threats</vt:lpstr>
      <vt:lpstr>WLAN Security Threats</vt:lpstr>
      <vt:lpstr>WLAN Conventional Security Measures</vt:lpstr>
      <vt:lpstr>What’s Covered So Far…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#AMARTUR RAHIM BIN YAHYA#</dc:creator>
  <cp:lastModifiedBy>#NG WEI XUAN EDDIE#</cp:lastModifiedBy>
  <cp:revision>42</cp:revision>
  <dcterms:created xsi:type="dcterms:W3CDTF">2019-08-28T16:04:44Z</dcterms:created>
  <dcterms:modified xsi:type="dcterms:W3CDTF">2021-05-15T16:27:57Z</dcterms:modified>
</cp:coreProperties>
</file>