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Tenor Sans" charset="1" panose="02000000000000000000"/>
      <p:regular r:id="rId28"/>
    </p:embeddedFont>
    <p:embeddedFont>
      <p:font typeface="Clear Sans" charset="1" panose="020B0503030202020304"/>
      <p:regular r:id="rId29"/>
    </p:embeddedFont>
    <p:embeddedFont>
      <p:font typeface="Clear Sans Bold" charset="1" panose="020B0803030202020304"/>
      <p:regular r:id="rId31"/>
    </p:embeddedFont>
    <p:embeddedFont>
      <p:font typeface="Clear Sans Medium" charset="1" panose="020B0603030202020304"/>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fonts/font31.fntdata" Type="http://schemas.openxmlformats.org/officeDocument/2006/relationships/font"/><Relationship Id="rId32" Target="notesSlides/notesSlide3.xml" Type="http://schemas.openxmlformats.org/officeDocument/2006/relationships/notesSlide"/><Relationship Id="rId33" Target="notesSlides/notesSlide4.xml" Type="http://schemas.openxmlformats.org/officeDocument/2006/relationships/notesSlide"/><Relationship Id="rId34" Target="notesSlides/notesSlide5.xml" Type="http://schemas.openxmlformats.org/officeDocument/2006/relationships/notesSlide"/><Relationship Id="rId35" Target="fonts/font35.fntdata" Type="http://schemas.openxmlformats.org/officeDocument/2006/relationships/font"/><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Imagine you download what looks like a normal banking or loan app.</a:t>
            </a:r>
          </a:p>
          <a:p>
            <a:r>
              <a:rPr lang="en-US"/>
              <a:t>You enter your personal details, maybe even your bank information.</a:t>
            </a:r>
          </a:p>
          <a:p>
            <a:r>
              <a:rPr lang="en-US"/>
              <a:t>Everything seems fine…</a:t>
            </a:r>
          </a:p>
          <a:p>
            <a:r>
              <a:rPr lang="en-US"/>
              <a:t/>
            </a:r>
          </a:p>
          <a:p>
            <a:r>
              <a:rPr lang="en-US"/>
              <a:t>But in reality, the app is silently taking control of your phone —</a:t>
            </a:r>
          </a:p>
          <a:p>
            <a:r>
              <a:rPr lang="en-US"/>
              <a:t>clicking buttons, approving transactions, and transferring money…</a:t>
            </a:r>
          </a:p>
          <a:p>
            <a:r>
              <a:rPr lang="en-US"/>
              <a:t>without you even touching your screen.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Gigabud.RAT is an Android banking trojan first investigated by Group-IB after targeting customers of a Thailand-based financial organization in 2022.</a:t>
            </a:r>
          </a:p>
          <a:p>
            <a:r>
              <a:rPr lang="en-US"/>
              <a:t>It spreads through phishing websites and smishing links sent via SMS, instant messengers, and social media.</a:t>
            </a:r>
          </a:p>
          <a:p>
            <a:r>
              <a:rPr lang="en-US"/>
              <a:t>Group-IB detected more than 400 Gigabud.RAT samples between 2022 and 2023, showing that the malware family was active and widespread.</a:t>
            </a:r>
          </a:p>
          <a:p>
            <a:r>
              <a:rPr lang="en-US"/>
              <a:t>The malware tricks victims into granting permissions such as app installation, accessibility service, screen recording, and display over other apps.</a:t>
            </a:r>
          </a:p>
          <a:p>
            <a:r>
              <a:rPr lang="en-US"/>
              <a:t>After permission is granted, it can use screen capture, TouchAction remote gestures, and keylogging to steal credentials, bypass authentication including 2FA, and support fraudulent payments from the victim’s device.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STEP 1: SMISHING</a:t>
            </a:r>
          </a:p>
          <a:p>
            <a:r>
              <a:rPr lang="en-US"/>
              <a:t/>
            </a:r>
          </a:p>
          <a:p>
            <a:r>
              <a:rPr lang="en-US"/>
              <a:t>Victim receives a fake bank SMS with an urgent message and malicious link.</a:t>
            </a:r>
          </a:p>
          <a:p>
            <a:r>
              <a:rPr lang="en-US"/>
              <a:t/>
            </a:r>
          </a:p>
          <a:p>
            <a:r>
              <a:rPr lang="en-US"/>
              <a:t>STEP 2: PHISHING SITE</a:t>
            </a:r>
          </a:p>
          <a:p>
            <a:r>
              <a:rPr lang="en-US"/>
              <a:t/>
            </a:r>
          </a:p>
          <a:p>
            <a:r>
              <a:rPr lang="en-US"/>
              <a:t>User is redirected to a realistic-looking banking website to build trust.</a:t>
            </a:r>
          </a:p>
          <a:p>
            <a:r>
              <a:rPr lang="en-US"/>
              <a:t/>
            </a:r>
          </a:p>
          <a:p>
            <a:r>
              <a:rPr lang="en-US"/>
              <a:t>STEP 3: APK DELIVERY</a:t>
            </a:r>
          </a:p>
          <a:p>
            <a:r>
              <a:rPr lang="en-US"/>
              <a:t/>
            </a:r>
          </a:p>
          <a:p>
            <a:r>
              <a:rPr lang="en-US"/>
              <a:t>User is tricked into downloading a malicious app outside the Play Store.</a:t>
            </a:r>
          </a:p>
          <a:p>
            <a:r>
              <a:rPr lang="en-US"/>
              <a:t/>
            </a:r>
          </a:p>
          <a:p>
            <a:r>
              <a:rPr lang="en-US"/>
              <a:t>STEP 4: PERMISSION SETUP</a:t>
            </a:r>
          </a:p>
          <a:p>
            <a:r>
              <a:rPr lang="en-US"/>
              <a:t/>
            </a:r>
          </a:p>
          <a:p>
            <a:r>
              <a:rPr lang="en-US"/>
              <a:t>App requests accessibility permissions to gain control over the device.</a:t>
            </a:r>
          </a:p>
          <a:p>
            <a:r>
              <a:rPr lang="en-US"/>
              <a:t/>
            </a:r>
          </a:p>
          <a:p>
            <a:r>
              <a:rPr lang="en-US"/>
              <a:t>STEP 5: OVERLAY + CREDENTIAL &amp; OTP INTERCEPTION</a:t>
            </a:r>
          </a:p>
          <a:p>
            <a:r>
              <a:rPr lang="en-US"/>
              <a:t/>
            </a:r>
          </a:p>
          <a:p>
            <a:r>
              <a:rPr lang="en-US"/>
              <a:t>Fake screens capture login details while OTPs are intercepted silently.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Step 1 — SMS</a:t>
            </a:r>
          </a:p>
          <a:p>
            <a:r>
              <a:rPr lang="en-US"/>
              <a:t/>
            </a:r>
          </a:p>
          <a:p>
            <a:r>
              <a:rPr lang="en-US"/>
              <a:t>👉 (Show SMS)</a:t>
            </a:r>
          </a:p>
          <a:p>
            <a:r>
              <a:rPr lang="en-US"/>
              <a:t/>
            </a:r>
          </a:p>
          <a:p>
            <a:r>
              <a:rPr lang="en-US"/>
              <a:t>“alice receives a message from what appears to be her bank, warning her about suspicious activity.”</a:t>
            </a:r>
          </a:p>
          <a:p>
            <a:r>
              <a:rPr lang="en-US"/>
              <a:t/>
            </a:r>
          </a:p>
          <a:p>
            <a:r>
              <a:rPr lang="en-US"/>
              <a:t>“Concerned about her account, she decides to click the link.”</a:t>
            </a:r>
          </a:p>
          <a:p>
            <a:r>
              <a:rPr lang="en-US"/>
              <a:t/>
            </a:r>
          </a:p>
          <a:p>
            <a:r>
              <a:rPr lang="en-US"/>
              <a:t>👉 Click</a:t>
            </a:r>
          </a:p>
          <a:p>
            <a:r>
              <a:rPr lang="en-US"/>
              <a:t/>
            </a:r>
          </a:p>
          <a:p>
            <a:r>
              <a:rPr lang="en-US"/>
              <a:t>🌐 Step 2 — Landing Page</a:t>
            </a:r>
          </a:p>
          <a:p>
            <a:r>
              <a:rPr lang="en-US"/>
              <a:t/>
            </a:r>
          </a:p>
          <a:p>
            <a:r>
              <a:rPr lang="en-US"/>
              <a:t>“alice is redirected to a website that looks legitimate and secure.”</a:t>
            </a:r>
          </a:p>
          <a:p>
            <a:r>
              <a:rPr lang="en-US"/>
              <a:t/>
            </a:r>
          </a:p>
          <a:p>
            <a:r>
              <a:rPr lang="en-US"/>
              <a:t>“Trusting the message, she follows the instructions to verify his account.”</a:t>
            </a:r>
          </a:p>
          <a:p>
            <a:r>
              <a:rPr lang="en-US"/>
              <a:t/>
            </a:r>
          </a:p>
          <a:p>
            <a:r>
              <a:rPr lang="en-US"/>
              <a:t>👉 Click Download</a:t>
            </a:r>
          </a:p>
          <a:p>
            <a:r>
              <a:rPr lang="en-US"/>
              <a:t/>
            </a:r>
          </a:p>
          <a:p>
            <a:r>
              <a:rPr lang="en-US"/>
              <a:t>📥 Step 3 — APK Installation</a:t>
            </a:r>
          </a:p>
          <a:p>
            <a:r>
              <a:rPr lang="en-US"/>
              <a:t/>
            </a:r>
          </a:p>
          <a:p>
            <a:r>
              <a:rPr lang="en-US"/>
              <a:t>“alice is asked to install a security app.</a:t>
            </a:r>
          </a:p>
          <a:p>
            <a:r>
              <a:rPr lang="en-US"/>
              <a:t>Since the message seemed urgent, she enables installation from unknown sources.”</a:t>
            </a:r>
          </a:p>
          <a:p>
            <a:r>
              <a:rPr lang="en-US"/>
              <a:t/>
            </a:r>
          </a:p>
          <a:p>
            <a:r>
              <a:rPr lang="en-US"/>
              <a:t>👉 Click</a:t>
            </a:r>
          </a:p>
          <a:p>
            <a:r>
              <a:rPr lang="en-US"/>
              <a:t/>
            </a:r>
          </a:p>
          <a:p>
            <a:r>
              <a:rPr lang="en-US"/>
              <a:t>⚙️ Step 4 — Accessibility</a:t>
            </a:r>
          </a:p>
          <a:p>
            <a:r>
              <a:rPr lang="en-US"/>
              <a:t/>
            </a:r>
          </a:p>
          <a:p>
            <a:r>
              <a:rPr lang="en-US"/>
              <a:t>“The app now asks for accessibility permissions.</a:t>
            </a:r>
          </a:p>
          <a:p>
            <a:r>
              <a:rPr lang="en-US"/>
              <a:t>alice assumes this is part of the verification process and grants access.”</a:t>
            </a:r>
          </a:p>
          <a:p>
            <a:r>
              <a:rPr lang="en-US"/>
              <a:t/>
            </a:r>
          </a:p>
          <a:p>
            <a:r>
              <a:rPr lang="en-US"/>
              <a:t>👉 Click</a:t>
            </a:r>
          </a:p>
          <a:p>
            <a:r>
              <a:rPr lang="en-US"/>
              <a:t/>
            </a:r>
          </a:p>
          <a:p>
            <a:r>
              <a:rPr lang="en-US"/>
              <a:t>🔐 Step 5 — Overlay</a:t>
            </a:r>
          </a:p>
          <a:p>
            <a:r>
              <a:rPr lang="en-US"/>
              <a:t/>
            </a:r>
          </a:p>
          <a:p>
            <a:r>
              <a:rPr lang="en-US"/>
              <a:t>“Now alice sees a login screen and enters his credentials, believing it is his bank.”</a:t>
            </a:r>
          </a:p>
          <a:p>
            <a:r>
              <a:rPr lang="en-US"/>
              <a:t/>
            </a:r>
          </a:p>
          <a:p>
            <a:r>
              <a:rPr lang="en-US"/>
              <a:t>👉 Click Continue</a:t>
            </a:r>
          </a:p>
          <a:p>
            <a:r>
              <a:rPr lang="en-US"/>
              <a:t/>
            </a:r>
          </a:p>
          <a:p>
            <a:r>
              <a:rPr lang="en-US"/>
              <a:t>🔢 Step 6 — OTP</a:t>
            </a:r>
          </a:p>
          <a:p>
            <a:r>
              <a:rPr lang="en-US"/>
              <a:t/>
            </a:r>
          </a:p>
          <a:p>
            <a:r>
              <a:rPr lang="en-US"/>
              <a:t>“alice receives an OTP and enters it, unaware that the malware has already captured it.”</a:t>
            </a:r>
          </a:p>
          <a:p>
            <a:r>
              <a:rPr lang="en-US"/>
              <a:t/>
            </a:r>
          </a:p>
          <a:p>
            <a:r>
              <a:rPr lang="en-US"/>
              <a:t>👉 Click</a:t>
            </a:r>
          </a:p>
          <a:p>
            <a:r>
              <a:rPr lang="en-US"/>
              <a:t/>
            </a:r>
          </a:p>
          <a:p>
            <a:r>
              <a:rPr lang="en-US"/>
              <a:t>🖥 Step 7 — C2</a:t>
            </a:r>
          </a:p>
          <a:p>
            <a:r>
              <a:rPr lang="en-US"/>
              <a:t/>
            </a:r>
          </a:p>
          <a:p>
            <a:r>
              <a:rPr lang="en-US"/>
              <a:t>“At this point, the attacker now has full access to alice’s banking session.”</a:t>
            </a:r>
          </a:p>
          <a:p>
            <a:r>
              <a:rPr lang="en-US"/>
              <a:t/>
            </a:r>
          </a:p>
          <a:p>
            <a:r>
              <a:rPr lang="en-US"/>
              <a:t>📊 Final Screen</a:t>
            </a:r>
          </a:p>
          <a:p>
            <a:r>
              <a:rPr lang="en-US"/>
              <a:t/>
            </a:r>
          </a:p>
          <a:p>
            <a:r>
              <a:rPr lang="en-US"/>
              <a:t>“alice never realized he was being attacked.</a:t>
            </a:r>
          </a:p>
          <a:p>
            <a:r>
              <a:rPr lang="en-US"/>
              <a:t>From his perspective, everything looked normal.”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This line reads the incoming command data. In simple terms, the malware first receives the attacker’s instructions before it can simulate any touch action.</a:t>
            </a:r>
          </a:p>
          <a:p>
            <a:r>
              <a:rPr lang="en-US"/>
              <a:t/>
            </a:r>
          </a:p>
          <a:p>
            <a:r>
              <a:rPr lang="en-US"/>
              <a:t>2. Here, the malware converts that command data from JSON into a list of touch points. So the attacker’s instructions are turned into coordinates the malware can actually use.”</a:t>
            </a:r>
          </a:p>
          <a:p>
            <a:r>
              <a:rPr lang="en-US"/>
              <a:t/>
            </a:r>
          </a:p>
          <a:p>
            <a:r>
              <a:rPr lang="en-US"/>
              <a:t>3. This is a validation step. If the coordinate list is missing or invalid, the function stops, so the gesture will not be executed.”</a:t>
            </a:r>
          </a:p>
          <a:p>
            <a:r>
              <a:rPr lang="en-US"/>
              <a:t/>
            </a:r>
          </a:p>
          <a:p>
            <a:r>
              <a:rPr lang="en-US"/>
              <a:t>4. These lines define the actual touch movement. moveTo sets the starting point, and lineTo adds the next points, which lets the malware create a swipe or drag path on the screen.”</a:t>
            </a:r>
          </a:p>
          <a:p>
            <a:r>
              <a:rPr lang="en-US"/>
              <a:t/>
            </a:r>
          </a:p>
          <a:p>
            <a:r>
              <a:rPr lang="en-US"/>
              <a:t>5. This is the most important line. It sends the gesture through the Android accessibility service, which means the malware can perform actions directly on the victim’s phone.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Figure 9 is the keylogger implementation. In this part of the case study, Group-IB says newer Gigabud samples abuse the Android accessibility service not just for gestures, but also for a password-stealing module aimed at targeted banking apps.</a:t>
            </a:r>
          </a:p>
          <a:p>
            <a:r>
              <a:rPr lang="en-US"/>
              <a:t/>
            </a:r>
          </a:p>
          <a:p>
            <a:r>
              <a:rPr lang="en-US"/>
              <a:t>What Figure 9 means</a:t>
            </a:r>
          </a:p>
          <a:p>
            <a:r>
              <a:rPr lang="en-US"/>
              <a:t>The point of Figure 9 is to show that Gigabud uses accessibility service events to capture what the user types or interacts with inside a banking app. Group-IB says this module is designed for password stealing and appears to be tailored to specific targeted apps rather than acting like a simple generic keylogger.</a:t>
            </a:r>
          </a:p>
          <a:p>
            <a:r>
              <a:rPr lang="en-US"/>
              <a:t/>
            </a:r>
          </a:p>
          <a:p>
            <a:r>
              <a:rPr lang="en-US"/>
              <a:t>1. This function is triggered whenever an accessibility event happens on the device. That means the malware can monitor user interaction with the app interface in real time.”</a:t>
            </a:r>
          </a:p>
          <a:p>
            <a:r>
              <a:rPr lang="en-US"/>
              <a:t/>
            </a:r>
          </a:p>
          <a:p>
            <a:r>
              <a:rPr lang="en-US"/>
              <a:t>2. This part reads the text associated with the accessibility event. If the user types something or interacts with a text field, the malware can capture that content here.</a:t>
            </a:r>
          </a:p>
          <a:p>
            <a:r>
              <a:rPr lang="en-US"/>
              <a:t/>
            </a:r>
          </a:p>
          <a:p>
            <a:r>
              <a:rPr lang="en-US"/>
              <a:t>3. This line checks what kind of UI event occurred. The malware uses this to decide whether the user clicked something, focused on an input field, or triggered another action worth monitoring.</a:t>
            </a:r>
          </a:p>
          <a:p>
            <a:r>
              <a:rPr lang="en-US"/>
              <a:t/>
            </a:r>
          </a:p>
          <a:p>
            <a:r>
              <a:rPr lang="en-US"/>
              <a:t>4. When the event is a click, the malware logs details about the clicked element and passes that event to the password-capture module. This helps it track what part of the banking app the user is interacting with.”</a:t>
            </a:r>
          </a:p>
          <a:p>
            <a:r>
              <a:rPr lang="en-US"/>
              <a:t/>
            </a:r>
          </a:p>
          <a:p>
            <a:r>
              <a:rPr lang="en-US"/>
              <a:t>5. When an input field gains focus, the malware forwards that node to the password-capture logic. This is important because login fields usually become focused right before the user enters credentials.”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everyone! Today, we’re diving into one of the most notorious cyber exploits: EternalBlue.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EternalBlue exploits a critical vulnerability in Microsoft’s SMBv1 protocol that is present in versions like Windows 7, Vista as seen in the picture on the right. </a:t>
            </a:r>
          </a:p>
          <a:p>
            <a:r>
              <a:rPr lang="en-US"/>
              <a:t/>
            </a:r>
          </a:p>
          <a:p>
            <a:r>
              <a:rPr lang="en-US"/>
              <a:t>SMBv1, which stands for server message block, is used for file and printer sharing on Windows systems, but it has a serious flaw, one that attackers can exploit to remotely execute code on vulnerable systems, all without needing any user interaction.</a:t>
            </a:r>
          </a:p>
          <a:p>
            <a:r>
              <a:rPr lang="en-US"/>
              <a:t/>
            </a:r>
          </a:p>
          <a:p>
            <a:r>
              <a:rPr lang="en-US"/>
              <a:t>It’s infamous for its role in the WannaCry and NotPetya cyberattacks, which caused global chaos. This shows how unpatched systems can lead to widespread cybersecurity crises.</a:t>
            </a:r>
          </a:p>
          <a:p>
            <a:r>
              <a:rPr lang="en-US"/>
              <a:t/>
            </a:r>
          </a:p>
          <a:p>
            <a:r>
              <a:rPr lang="en-US"/>
              <a:t>So, how does this thing work? Let’s break it down in 7 simple steps!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Step 1:</a:t>
            </a:r>
          </a:p>
          <a:p>
            <a:r>
              <a:rPr lang="en-US"/>
              <a:t>The attacker starts by establishing a connection to the victim system’s SMB service over port 445. This connection looks perfectly normal to the system and doesn’t raise any flags, allowing the attacker to stay undetected.</a:t>
            </a:r>
          </a:p>
          <a:p>
            <a:r>
              <a:rPr lang="en-US"/>
              <a:t/>
            </a:r>
          </a:p>
          <a:p>
            <a:r>
              <a:rPr lang="en-US"/>
              <a:t>Step 2: </a:t>
            </a:r>
          </a:p>
          <a:p>
            <a:r>
              <a:rPr lang="en-US"/>
              <a:t>Next, the attacker sends specially crafted FEA (File Extended Attributes) data to the target. This data is used to fill up the heap memory,  which prepares for buffer overflow in the next step.</a:t>
            </a:r>
          </a:p>
          <a:p>
            <a:r>
              <a:rPr lang="en-US"/>
              <a:t/>
            </a:r>
          </a:p>
          <a:p>
            <a:r>
              <a:rPr lang="en-US"/>
              <a:t>Step 3: </a:t>
            </a:r>
          </a:p>
          <a:p>
            <a:r>
              <a:rPr lang="en-US"/>
              <a:t>SMB mishandles the size of the FEA data as it incorrectly converts the size from OS/2 format (32-bit) to NT format (16-bit). Due to size miscalculation, it causes less memory to be allocated than expected, resulting in incorrect buffer size.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Step 4: To send and increase the chances of the getting the shellcode to execute, the exploit heap sprays the heap by filling out the heap with srvnet structs and the DoublePulsar shellcode. The svrnet struct will have a handler function that executes on disconnection, we will over flow this later to point to the shellcode which the exploit knows the relative address because it created</a:t>
            </a:r>
          </a:p>
          <a:p>
            <a:r>
              <a:rPr lang="en-US"/>
              <a:t>the structs.</a:t>
            </a:r>
          </a:p>
          <a:p>
            <a:r>
              <a:rPr lang="en-US"/>
              <a:t/>
            </a:r>
          </a:p>
          <a:p>
            <a:r>
              <a:rPr lang="en-US"/>
              <a:t>Step 5: The attacker uses a non-paged pool allocation flaw to create a chunk of a specific size and frees it at a controlled time. This allows the incoming FEA data to reuse that freed memory location. This process is repeated to increase the likelihood that srvnet structures are allocated adjacent to the FEA data, enabling a reliable overflow.</a:t>
            </a:r>
          </a:p>
          <a:p>
            <a:r>
              <a:rPr lang="en-US"/>
              <a:t/>
            </a:r>
          </a:p>
          <a:p>
            <a:r>
              <a:rPr lang="en-US"/>
              <a:t>Step 6: We trigger the overflow. We push the FEA data into that hole, and it "spills over" to overwrite the target's instructions.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Step 7: Code Execution</a:t>
            </a:r>
          </a:p>
          <a:p>
            <a:r>
              <a:rPr lang="en-US"/>
              <a:t>When the SMB connection closes, the system runs a cleanup function in srvnet.</a:t>
            </a:r>
          </a:p>
          <a:p>
            <a:r>
              <a:rPr lang="en-US"/>
              <a:t>Because a function pointer was already changed by the attacker, it now points to the attacker’s code instead of the real system function.</a:t>
            </a:r>
          </a:p>
          <a:p>
            <a:r>
              <a:rPr lang="en-US"/>
              <a:t/>
            </a:r>
          </a:p>
          <a:p>
            <a:r>
              <a:rPr lang="en-US"/>
              <a:t>https://www.cs.toronto.edu/~arnold/427/18s/427_18S/indepth/EternalBlue/EternalBlue_report.pdf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Alright, now let’s make it real. We’re going to show you how an attacker can exploit EternalBlue using Metasploit. There are two parts to this one is reconnaissance and then, we perform attack. </a:t>
            </a:r>
          </a:p>
          <a:p>
            <a:r>
              <a:rPr lang="en-US"/>
              <a:t/>
            </a:r>
          </a:p>
          <a:p>
            <a:r>
              <a:rPr lang="en-US"/>
              <a:t>Even before we perform attack, we need to check if th eysstem is vulnerable to so we do that and </a:t>
            </a:r>
          </a:p>
          <a:p>
            <a:r>
              <a:rPr lang="en-US"/>
              <a:t/>
            </a:r>
          </a:p>
          <a:p>
            <a:r>
              <a:rPr lang="en-US"/>
              <a:t/>
            </a:r>
          </a:p>
          <a:p>
            <a:r>
              <a:rPr lang="en-US"/>
              <a:t>Step 1: Select the Exploit Module</a:t>
            </a:r>
          </a:p>
          <a:p>
            <a:r>
              <a:rPr lang="en-US"/>
              <a:t>We begin by opening Metasploit and selecting the EternalBlue exploit module.</a:t>
            </a:r>
          </a:p>
          <a:p>
            <a:r>
              <a:rPr lang="en-US"/>
              <a:t>Command: search exploit/windows/smb/ms17_010_eternalblue</a:t>
            </a:r>
          </a:p>
          <a:p>
            <a:r>
              <a:rPr lang="en-US"/>
              <a:t>Explanation: This module specifically targets the SMBv1 vulnerability and takes advantage of the buffer overflow.</a:t>
            </a:r>
          </a:p>
          <a:p>
            <a:r>
              <a:rPr lang="en-US"/>
              <a:t/>
            </a:r>
          </a:p>
          <a:p>
            <a:r>
              <a:rPr lang="en-US"/>
              <a:t>Step 2: Set the Target IP</a:t>
            </a:r>
          </a:p>
          <a:p>
            <a:r>
              <a:rPr lang="en-US"/>
              <a:t>Now, we need to set the RHOST (Remote Host) to the target machine's IP address.</a:t>
            </a:r>
          </a:p>
          <a:p>
            <a:r>
              <a:rPr lang="en-US"/>
              <a:t>Command: set RHOST &lt;target_ip&gt;</a:t>
            </a:r>
          </a:p>
          <a:p>
            <a:r>
              <a:rPr lang="en-US"/>
              <a:t>Explanation: This is the machine we’re going to attack.</a:t>
            </a:r>
          </a:p>
          <a:p>
            <a:r>
              <a:rPr lang="en-US"/>
              <a:t/>
            </a:r>
          </a:p>
          <a:p>
            <a:r>
              <a:rPr lang="en-US"/>
              <a:t>Step 3: Choose the Payload</a:t>
            </a:r>
          </a:p>
          <a:p>
            <a:r>
              <a:rPr lang="en-US"/>
              <a:t>Next, we select the payload. The default is usually windows/x64/meterpreter/reverse_tcp, which gives us a reverse shell on the target machine.</a:t>
            </a:r>
          </a:p>
          <a:p>
            <a:r>
              <a:rPr lang="en-US"/>
              <a:t>Command: set PAYLOAD windows/x64/meterpreter/reverse_tcp</a:t>
            </a:r>
          </a:p>
          <a:p>
            <a:r>
              <a:rPr lang="en-US"/>
              <a:t/>
            </a:r>
          </a:p>
          <a:p>
            <a:r>
              <a:rPr lang="en-US"/>
              <a:t>Step 4: Run the Exploit</a:t>
            </a:r>
          </a:p>
          <a:p>
            <a:r>
              <a:rPr lang="en-US"/>
              <a:t>Finally, we run the exploit!</a:t>
            </a:r>
          </a:p>
          <a:p>
            <a:r>
              <a:rPr lang="en-US"/>
              <a:t>Command: run</a:t>
            </a:r>
          </a:p>
          <a:p>
            <a:r>
              <a:rPr lang="en-US"/>
              <a:t>Explanation: Metasploit sends the payload to the target machine. If successful, we get a reverse shell, meaning we now control the target.</a:t>
            </a:r>
          </a:p>
          <a:p>
            <a:r>
              <a:rPr lang="en-US"/>
              <a:t/>
            </a:r>
          </a:p>
          <a:p>
            <a:r>
              <a:rPr lang="en-US"/>
              <a:t/>
            </a:r>
          </a:p>
          <a:p>
            <a:r>
              <a:rPr lang="en-US"/>
              <a:t>ONCE THE DEMO IS DONE, WE CAN SAY:</a:t>
            </a:r>
          </a:p>
          <a:p>
            <a:r>
              <a:rPr lang="en-US"/>
              <a:t/>
            </a:r>
          </a:p>
          <a:p>
            <a:r>
              <a:rPr lang="en-US"/>
              <a:t>See how simple that was? Even someone with no knowledge of hacking can search Google, follow these basic steps, and use Metasploit to take control of a vulnerable system.</a:t>
            </a:r>
          </a:p>
          <a:p>
            <a:r>
              <a:rPr lang="en-US"/>
              <a:t/>
            </a:r>
          </a:p>
          <a:p>
            <a:r>
              <a:rPr lang="en-US"/>
              <a:t>Metasploit automates everything, and tools like this make it possible for anyone to exploit SMBv1 vulnerabilities, often without fully understanding the technical details. This is why regular patching and disabling SMBv1 are so crucial for cybersecurity.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Some mitigation strategies are:</a:t>
            </a:r>
          </a:p>
          <a:p>
            <a:r>
              <a:rPr lang="en-US"/>
              <a:t>1. Update all systems with the latest Microsoft security patches, especially those that are still vulnerable to EternalBlue.</a:t>
            </a:r>
          </a:p>
          <a:p>
            <a:r>
              <a:rPr lang="en-US"/>
              <a:t>2. Turn off SMBv1 completely since it’s outdated and vulnerable. </a:t>
            </a:r>
          </a:p>
          <a:p>
            <a:r>
              <a:rPr lang="en-US"/>
              <a:t>3. Finally, conduct regular security checks to check for open ports and other vulnerabilities early.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0.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2.jpeg" Type="http://schemas.openxmlformats.org/officeDocument/2006/relationships/image"/><Relationship Id="rId6" Target="../media/VAHG706ro6U.mp4" Type="http://schemas.openxmlformats.org/officeDocument/2006/relationships/video"/><Relationship Id="rId7" Target="../media/VAHG706ro6U.mp4" Type="http://schemas.microsoft.com/office/2007/relationships/media"/></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8.png" Type="http://schemas.openxmlformats.org/officeDocument/2006/relationships/image"/><Relationship Id="rId4" Target="../media/image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6.jpeg" Type="http://schemas.openxmlformats.org/officeDocument/2006/relationships/image"/><Relationship Id="rId4" Target="../media/image17.jpeg" Type="http://schemas.openxmlformats.org/officeDocument/2006/relationships/image"/><Relationship Id="rId5" Target="../media/VAHGYLun8GA.mp4" Type="http://schemas.openxmlformats.org/officeDocument/2006/relationships/video"/><Relationship Id="rId6" Target="../media/VAHGYLun8GA.mp4" Type="http://schemas.microsoft.com/office/2007/relationships/media"/></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8.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10087176">
            <a:off x="3189187" y="-10712043"/>
            <a:ext cx="14136818" cy="12003443"/>
          </a:xfrm>
          <a:custGeom>
            <a:avLst/>
            <a:gdLst/>
            <a:ahLst/>
            <a:cxnLst/>
            <a:rect r="r" b="b" t="t" l="l"/>
            <a:pathLst>
              <a:path h="12003443" w="14136818">
                <a:moveTo>
                  <a:pt x="0" y="0"/>
                </a:moveTo>
                <a:lnTo>
                  <a:pt x="14136818" y="0"/>
                </a:lnTo>
                <a:lnTo>
                  <a:pt x="14136818" y="12003443"/>
                </a:lnTo>
                <a:lnTo>
                  <a:pt x="0" y="120034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7607601" y="1028700"/>
            <a:ext cx="4339184" cy="3666916"/>
          </a:xfrm>
          <a:custGeom>
            <a:avLst/>
            <a:gdLst/>
            <a:ahLst/>
            <a:cxnLst/>
            <a:rect r="r" b="b" t="t" l="l"/>
            <a:pathLst>
              <a:path h="3666916" w="4339184">
                <a:moveTo>
                  <a:pt x="0" y="0"/>
                </a:moveTo>
                <a:lnTo>
                  <a:pt x="4339184" y="0"/>
                </a:lnTo>
                <a:lnTo>
                  <a:pt x="4339184" y="3666916"/>
                </a:lnTo>
                <a:lnTo>
                  <a:pt x="0" y="3666916"/>
                </a:lnTo>
                <a:lnTo>
                  <a:pt x="0" y="0"/>
                </a:lnTo>
                <a:close/>
              </a:path>
            </a:pathLst>
          </a:custGeom>
          <a:blipFill>
            <a:blip r:embed="rId5"/>
            <a:stretch>
              <a:fillRect l="0" t="0" r="0" b="0"/>
            </a:stretch>
          </a:blipFill>
        </p:spPr>
      </p:sp>
      <p:sp>
        <p:nvSpPr>
          <p:cNvPr name="Freeform 4" id="4"/>
          <p:cNvSpPr/>
          <p:nvPr/>
        </p:nvSpPr>
        <p:spPr>
          <a:xfrm flipH="false" flipV="false" rot="0">
            <a:off x="12446940" y="5826658"/>
            <a:ext cx="4339184" cy="3431642"/>
          </a:xfrm>
          <a:custGeom>
            <a:avLst/>
            <a:gdLst/>
            <a:ahLst/>
            <a:cxnLst/>
            <a:rect r="r" b="b" t="t" l="l"/>
            <a:pathLst>
              <a:path h="3431642" w="4339184">
                <a:moveTo>
                  <a:pt x="0" y="0"/>
                </a:moveTo>
                <a:lnTo>
                  <a:pt x="4339184" y="0"/>
                </a:lnTo>
                <a:lnTo>
                  <a:pt x="4339184" y="3431642"/>
                </a:lnTo>
                <a:lnTo>
                  <a:pt x="0" y="3431642"/>
                </a:lnTo>
                <a:lnTo>
                  <a:pt x="0" y="0"/>
                </a:lnTo>
                <a:close/>
              </a:path>
            </a:pathLst>
          </a:custGeom>
          <a:blipFill>
            <a:blip r:embed="rId6"/>
            <a:stretch>
              <a:fillRect l="0" t="0" r="0" b="0"/>
            </a:stretch>
          </a:blipFill>
        </p:spPr>
      </p:sp>
      <p:sp>
        <p:nvSpPr>
          <p:cNvPr name="Freeform 5" id="5"/>
          <p:cNvSpPr/>
          <p:nvPr/>
        </p:nvSpPr>
        <p:spPr>
          <a:xfrm flipH="false" flipV="false" rot="0">
            <a:off x="7607601" y="5143500"/>
            <a:ext cx="4313682" cy="4153916"/>
          </a:xfrm>
          <a:custGeom>
            <a:avLst/>
            <a:gdLst/>
            <a:ahLst/>
            <a:cxnLst/>
            <a:rect r="r" b="b" t="t" l="l"/>
            <a:pathLst>
              <a:path h="4153916" w="4313682">
                <a:moveTo>
                  <a:pt x="0" y="0"/>
                </a:moveTo>
                <a:lnTo>
                  <a:pt x="4313682" y="0"/>
                </a:lnTo>
                <a:lnTo>
                  <a:pt x="4313682" y="4153916"/>
                </a:lnTo>
                <a:lnTo>
                  <a:pt x="0" y="4153916"/>
                </a:lnTo>
                <a:lnTo>
                  <a:pt x="0" y="0"/>
                </a:lnTo>
                <a:close/>
              </a:path>
            </a:pathLst>
          </a:custGeom>
          <a:blipFill>
            <a:blip r:embed="rId7"/>
            <a:stretch>
              <a:fillRect l="0" t="0" r="0" b="0"/>
            </a:stretch>
          </a:blipFill>
        </p:spPr>
      </p:sp>
      <p:sp>
        <p:nvSpPr>
          <p:cNvPr name="Freeform 6" id="6"/>
          <p:cNvSpPr/>
          <p:nvPr/>
        </p:nvSpPr>
        <p:spPr>
          <a:xfrm flipH="false" flipV="false" rot="0">
            <a:off x="12627363" y="1182700"/>
            <a:ext cx="3978338" cy="4281450"/>
          </a:xfrm>
          <a:custGeom>
            <a:avLst/>
            <a:gdLst/>
            <a:ahLst/>
            <a:cxnLst/>
            <a:rect r="r" b="b" t="t" l="l"/>
            <a:pathLst>
              <a:path h="4281450" w="3978338">
                <a:moveTo>
                  <a:pt x="0" y="0"/>
                </a:moveTo>
                <a:lnTo>
                  <a:pt x="3978338" y="0"/>
                </a:lnTo>
                <a:lnTo>
                  <a:pt x="3978338" y="4281450"/>
                </a:lnTo>
                <a:lnTo>
                  <a:pt x="0" y="4281450"/>
                </a:lnTo>
                <a:lnTo>
                  <a:pt x="0" y="0"/>
                </a:lnTo>
                <a:close/>
              </a:path>
            </a:pathLst>
          </a:custGeom>
          <a:blipFill>
            <a:blip r:embed="rId8"/>
            <a:stretch>
              <a:fillRect l="0" t="0" r="0" b="0"/>
            </a:stretch>
          </a:blipFill>
        </p:spPr>
      </p:sp>
      <p:sp>
        <p:nvSpPr>
          <p:cNvPr name="TextBox 7" id="7"/>
          <p:cNvSpPr txBox="true"/>
          <p:nvPr/>
        </p:nvSpPr>
        <p:spPr>
          <a:xfrm rot="0">
            <a:off x="1308608" y="4087552"/>
            <a:ext cx="5051892" cy="2111895"/>
          </a:xfrm>
          <a:prstGeom prst="rect">
            <a:avLst/>
          </a:prstGeom>
        </p:spPr>
        <p:txBody>
          <a:bodyPr anchor="t" rtlCol="false" tIns="0" lIns="0" bIns="0" rIns="0">
            <a:spAutoFit/>
          </a:bodyPr>
          <a:lstStyle/>
          <a:p>
            <a:pPr algn="ctr" marL="0" indent="0" lvl="0">
              <a:lnSpc>
                <a:spcPts val="8399"/>
              </a:lnSpc>
            </a:pPr>
            <a:r>
              <a:rPr lang="en-US" sz="6999" spc="-139">
                <a:solidFill>
                  <a:srgbClr val="662E20"/>
                </a:solidFill>
                <a:latin typeface="Tenor Sans"/>
                <a:ea typeface="Tenor Sans"/>
                <a:cs typeface="Tenor Sans"/>
                <a:sym typeface="Tenor Sans"/>
              </a:rPr>
              <a:t>IMAGINE THIS..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F6245"/>
        </a:solidFill>
      </p:bgPr>
    </p:bg>
    <p:spTree>
      <p:nvGrpSpPr>
        <p:cNvPr id="1" name=""/>
        <p:cNvGrpSpPr/>
        <p:nvPr/>
      </p:nvGrpSpPr>
      <p:grpSpPr>
        <a:xfrm>
          <a:off x="0" y="0"/>
          <a:ext cx="0" cy="0"/>
          <a:chOff x="0" y="0"/>
          <a:chExt cx="0" cy="0"/>
        </a:xfrm>
      </p:grpSpPr>
      <p:grpSp>
        <p:nvGrpSpPr>
          <p:cNvPr name="Group 2" id="2"/>
          <p:cNvGrpSpPr/>
          <p:nvPr/>
        </p:nvGrpSpPr>
        <p:grpSpPr>
          <a:xfrm rot="0">
            <a:off x="666750" y="1330156"/>
            <a:ext cx="9763125" cy="7626687"/>
            <a:chOff x="0" y="0"/>
            <a:chExt cx="13017500" cy="10168916"/>
          </a:xfrm>
        </p:grpSpPr>
        <p:sp>
          <p:nvSpPr>
            <p:cNvPr name="TextBox 3" id="3"/>
            <p:cNvSpPr txBox="true"/>
            <p:nvPr/>
          </p:nvSpPr>
          <p:spPr>
            <a:xfrm rot="0">
              <a:off x="0" y="190500"/>
              <a:ext cx="13017500" cy="7277100"/>
            </a:xfrm>
            <a:prstGeom prst="rect">
              <a:avLst/>
            </a:prstGeom>
          </p:spPr>
          <p:txBody>
            <a:bodyPr anchor="t" rtlCol="false" tIns="0" lIns="0" bIns="0" rIns="0">
              <a:spAutoFit/>
            </a:bodyPr>
            <a:lstStyle/>
            <a:p>
              <a:pPr algn="l" marL="0" indent="0" lvl="0">
                <a:lnSpc>
                  <a:spcPts val="10500"/>
                </a:lnSpc>
              </a:pPr>
              <a:r>
                <a:rPr lang="en-US" sz="10500" spc="-210">
                  <a:solidFill>
                    <a:srgbClr val="F4F4F4"/>
                  </a:solidFill>
                  <a:latin typeface="Tenor Sans"/>
                  <a:ea typeface="Tenor Sans"/>
                  <a:cs typeface="Tenor Sans"/>
                  <a:sym typeface="Tenor Sans"/>
                </a:rPr>
                <a:t>Gigabud Banking Malware Campaign</a:t>
              </a:r>
            </a:p>
          </p:txBody>
        </p:sp>
        <p:sp>
          <p:nvSpPr>
            <p:cNvPr name="TextBox 4" id="4"/>
            <p:cNvSpPr txBox="true"/>
            <p:nvPr/>
          </p:nvSpPr>
          <p:spPr>
            <a:xfrm rot="0">
              <a:off x="0" y="7977644"/>
              <a:ext cx="13017500" cy="2191273"/>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F4F4F4"/>
                  </a:solidFill>
                  <a:latin typeface="Clear Sans"/>
                  <a:ea typeface="Clear Sans"/>
                  <a:cs typeface="Clear Sans"/>
                  <a:sym typeface="Clear Sans"/>
                </a:rPr>
                <a:t>PRESENTED BY CHAVI, DHEERAJ</a:t>
              </a:r>
            </a:p>
            <a:p>
              <a:pPr algn="l" marL="0" indent="0" lvl="0">
                <a:lnSpc>
                  <a:spcPts val="4480"/>
                </a:lnSpc>
                <a:spcBef>
                  <a:spcPct val="0"/>
                </a:spcBef>
              </a:pPr>
            </a:p>
            <a:p>
              <a:pPr algn="l" marL="0" indent="0" lvl="0">
                <a:lnSpc>
                  <a:spcPts val="4480"/>
                </a:lnSpc>
                <a:spcBef>
                  <a:spcPct val="0"/>
                </a:spcBef>
              </a:pPr>
              <a:r>
                <a:rPr lang="en-US" sz="3200">
                  <a:solidFill>
                    <a:srgbClr val="F4F4F4"/>
                  </a:solidFill>
                  <a:latin typeface="Clear Sans"/>
                  <a:ea typeface="Clear Sans"/>
                  <a:cs typeface="Clear Sans"/>
                  <a:sym typeface="Clear Sans"/>
                </a:rPr>
                <a:t>PRESENTATION DATE: 2026-04-17</a:t>
              </a:r>
            </a:p>
          </p:txBody>
        </p:sp>
      </p:grpSp>
      <p:grpSp>
        <p:nvGrpSpPr>
          <p:cNvPr name="Group 5" id="5"/>
          <p:cNvGrpSpPr/>
          <p:nvPr/>
        </p:nvGrpSpPr>
        <p:grpSpPr>
          <a:xfrm rot="0">
            <a:off x="12172950" y="0"/>
            <a:ext cx="6115050" cy="10287000"/>
            <a:chOff x="0" y="0"/>
            <a:chExt cx="947381" cy="1593725"/>
          </a:xfrm>
        </p:grpSpPr>
        <p:sp>
          <p:nvSpPr>
            <p:cNvPr name="Freeform 6" id="6"/>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2"/>
              <a:stretch>
                <a:fillRect l="0" t="-58" r="0" b="-58"/>
              </a:stretch>
            </a:blipFill>
          </p:spPr>
        </p:sp>
      </p:grpSp>
      <p:sp>
        <p:nvSpPr>
          <p:cNvPr name="Freeform 7" id="7"/>
          <p:cNvSpPr/>
          <p:nvPr/>
        </p:nvSpPr>
        <p:spPr>
          <a:xfrm flipH="false" flipV="false" rot="0">
            <a:off x="8774635" y="7396104"/>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F6245"/>
        </a:solidFill>
      </p:bgPr>
    </p:bg>
    <p:spTree>
      <p:nvGrpSpPr>
        <p:cNvPr id="1" name=""/>
        <p:cNvGrpSpPr/>
        <p:nvPr/>
      </p:nvGrpSpPr>
      <p:grpSpPr>
        <a:xfrm>
          <a:off x="0" y="0"/>
          <a:ext cx="0" cy="0"/>
          <a:chOff x="0" y="0"/>
          <a:chExt cx="0" cy="0"/>
        </a:xfrm>
      </p:grpSpPr>
      <p:grpSp>
        <p:nvGrpSpPr>
          <p:cNvPr name="Group 2" id="2"/>
          <p:cNvGrpSpPr/>
          <p:nvPr/>
        </p:nvGrpSpPr>
        <p:grpSpPr>
          <a:xfrm rot="0">
            <a:off x="213323" y="669149"/>
            <a:ext cx="15317610" cy="3838439"/>
            <a:chOff x="0" y="0"/>
            <a:chExt cx="20423480" cy="5117919"/>
          </a:xfrm>
        </p:grpSpPr>
        <p:sp>
          <p:nvSpPr>
            <p:cNvPr name="TextBox 3" id="3"/>
            <p:cNvSpPr txBox="true"/>
            <p:nvPr/>
          </p:nvSpPr>
          <p:spPr>
            <a:xfrm rot="0">
              <a:off x="0" y="190500"/>
              <a:ext cx="20423480" cy="3721100"/>
            </a:xfrm>
            <a:prstGeom prst="rect">
              <a:avLst/>
            </a:prstGeom>
          </p:spPr>
          <p:txBody>
            <a:bodyPr anchor="t" rtlCol="false" tIns="0" lIns="0" bIns="0" rIns="0">
              <a:spAutoFit/>
            </a:bodyPr>
            <a:lstStyle/>
            <a:p>
              <a:pPr algn="l" marL="0" indent="0" lvl="0">
                <a:lnSpc>
                  <a:spcPts val="10500"/>
                </a:lnSpc>
              </a:pPr>
              <a:r>
                <a:rPr lang="en-US" sz="10500" spc="-210">
                  <a:solidFill>
                    <a:srgbClr val="F4F4F4"/>
                  </a:solidFill>
                  <a:latin typeface="Tenor Sans"/>
                  <a:ea typeface="Tenor Sans"/>
                  <a:cs typeface="Tenor Sans"/>
                  <a:sym typeface="Tenor Sans"/>
                </a:rPr>
                <a:t>Gigabud Banking Malware Campaign</a:t>
              </a:r>
            </a:p>
          </p:txBody>
        </p:sp>
        <p:sp>
          <p:nvSpPr>
            <p:cNvPr name="TextBox 4" id="4"/>
            <p:cNvSpPr txBox="true"/>
            <p:nvPr/>
          </p:nvSpPr>
          <p:spPr>
            <a:xfrm rot="0">
              <a:off x="0" y="4421644"/>
              <a:ext cx="20423480" cy="696275"/>
            </a:xfrm>
            <a:prstGeom prst="rect">
              <a:avLst/>
            </a:prstGeom>
          </p:spPr>
          <p:txBody>
            <a:bodyPr anchor="t" rtlCol="false" tIns="0" lIns="0" bIns="0" rIns="0">
              <a:spAutoFit/>
            </a:bodyPr>
            <a:lstStyle/>
            <a:p>
              <a:pPr algn="l" marL="0" indent="0" lvl="0">
                <a:lnSpc>
                  <a:spcPts val="4480"/>
                </a:lnSpc>
                <a:spcBef>
                  <a:spcPct val="0"/>
                </a:spcBef>
              </a:pPr>
            </a:p>
          </p:txBody>
        </p:sp>
      </p:grpSp>
      <p:grpSp>
        <p:nvGrpSpPr>
          <p:cNvPr name="Group 5" id="5"/>
          <p:cNvGrpSpPr/>
          <p:nvPr/>
        </p:nvGrpSpPr>
        <p:grpSpPr>
          <a:xfrm rot="0">
            <a:off x="12172950" y="0"/>
            <a:ext cx="6115050" cy="10287000"/>
            <a:chOff x="0" y="0"/>
            <a:chExt cx="947381" cy="1593725"/>
          </a:xfrm>
        </p:grpSpPr>
        <p:sp>
          <p:nvSpPr>
            <p:cNvPr name="Freeform 6" id="6"/>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3"/>
              <a:stretch>
                <a:fillRect l="-44710" t="0" r="-133420" b="0"/>
              </a:stretch>
            </a:blipFill>
          </p:spPr>
        </p:sp>
      </p:grpSp>
      <p:sp>
        <p:nvSpPr>
          <p:cNvPr name="Freeform 7" id="7"/>
          <p:cNvSpPr/>
          <p:nvPr/>
        </p:nvSpPr>
        <p:spPr>
          <a:xfrm flipH="false" flipV="false" rot="0">
            <a:off x="8774635" y="7396104"/>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8" id="8"/>
          <p:cNvSpPr txBox="true"/>
          <p:nvPr/>
        </p:nvSpPr>
        <p:spPr>
          <a:xfrm rot="0">
            <a:off x="964297" y="4251653"/>
            <a:ext cx="7810339" cy="4810125"/>
          </a:xfrm>
          <a:prstGeom prst="rect">
            <a:avLst/>
          </a:prstGeom>
        </p:spPr>
        <p:txBody>
          <a:bodyPr anchor="t" rtlCol="false" tIns="0" lIns="0" bIns="0" rIns="0">
            <a:spAutoFit/>
          </a:bodyPr>
          <a:lstStyle/>
          <a:p>
            <a:pPr algn="l">
              <a:lnSpc>
                <a:spcPts val="4200"/>
              </a:lnSpc>
            </a:pPr>
            <a:r>
              <a:rPr lang="en-US" sz="3500" b="true">
                <a:solidFill>
                  <a:srgbClr val="FFFFFF"/>
                </a:solidFill>
                <a:latin typeface="Clear Sans Bold"/>
                <a:ea typeface="Clear Sans Bold"/>
                <a:cs typeface="Clear Sans Bold"/>
                <a:sym typeface="Clear Sans Bold"/>
              </a:rPr>
              <a:t>→ TARGETS ANDROID MOBILE BANKING USERS</a:t>
            </a:r>
          </a:p>
          <a:p>
            <a:pPr algn="l">
              <a:lnSpc>
                <a:spcPts val="4200"/>
              </a:lnSpc>
            </a:pPr>
          </a:p>
          <a:p>
            <a:pPr algn="l">
              <a:lnSpc>
                <a:spcPts val="4200"/>
              </a:lnSpc>
            </a:pPr>
            <a:r>
              <a:rPr lang="en-US" sz="3500" b="true">
                <a:solidFill>
                  <a:srgbClr val="FFFFFF"/>
                </a:solidFill>
                <a:latin typeface="Clear Sans Bold"/>
                <a:ea typeface="Clear Sans Bold"/>
                <a:cs typeface="Clear Sans Bold"/>
                <a:sym typeface="Clear Sans Bold"/>
              </a:rPr>
              <a:t>→ Observed in regions like Thailand, Philippines, and Peru</a:t>
            </a:r>
          </a:p>
          <a:p>
            <a:pPr algn="l">
              <a:lnSpc>
                <a:spcPts val="4200"/>
              </a:lnSpc>
            </a:pPr>
          </a:p>
          <a:p>
            <a:pPr algn="l">
              <a:lnSpc>
                <a:spcPts val="4200"/>
              </a:lnSpc>
            </a:pPr>
            <a:r>
              <a:rPr lang="en-US" sz="3500" b="true">
                <a:solidFill>
                  <a:srgbClr val="FFFFFF"/>
                </a:solidFill>
                <a:latin typeface="Clear Sans Bold"/>
                <a:ea typeface="Clear Sans Bold"/>
                <a:cs typeface="Clear Sans Bold"/>
                <a:sym typeface="Clear Sans Bold"/>
              </a:rPr>
              <a:t>→ FOCUSES ON USERS RELYING HEAVILY ON MOBILE FINANCIAL APPS</a:t>
            </a:r>
          </a:p>
          <a:p>
            <a:pPr algn="l">
              <a:lnSpc>
                <a:spcPts val="4200"/>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F6245"/>
        </a:solidFill>
      </p:bgPr>
    </p:bg>
    <p:spTree>
      <p:nvGrpSpPr>
        <p:cNvPr id="1" name=""/>
        <p:cNvGrpSpPr/>
        <p:nvPr/>
      </p:nvGrpSpPr>
      <p:grpSpPr>
        <a:xfrm>
          <a:off x="0" y="0"/>
          <a:ext cx="0" cy="0"/>
          <a:chOff x="0" y="0"/>
          <a:chExt cx="0" cy="0"/>
        </a:xfrm>
      </p:grpSpPr>
      <p:sp>
        <p:nvSpPr>
          <p:cNvPr name="TextBox 2" id="2"/>
          <p:cNvSpPr txBox="true"/>
          <p:nvPr/>
        </p:nvSpPr>
        <p:spPr>
          <a:xfrm rot="0">
            <a:off x="750081" y="3708418"/>
            <a:ext cx="4007657" cy="1076325"/>
          </a:xfrm>
          <a:prstGeom prst="rect">
            <a:avLst/>
          </a:prstGeom>
        </p:spPr>
        <p:txBody>
          <a:bodyPr anchor="t" rtlCol="false" tIns="0" lIns="0" bIns="0" rIns="0">
            <a:spAutoFit/>
          </a:bodyPr>
          <a:lstStyle/>
          <a:p>
            <a:pPr algn="l">
              <a:lnSpc>
                <a:spcPts val="4200"/>
              </a:lnSpc>
            </a:pPr>
            <a:r>
              <a:rPr lang="en-US" sz="3500" b="true">
                <a:solidFill>
                  <a:srgbClr val="F4F4F4"/>
                </a:solidFill>
                <a:latin typeface="Clear Sans Bold"/>
                <a:ea typeface="Clear Sans Bold"/>
                <a:cs typeface="Clear Sans Bold"/>
                <a:sym typeface="Clear Sans Bold"/>
              </a:rPr>
              <a:t>STEP 1: </a:t>
            </a:r>
          </a:p>
          <a:p>
            <a:pPr algn="l" marL="0" indent="0" lvl="0">
              <a:lnSpc>
                <a:spcPts val="4200"/>
              </a:lnSpc>
              <a:spcBef>
                <a:spcPct val="0"/>
              </a:spcBef>
            </a:pPr>
            <a:r>
              <a:rPr lang="en-US" sz="3500">
                <a:solidFill>
                  <a:srgbClr val="F4F4F4"/>
                </a:solidFill>
                <a:latin typeface="Clear Sans"/>
                <a:ea typeface="Clear Sans"/>
                <a:cs typeface="Clear Sans"/>
                <a:sym typeface="Clear Sans"/>
              </a:rPr>
              <a:t>SMISHING </a:t>
            </a:r>
          </a:p>
        </p:txBody>
      </p:sp>
      <p:sp>
        <p:nvSpPr>
          <p:cNvPr name="TextBox 3" id="3"/>
          <p:cNvSpPr txBox="true"/>
          <p:nvPr/>
        </p:nvSpPr>
        <p:spPr>
          <a:xfrm rot="0">
            <a:off x="6422218" y="3662362"/>
            <a:ext cx="3425679" cy="1076325"/>
          </a:xfrm>
          <a:prstGeom prst="rect">
            <a:avLst/>
          </a:prstGeom>
        </p:spPr>
        <p:txBody>
          <a:bodyPr anchor="t" rtlCol="false" tIns="0" lIns="0" bIns="0" rIns="0">
            <a:spAutoFit/>
          </a:bodyPr>
          <a:lstStyle/>
          <a:p>
            <a:pPr algn="l" marL="0" indent="0" lvl="0">
              <a:lnSpc>
                <a:spcPts val="4200"/>
              </a:lnSpc>
              <a:spcBef>
                <a:spcPct val="0"/>
              </a:spcBef>
            </a:pPr>
            <a:r>
              <a:rPr lang="en-US" b="true" sz="3500">
                <a:solidFill>
                  <a:srgbClr val="F4F4F4"/>
                </a:solidFill>
                <a:latin typeface="Clear Sans Bold"/>
                <a:ea typeface="Clear Sans Bold"/>
                <a:cs typeface="Clear Sans Bold"/>
                <a:sym typeface="Clear Sans Bold"/>
              </a:rPr>
              <a:t>STEP 2:  </a:t>
            </a:r>
            <a:r>
              <a:rPr lang="en-US" sz="3500">
                <a:solidFill>
                  <a:srgbClr val="F4F4F4"/>
                </a:solidFill>
                <a:latin typeface="Clear Sans"/>
                <a:ea typeface="Clear Sans"/>
                <a:cs typeface="Clear Sans"/>
                <a:sym typeface="Clear Sans"/>
              </a:rPr>
              <a:t>PHISHING SITE</a:t>
            </a:r>
          </a:p>
        </p:txBody>
      </p:sp>
      <p:sp>
        <p:nvSpPr>
          <p:cNvPr name="Freeform 4" id="4"/>
          <p:cNvSpPr/>
          <p:nvPr/>
        </p:nvSpPr>
        <p:spPr>
          <a:xfrm flipH="false" flipV="false" rot="-6723923">
            <a:off x="13666568" y="-2297777"/>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5" id="5"/>
          <p:cNvSpPr txBox="true"/>
          <p:nvPr/>
        </p:nvSpPr>
        <p:spPr>
          <a:xfrm rot="0">
            <a:off x="666750" y="1562100"/>
            <a:ext cx="15516225" cy="1057275"/>
          </a:xfrm>
          <a:prstGeom prst="rect">
            <a:avLst/>
          </a:prstGeom>
        </p:spPr>
        <p:txBody>
          <a:bodyPr anchor="t" rtlCol="false" tIns="0" lIns="0" bIns="0" rIns="0">
            <a:spAutoFit/>
          </a:bodyPr>
          <a:lstStyle/>
          <a:p>
            <a:pPr algn="l" marL="0" indent="0" lvl="0">
              <a:lnSpc>
                <a:spcPts val="8399"/>
              </a:lnSpc>
              <a:spcBef>
                <a:spcPct val="0"/>
              </a:spcBef>
            </a:pPr>
            <a:r>
              <a:rPr lang="en-US" sz="6999" spc="-139">
                <a:solidFill>
                  <a:srgbClr val="F4F4F4"/>
                </a:solidFill>
                <a:latin typeface="Tenor Sans"/>
                <a:ea typeface="Tenor Sans"/>
                <a:cs typeface="Tenor Sans"/>
                <a:sym typeface="Tenor Sans"/>
              </a:rPr>
              <a:t>How Victims Get Pulled In</a:t>
            </a:r>
          </a:p>
        </p:txBody>
      </p:sp>
      <p:sp>
        <p:nvSpPr>
          <p:cNvPr name="AutoShape 6" id="6"/>
          <p:cNvSpPr/>
          <p:nvPr/>
        </p:nvSpPr>
        <p:spPr>
          <a:xfrm flipV="true">
            <a:off x="740556" y="5143500"/>
            <a:ext cx="17850263" cy="0"/>
          </a:xfrm>
          <a:prstGeom prst="line">
            <a:avLst/>
          </a:prstGeom>
          <a:ln cap="flat" w="19050">
            <a:solidFill>
              <a:srgbClr val="F4F4F4"/>
            </a:solidFill>
            <a:prstDash val="solid"/>
            <a:headEnd type="none" len="sm" w="sm"/>
            <a:tailEnd type="none" len="sm" w="sm"/>
          </a:ln>
        </p:spPr>
      </p:sp>
      <p:grpSp>
        <p:nvGrpSpPr>
          <p:cNvPr name="Group 7" id="7"/>
          <p:cNvGrpSpPr/>
          <p:nvPr/>
        </p:nvGrpSpPr>
        <p:grpSpPr>
          <a:xfrm rot="0">
            <a:off x="669118" y="5062538"/>
            <a:ext cx="161925" cy="161925"/>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grpSp>
        <p:nvGrpSpPr>
          <p:cNvPr name="Group 9" id="9"/>
          <p:cNvGrpSpPr/>
          <p:nvPr/>
        </p:nvGrpSpPr>
        <p:grpSpPr>
          <a:xfrm rot="0">
            <a:off x="6422218" y="5062538"/>
            <a:ext cx="161925" cy="161925"/>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grpSp>
        <p:nvGrpSpPr>
          <p:cNvPr name="Group 11" id="11"/>
          <p:cNvGrpSpPr/>
          <p:nvPr/>
        </p:nvGrpSpPr>
        <p:grpSpPr>
          <a:xfrm rot="0">
            <a:off x="12175318" y="5062538"/>
            <a:ext cx="161925" cy="161925"/>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sp>
        <p:nvSpPr>
          <p:cNvPr name="TextBox 13" id="13"/>
          <p:cNvSpPr txBox="true"/>
          <p:nvPr/>
        </p:nvSpPr>
        <p:spPr>
          <a:xfrm rot="0">
            <a:off x="12175318" y="3708418"/>
            <a:ext cx="6007907" cy="1076325"/>
          </a:xfrm>
          <a:prstGeom prst="rect">
            <a:avLst/>
          </a:prstGeom>
        </p:spPr>
        <p:txBody>
          <a:bodyPr anchor="t" rtlCol="false" tIns="0" lIns="0" bIns="0" rIns="0">
            <a:spAutoFit/>
          </a:bodyPr>
          <a:lstStyle/>
          <a:p>
            <a:pPr algn="l">
              <a:lnSpc>
                <a:spcPts val="4200"/>
              </a:lnSpc>
            </a:pPr>
            <a:r>
              <a:rPr lang="en-US" sz="3500" b="true">
                <a:solidFill>
                  <a:srgbClr val="F4F4F4"/>
                </a:solidFill>
                <a:latin typeface="Clear Sans Bold"/>
                <a:ea typeface="Clear Sans Bold"/>
                <a:cs typeface="Clear Sans Bold"/>
                <a:sym typeface="Clear Sans Bold"/>
              </a:rPr>
              <a:t>STEP 3: </a:t>
            </a:r>
          </a:p>
          <a:p>
            <a:pPr algn="l" marL="0" indent="0" lvl="0">
              <a:lnSpc>
                <a:spcPts val="4200"/>
              </a:lnSpc>
              <a:spcBef>
                <a:spcPct val="0"/>
              </a:spcBef>
            </a:pPr>
            <a:r>
              <a:rPr lang="en-US" sz="3500">
                <a:solidFill>
                  <a:srgbClr val="F4F4F4"/>
                </a:solidFill>
                <a:latin typeface="Clear Sans"/>
                <a:ea typeface="Clear Sans"/>
                <a:cs typeface="Clear Sans"/>
                <a:sym typeface="Clear Sans"/>
              </a:rPr>
              <a:t>APK DELIVERY</a:t>
            </a:r>
          </a:p>
        </p:txBody>
      </p:sp>
      <p:sp>
        <p:nvSpPr>
          <p:cNvPr name="AutoShape 14" id="14"/>
          <p:cNvSpPr/>
          <p:nvPr/>
        </p:nvSpPr>
        <p:spPr>
          <a:xfrm flipV="true">
            <a:off x="669118" y="8496300"/>
            <a:ext cx="17850263" cy="0"/>
          </a:xfrm>
          <a:prstGeom prst="line">
            <a:avLst/>
          </a:prstGeom>
          <a:ln cap="flat" w="19050">
            <a:solidFill>
              <a:srgbClr val="F4F4F4"/>
            </a:solidFill>
            <a:prstDash val="solid"/>
            <a:headEnd type="none" len="sm" w="sm"/>
            <a:tailEnd type="none" len="sm" w="sm"/>
          </a:ln>
        </p:spPr>
      </p:sp>
      <p:grpSp>
        <p:nvGrpSpPr>
          <p:cNvPr name="Group 15" id="15"/>
          <p:cNvGrpSpPr/>
          <p:nvPr/>
        </p:nvGrpSpPr>
        <p:grpSpPr>
          <a:xfrm rot="0">
            <a:off x="6422218" y="8415338"/>
            <a:ext cx="161925" cy="161925"/>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grpSp>
        <p:nvGrpSpPr>
          <p:cNvPr name="Group 17" id="17"/>
          <p:cNvGrpSpPr/>
          <p:nvPr/>
        </p:nvGrpSpPr>
        <p:grpSpPr>
          <a:xfrm rot="0">
            <a:off x="12175318" y="8415337"/>
            <a:ext cx="161925" cy="161925"/>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sp>
        <p:nvSpPr>
          <p:cNvPr name="TextBox 19" id="19"/>
          <p:cNvSpPr txBox="true"/>
          <p:nvPr/>
        </p:nvSpPr>
        <p:spPr>
          <a:xfrm rot="0">
            <a:off x="750081" y="6486498"/>
            <a:ext cx="4007657" cy="1609725"/>
          </a:xfrm>
          <a:prstGeom prst="rect">
            <a:avLst/>
          </a:prstGeom>
        </p:spPr>
        <p:txBody>
          <a:bodyPr anchor="t" rtlCol="false" tIns="0" lIns="0" bIns="0" rIns="0">
            <a:spAutoFit/>
          </a:bodyPr>
          <a:lstStyle/>
          <a:p>
            <a:pPr algn="l" marL="0" indent="0" lvl="0">
              <a:lnSpc>
                <a:spcPts val="4200"/>
              </a:lnSpc>
              <a:spcBef>
                <a:spcPct val="0"/>
              </a:spcBef>
            </a:pPr>
            <a:r>
              <a:rPr lang="en-US" b="true" sz="3500">
                <a:solidFill>
                  <a:srgbClr val="F4F4F4"/>
                </a:solidFill>
                <a:latin typeface="Clear Sans Bold"/>
                <a:ea typeface="Clear Sans Bold"/>
                <a:cs typeface="Clear Sans Bold"/>
                <a:sym typeface="Clear Sans Bold"/>
              </a:rPr>
              <a:t>STEP 4: </a:t>
            </a:r>
            <a:r>
              <a:rPr lang="en-US" sz="3500">
                <a:solidFill>
                  <a:srgbClr val="F4F4F4"/>
                </a:solidFill>
                <a:latin typeface="Clear Sans"/>
                <a:ea typeface="Clear Sans"/>
                <a:cs typeface="Clear Sans"/>
                <a:sym typeface="Clear Sans"/>
              </a:rPr>
              <a:t>PERMISSION SETUP</a:t>
            </a:r>
          </a:p>
        </p:txBody>
      </p:sp>
      <p:grpSp>
        <p:nvGrpSpPr>
          <p:cNvPr name="Group 20" id="20"/>
          <p:cNvGrpSpPr/>
          <p:nvPr/>
        </p:nvGrpSpPr>
        <p:grpSpPr>
          <a:xfrm rot="0">
            <a:off x="666750" y="8415337"/>
            <a:ext cx="161925" cy="161925"/>
            <a:chOff x="0" y="0"/>
            <a:chExt cx="6350000" cy="6350000"/>
          </a:xfrm>
        </p:grpSpPr>
        <p:sp>
          <p:nvSpPr>
            <p:cNvPr name="Freeform 21" id="2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sp>
        <p:nvSpPr>
          <p:cNvPr name="TextBox 22" id="22"/>
          <p:cNvSpPr txBox="true"/>
          <p:nvPr/>
        </p:nvSpPr>
        <p:spPr>
          <a:xfrm rot="0">
            <a:off x="6422218" y="6486498"/>
            <a:ext cx="5117263" cy="1609725"/>
          </a:xfrm>
          <a:prstGeom prst="rect">
            <a:avLst/>
          </a:prstGeom>
        </p:spPr>
        <p:txBody>
          <a:bodyPr anchor="t" rtlCol="false" tIns="0" lIns="0" bIns="0" rIns="0">
            <a:spAutoFit/>
          </a:bodyPr>
          <a:lstStyle/>
          <a:p>
            <a:pPr algn="l">
              <a:lnSpc>
                <a:spcPts val="4200"/>
              </a:lnSpc>
            </a:pPr>
            <a:r>
              <a:rPr lang="en-US" sz="3500" b="true">
                <a:solidFill>
                  <a:srgbClr val="F4F4F4"/>
                </a:solidFill>
                <a:latin typeface="Clear Sans Bold"/>
                <a:ea typeface="Clear Sans Bold"/>
                <a:cs typeface="Clear Sans Bold"/>
                <a:sym typeface="Clear Sans Bold"/>
              </a:rPr>
              <a:t>STEP 5: </a:t>
            </a:r>
          </a:p>
          <a:p>
            <a:pPr algn="l" marL="0" indent="0" lvl="0">
              <a:lnSpc>
                <a:spcPts val="4200"/>
              </a:lnSpc>
              <a:spcBef>
                <a:spcPct val="0"/>
              </a:spcBef>
            </a:pPr>
            <a:r>
              <a:rPr lang="en-US" sz="3500">
                <a:solidFill>
                  <a:srgbClr val="F4F4F4"/>
                </a:solidFill>
                <a:latin typeface="Clear Sans"/>
                <a:ea typeface="Clear Sans"/>
                <a:cs typeface="Clear Sans"/>
                <a:sym typeface="Clear Sans"/>
              </a:rPr>
              <a:t>OVERLAY + CREDENTIAL &amp; OTP INTERCEPTION</a:t>
            </a:r>
          </a:p>
        </p:txBody>
      </p:sp>
      <p:sp>
        <p:nvSpPr>
          <p:cNvPr name="TextBox 23" id="23"/>
          <p:cNvSpPr txBox="true"/>
          <p:nvPr/>
        </p:nvSpPr>
        <p:spPr>
          <a:xfrm rot="0">
            <a:off x="12175318" y="7019898"/>
            <a:ext cx="4628682" cy="1076325"/>
          </a:xfrm>
          <a:prstGeom prst="rect">
            <a:avLst/>
          </a:prstGeom>
        </p:spPr>
        <p:txBody>
          <a:bodyPr anchor="t" rtlCol="false" tIns="0" lIns="0" bIns="0" rIns="0">
            <a:spAutoFit/>
          </a:bodyPr>
          <a:lstStyle/>
          <a:p>
            <a:pPr algn="l">
              <a:lnSpc>
                <a:spcPts val="4200"/>
              </a:lnSpc>
            </a:pPr>
            <a:r>
              <a:rPr lang="en-US" sz="3500" b="true">
                <a:solidFill>
                  <a:srgbClr val="F4F4F4"/>
                </a:solidFill>
                <a:latin typeface="Clear Sans Bold"/>
                <a:ea typeface="Clear Sans Bold"/>
                <a:cs typeface="Clear Sans Bold"/>
                <a:sym typeface="Clear Sans Bold"/>
              </a:rPr>
              <a:t>STEP 6: </a:t>
            </a:r>
          </a:p>
          <a:p>
            <a:pPr algn="l" marL="0" indent="0" lvl="0">
              <a:lnSpc>
                <a:spcPts val="4200"/>
              </a:lnSpc>
              <a:spcBef>
                <a:spcPct val="0"/>
              </a:spcBef>
            </a:pPr>
            <a:r>
              <a:rPr lang="en-US" sz="3500">
                <a:solidFill>
                  <a:srgbClr val="F4F4F4"/>
                </a:solidFill>
                <a:latin typeface="Clear Sans"/>
                <a:ea typeface="Clear Sans"/>
                <a:cs typeface="Clear Sans"/>
                <a:sym typeface="Clear Sans"/>
              </a:rPr>
              <a:t> FRAUD EXECUTION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10087176">
            <a:off x="3189187" y="-10712043"/>
            <a:ext cx="14136818" cy="12003443"/>
          </a:xfrm>
          <a:custGeom>
            <a:avLst/>
            <a:gdLst/>
            <a:ahLst/>
            <a:cxnLst/>
            <a:rect r="r" b="b" t="t" l="l"/>
            <a:pathLst>
              <a:path h="12003443" w="14136818">
                <a:moveTo>
                  <a:pt x="0" y="0"/>
                </a:moveTo>
                <a:lnTo>
                  <a:pt x="14136818" y="0"/>
                </a:lnTo>
                <a:lnTo>
                  <a:pt x="14136818" y="12003443"/>
                </a:lnTo>
                <a:lnTo>
                  <a:pt x="0" y="120034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5027792" y="4697237"/>
            <a:ext cx="8232417" cy="1343810"/>
          </a:xfrm>
          <a:prstGeom prst="rect">
            <a:avLst/>
          </a:prstGeom>
        </p:spPr>
        <p:txBody>
          <a:bodyPr anchor="t" rtlCol="false" tIns="0" lIns="0" bIns="0" rIns="0">
            <a:spAutoFit/>
          </a:bodyPr>
          <a:lstStyle/>
          <a:p>
            <a:pPr algn="ctr" marL="0" indent="0" lvl="0">
              <a:lnSpc>
                <a:spcPts val="10614"/>
              </a:lnSpc>
            </a:pPr>
            <a:r>
              <a:rPr lang="en-US" sz="8845" spc="-176">
                <a:solidFill>
                  <a:srgbClr val="662E20"/>
                </a:solidFill>
                <a:latin typeface="Tenor Sans"/>
                <a:ea typeface="Tenor Sans"/>
                <a:cs typeface="Tenor Sans"/>
                <a:sym typeface="Tenor Sans"/>
              </a:rPr>
              <a:t>DEMO TIME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10087176">
            <a:off x="3189187" y="-10712043"/>
            <a:ext cx="14136818" cy="12003443"/>
          </a:xfrm>
          <a:custGeom>
            <a:avLst/>
            <a:gdLst/>
            <a:ahLst/>
            <a:cxnLst/>
            <a:rect r="r" b="b" t="t" l="l"/>
            <a:pathLst>
              <a:path h="12003443" w="14136818">
                <a:moveTo>
                  <a:pt x="0" y="0"/>
                </a:moveTo>
                <a:lnTo>
                  <a:pt x="14136818" y="0"/>
                </a:lnTo>
                <a:lnTo>
                  <a:pt x="14136818" y="12003443"/>
                </a:lnTo>
                <a:lnTo>
                  <a:pt x="0" y="120034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686446" y="2166943"/>
            <a:ext cx="6628218" cy="6640291"/>
          </a:xfrm>
          <a:custGeom>
            <a:avLst/>
            <a:gdLst/>
            <a:ahLst/>
            <a:cxnLst/>
            <a:rect r="r" b="b" t="t" l="l"/>
            <a:pathLst>
              <a:path h="6640291" w="6628218">
                <a:moveTo>
                  <a:pt x="0" y="0"/>
                </a:moveTo>
                <a:lnTo>
                  <a:pt x="6628218" y="0"/>
                </a:lnTo>
                <a:lnTo>
                  <a:pt x="6628218" y="6640291"/>
                </a:lnTo>
                <a:lnTo>
                  <a:pt x="0" y="6640291"/>
                </a:lnTo>
                <a:lnTo>
                  <a:pt x="0" y="0"/>
                </a:lnTo>
                <a:close/>
              </a:path>
            </a:pathLst>
          </a:custGeom>
          <a:blipFill>
            <a:blip r:embed="rId4"/>
            <a:stretch>
              <a:fillRect l="0" t="0" r="0" b="0"/>
            </a:stretch>
          </a:blipFill>
        </p:spPr>
      </p:sp>
      <p:sp>
        <p:nvSpPr>
          <p:cNvPr name="TextBox 4" id="4"/>
          <p:cNvSpPr txBox="true"/>
          <p:nvPr/>
        </p:nvSpPr>
        <p:spPr>
          <a:xfrm rot="0">
            <a:off x="1225727" y="3069041"/>
            <a:ext cx="6352264" cy="5346665"/>
          </a:xfrm>
          <a:prstGeom prst="rect">
            <a:avLst/>
          </a:prstGeom>
        </p:spPr>
        <p:txBody>
          <a:bodyPr anchor="t" rtlCol="false" tIns="0" lIns="0" bIns="0" rIns="0">
            <a:spAutoFit/>
          </a:bodyPr>
          <a:lstStyle/>
          <a:p>
            <a:pPr algn="ctr" marL="0" indent="0" lvl="0">
              <a:lnSpc>
                <a:spcPts val="10614"/>
              </a:lnSpc>
            </a:pPr>
            <a:r>
              <a:rPr lang="en-US" sz="8845" spc="-176">
                <a:solidFill>
                  <a:srgbClr val="662E20"/>
                </a:solidFill>
                <a:latin typeface="Tenor Sans"/>
                <a:ea typeface="Tenor Sans"/>
                <a:cs typeface="Tenor Sans"/>
                <a:sym typeface="Tenor Sans"/>
              </a:rPr>
              <a:t>Meet Alice, a regular banking user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10087176">
            <a:off x="3189187" y="-10712043"/>
            <a:ext cx="14136818" cy="12003443"/>
          </a:xfrm>
          <a:custGeom>
            <a:avLst/>
            <a:gdLst/>
            <a:ahLst/>
            <a:cxnLst/>
            <a:rect r="r" b="b" t="t" l="l"/>
            <a:pathLst>
              <a:path h="12003443" w="14136818">
                <a:moveTo>
                  <a:pt x="0" y="0"/>
                </a:moveTo>
                <a:lnTo>
                  <a:pt x="14136818" y="0"/>
                </a:lnTo>
                <a:lnTo>
                  <a:pt x="14136818" y="12003443"/>
                </a:lnTo>
                <a:lnTo>
                  <a:pt x="0" y="120034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6885798" y="355992"/>
            <a:ext cx="4854110" cy="9575016"/>
            <a:chOff x="0" y="0"/>
            <a:chExt cx="6472147" cy="12766689"/>
          </a:xfrm>
        </p:grpSpPr>
        <p:pic>
          <p:nvPicPr>
            <p:cNvPr name="Picture 4" id="4">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10927" t="8426" r="6541" b="0"/>
            <a:stretch>
              <a:fillRect/>
            </a:stretch>
          </p:blipFill>
          <p:spPr>
            <a:xfrm flipH="false" flipV="false">
              <a:off x="0" y="0"/>
              <a:ext cx="6472147" cy="12766689"/>
            </a:xfrm>
            <a:prstGeom prst="rect">
              <a:avLst/>
            </a:prstGeom>
          </p:spPr>
        </p:pic>
      </p:gr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57164" y="1028700"/>
            <a:ext cx="14973672" cy="9321111"/>
          </a:xfrm>
          <a:custGeom>
            <a:avLst/>
            <a:gdLst/>
            <a:ahLst/>
            <a:cxnLst/>
            <a:rect r="r" b="b" t="t" l="l"/>
            <a:pathLst>
              <a:path h="9321111" w="14973672">
                <a:moveTo>
                  <a:pt x="0" y="0"/>
                </a:moveTo>
                <a:lnTo>
                  <a:pt x="14973672" y="0"/>
                </a:lnTo>
                <a:lnTo>
                  <a:pt x="14973672" y="9321111"/>
                </a:lnTo>
                <a:lnTo>
                  <a:pt x="0" y="9321111"/>
                </a:lnTo>
                <a:lnTo>
                  <a:pt x="0" y="0"/>
                </a:lnTo>
                <a:close/>
              </a:path>
            </a:pathLst>
          </a:custGeom>
          <a:blipFill>
            <a:blip r:embed="rId3"/>
            <a:stretch>
              <a:fillRect l="0" t="0" r="0" b="0"/>
            </a:stretch>
          </a:blipFill>
        </p:spPr>
      </p:sp>
      <p:sp>
        <p:nvSpPr>
          <p:cNvPr name="TextBox 3" id="3"/>
          <p:cNvSpPr txBox="true"/>
          <p:nvPr/>
        </p:nvSpPr>
        <p:spPr>
          <a:xfrm rot="0">
            <a:off x="5140360" y="190500"/>
            <a:ext cx="8007279" cy="838200"/>
          </a:xfrm>
          <a:prstGeom prst="rect">
            <a:avLst/>
          </a:prstGeom>
        </p:spPr>
        <p:txBody>
          <a:bodyPr anchor="t" rtlCol="false" tIns="0" lIns="0" bIns="0" rIns="0">
            <a:spAutoFit/>
          </a:bodyPr>
          <a:lstStyle/>
          <a:p>
            <a:pPr algn="ctr" marL="0" indent="0" lvl="0">
              <a:lnSpc>
                <a:spcPts val="6547"/>
              </a:lnSpc>
            </a:pPr>
            <a:r>
              <a:rPr lang="en-US" sz="5456" spc="-109">
                <a:solidFill>
                  <a:srgbClr val="662E20"/>
                </a:solidFill>
                <a:latin typeface="Tenor Sans"/>
                <a:ea typeface="Tenor Sans"/>
                <a:cs typeface="Tenor Sans"/>
                <a:sym typeface="Tenor Sans"/>
              </a:rPr>
              <a:t>TouchAction Service</a:t>
            </a:r>
          </a:p>
        </p:txBody>
      </p:sp>
      <p:sp>
        <p:nvSpPr>
          <p:cNvPr name="AutoShape 4" id="4"/>
          <p:cNvSpPr/>
          <p:nvPr/>
        </p:nvSpPr>
        <p:spPr>
          <a:xfrm>
            <a:off x="5897880" y="1647457"/>
            <a:ext cx="3618519" cy="0"/>
          </a:xfrm>
          <a:prstGeom prst="line">
            <a:avLst/>
          </a:prstGeom>
          <a:ln cap="flat" w="38100">
            <a:solidFill>
              <a:srgbClr val="FFFFFF"/>
            </a:solidFill>
            <a:prstDash val="solid"/>
            <a:headEnd type="none" len="sm" w="sm"/>
            <a:tailEnd type="triangle" len="med" w="lg"/>
          </a:ln>
        </p:spPr>
      </p:sp>
      <p:sp>
        <p:nvSpPr>
          <p:cNvPr name="TextBox 5" id="5"/>
          <p:cNvSpPr txBox="true"/>
          <p:nvPr/>
        </p:nvSpPr>
        <p:spPr>
          <a:xfrm rot="0">
            <a:off x="9534968" y="4131968"/>
            <a:ext cx="4195259" cy="384660"/>
          </a:xfrm>
          <a:prstGeom prst="rect">
            <a:avLst/>
          </a:prstGeom>
        </p:spPr>
        <p:txBody>
          <a:bodyPr anchor="t" rtlCol="false" tIns="0" lIns="0" bIns="0" rIns="0">
            <a:spAutoFit/>
          </a:bodyPr>
          <a:lstStyle/>
          <a:p>
            <a:pPr algn="l" marL="501407" indent="-250703" lvl="1">
              <a:lnSpc>
                <a:spcPts val="3251"/>
              </a:lnSpc>
              <a:spcBef>
                <a:spcPct val="0"/>
              </a:spcBef>
              <a:buAutoNum type="arabicPeriod" startAt="1"/>
            </a:pPr>
            <a:r>
              <a:rPr lang="en-US" b="true" sz="2322">
                <a:solidFill>
                  <a:srgbClr val="FFFFFF"/>
                </a:solidFill>
                <a:latin typeface="Clear Sans Medium"/>
                <a:ea typeface="Clear Sans Medium"/>
                <a:cs typeface="Clear Sans Medium"/>
                <a:sym typeface="Clear Sans Medium"/>
              </a:rPr>
              <a:t>STOPS IF DATA IS INVALID</a:t>
            </a:r>
          </a:p>
        </p:txBody>
      </p:sp>
      <p:sp>
        <p:nvSpPr>
          <p:cNvPr name="AutoShape 6" id="6"/>
          <p:cNvSpPr/>
          <p:nvPr/>
        </p:nvSpPr>
        <p:spPr>
          <a:xfrm>
            <a:off x="11141280" y="2445652"/>
            <a:ext cx="1013458" cy="0"/>
          </a:xfrm>
          <a:prstGeom prst="line">
            <a:avLst/>
          </a:prstGeom>
          <a:ln cap="flat" w="38100">
            <a:solidFill>
              <a:srgbClr val="FFFFFF"/>
            </a:solidFill>
            <a:prstDash val="solid"/>
            <a:headEnd type="none" len="sm" w="sm"/>
            <a:tailEnd type="triangle" len="med" w="lg"/>
          </a:ln>
        </p:spPr>
      </p:sp>
      <p:sp>
        <p:nvSpPr>
          <p:cNvPr name="TextBox 7" id="7"/>
          <p:cNvSpPr txBox="true"/>
          <p:nvPr/>
        </p:nvSpPr>
        <p:spPr>
          <a:xfrm rot="0">
            <a:off x="9895431" y="1420762"/>
            <a:ext cx="3834795" cy="405765"/>
          </a:xfrm>
          <a:prstGeom prst="rect">
            <a:avLst/>
          </a:prstGeom>
        </p:spPr>
        <p:txBody>
          <a:bodyPr anchor="t" rtlCol="false" tIns="0" lIns="0" bIns="0" rIns="0">
            <a:spAutoFit/>
          </a:bodyPr>
          <a:lstStyle/>
          <a:p>
            <a:pPr algn="l" marL="518160" indent="-259080" lvl="1">
              <a:lnSpc>
                <a:spcPts val="3359"/>
              </a:lnSpc>
              <a:spcBef>
                <a:spcPct val="0"/>
              </a:spcBef>
              <a:buAutoNum type="arabicPeriod" startAt="1"/>
            </a:pPr>
            <a:r>
              <a:rPr lang="en-US" b="true" sz="2400">
                <a:solidFill>
                  <a:srgbClr val="FFFFFF"/>
                </a:solidFill>
                <a:latin typeface="Clear Sans Medium"/>
                <a:ea typeface="Clear Sans Medium"/>
                <a:cs typeface="Clear Sans Medium"/>
                <a:sym typeface="Clear Sans Medium"/>
              </a:rPr>
              <a:t>READS COMMAND DATA</a:t>
            </a:r>
          </a:p>
        </p:txBody>
      </p:sp>
      <p:sp>
        <p:nvSpPr>
          <p:cNvPr name="AutoShape 8" id="8"/>
          <p:cNvSpPr/>
          <p:nvPr/>
        </p:nvSpPr>
        <p:spPr>
          <a:xfrm>
            <a:off x="5140360" y="4343348"/>
            <a:ext cx="4376039" cy="0"/>
          </a:xfrm>
          <a:prstGeom prst="line">
            <a:avLst/>
          </a:prstGeom>
          <a:ln cap="flat" w="38100">
            <a:solidFill>
              <a:srgbClr val="FFFFFF"/>
            </a:solidFill>
            <a:prstDash val="solid"/>
            <a:headEnd type="none" len="sm" w="sm"/>
            <a:tailEnd type="triangle" len="med" w="lg"/>
          </a:ln>
        </p:spPr>
      </p:sp>
      <p:sp>
        <p:nvSpPr>
          <p:cNvPr name="TextBox 9" id="9"/>
          <p:cNvSpPr txBox="true"/>
          <p:nvPr/>
        </p:nvSpPr>
        <p:spPr>
          <a:xfrm rot="0">
            <a:off x="12307138" y="2350790"/>
            <a:ext cx="4476098" cy="790210"/>
          </a:xfrm>
          <a:prstGeom prst="rect">
            <a:avLst/>
          </a:prstGeom>
        </p:spPr>
        <p:txBody>
          <a:bodyPr anchor="t" rtlCol="false" tIns="0" lIns="0" bIns="0" rIns="0">
            <a:spAutoFit/>
          </a:bodyPr>
          <a:lstStyle/>
          <a:p>
            <a:pPr algn="l" marL="501407" indent="-250703" lvl="1">
              <a:lnSpc>
                <a:spcPts val="3251"/>
              </a:lnSpc>
              <a:spcBef>
                <a:spcPct val="0"/>
              </a:spcBef>
              <a:buAutoNum type="arabicPeriod" startAt="1"/>
            </a:pPr>
            <a:r>
              <a:rPr lang="en-US" b="true" sz="2322">
                <a:solidFill>
                  <a:srgbClr val="FFFFFF"/>
                </a:solidFill>
                <a:latin typeface="Clear Sans Medium"/>
                <a:ea typeface="Clear Sans Medium"/>
                <a:cs typeface="Clear Sans Medium"/>
                <a:sym typeface="Clear Sans Medium"/>
              </a:rPr>
              <a:t>PARSES TOUCH COORDINATES</a:t>
            </a:r>
          </a:p>
        </p:txBody>
      </p:sp>
      <p:sp>
        <p:nvSpPr>
          <p:cNvPr name="TextBox 10" id="10"/>
          <p:cNvSpPr txBox="true"/>
          <p:nvPr/>
        </p:nvSpPr>
        <p:spPr>
          <a:xfrm rot="0">
            <a:off x="11632597" y="6575470"/>
            <a:ext cx="4476098" cy="384660"/>
          </a:xfrm>
          <a:prstGeom prst="rect">
            <a:avLst/>
          </a:prstGeom>
        </p:spPr>
        <p:txBody>
          <a:bodyPr anchor="t" rtlCol="false" tIns="0" lIns="0" bIns="0" rIns="0">
            <a:spAutoFit/>
          </a:bodyPr>
          <a:lstStyle/>
          <a:p>
            <a:pPr algn="l" marL="501407" indent="-250703" lvl="1">
              <a:lnSpc>
                <a:spcPts val="3251"/>
              </a:lnSpc>
              <a:spcBef>
                <a:spcPct val="0"/>
              </a:spcBef>
              <a:buAutoNum type="arabicPeriod" startAt="1"/>
            </a:pPr>
            <a:r>
              <a:rPr lang="en-US" b="true" sz="2322">
                <a:solidFill>
                  <a:srgbClr val="FFFFFF"/>
                </a:solidFill>
                <a:latin typeface="Clear Sans Medium"/>
                <a:ea typeface="Clear Sans Medium"/>
                <a:cs typeface="Clear Sans Medium"/>
                <a:sym typeface="Clear Sans Medium"/>
              </a:rPr>
              <a:t>BUILDS GESTURE PATH</a:t>
            </a:r>
          </a:p>
        </p:txBody>
      </p:sp>
      <p:sp>
        <p:nvSpPr>
          <p:cNvPr name="TextBox 11" id="11"/>
          <p:cNvSpPr txBox="true"/>
          <p:nvPr/>
        </p:nvSpPr>
        <p:spPr>
          <a:xfrm rot="0">
            <a:off x="11733459" y="9788672"/>
            <a:ext cx="4897376" cy="384660"/>
          </a:xfrm>
          <a:prstGeom prst="rect">
            <a:avLst/>
          </a:prstGeom>
        </p:spPr>
        <p:txBody>
          <a:bodyPr anchor="t" rtlCol="false" tIns="0" lIns="0" bIns="0" rIns="0">
            <a:spAutoFit/>
          </a:bodyPr>
          <a:lstStyle/>
          <a:p>
            <a:pPr algn="l" marL="501407" indent="-250703" lvl="1">
              <a:lnSpc>
                <a:spcPts val="3251"/>
              </a:lnSpc>
              <a:spcBef>
                <a:spcPct val="0"/>
              </a:spcBef>
              <a:buAutoNum type="arabicPeriod" startAt="1"/>
            </a:pPr>
            <a:r>
              <a:rPr lang="en-US" b="true" sz="2322">
                <a:solidFill>
                  <a:srgbClr val="FFFFFF"/>
                </a:solidFill>
                <a:latin typeface="Clear Sans Medium"/>
                <a:ea typeface="Clear Sans Medium"/>
                <a:cs typeface="Clear Sans Medium"/>
                <a:sym typeface="Clear Sans Medium"/>
              </a:rPr>
              <a:t>EXECUTES GESTURE ON DEVICE</a:t>
            </a:r>
          </a:p>
        </p:txBody>
      </p:sp>
      <p:sp>
        <p:nvSpPr>
          <p:cNvPr name="AutoShape 12" id="12"/>
          <p:cNvSpPr/>
          <p:nvPr/>
        </p:nvSpPr>
        <p:spPr>
          <a:xfrm>
            <a:off x="9534968" y="6613570"/>
            <a:ext cx="2097629" cy="173280"/>
          </a:xfrm>
          <a:prstGeom prst="line">
            <a:avLst/>
          </a:prstGeom>
          <a:ln cap="flat" w="38100">
            <a:solidFill>
              <a:srgbClr val="FFFFFF"/>
            </a:solidFill>
            <a:prstDash val="solid"/>
            <a:headEnd type="none" len="sm" w="sm"/>
            <a:tailEnd type="triangle" len="med" w="lg"/>
          </a:ln>
        </p:spPr>
      </p:sp>
      <p:sp>
        <p:nvSpPr>
          <p:cNvPr name="AutoShape 13" id="13"/>
          <p:cNvSpPr/>
          <p:nvPr/>
        </p:nvSpPr>
        <p:spPr>
          <a:xfrm flipV="true">
            <a:off x="9619112" y="6960131"/>
            <a:ext cx="2013485" cy="150457"/>
          </a:xfrm>
          <a:prstGeom prst="line">
            <a:avLst/>
          </a:prstGeom>
          <a:ln cap="flat" w="38100">
            <a:solidFill>
              <a:srgbClr val="FFFFFF"/>
            </a:solidFill>
            <a:prstDash val="solid"/>
            <a:headEnd type="none" len="sm" w="sm"/>
            <a:tailEnd type="triangle" len="med" w="lg"/>
          </a:ln>
        </p:spPr>
      </p:sp>
      <p:sp>
        <p:nvSpPr>
          <p:cNvPr name="AutoShape 14" id="14"/>
          <p:cNvSpPr/>
          <p:nvPr/>
        </p:nvSpPr>
        <p:spPr>
          <a:xfrm>
            <a:off x="11295878" y="10000052"/>
            <a:ext cx="516951" cy="19050"/>
          </a:xfrm>
          <a:prstGeom prst="line">
            <a:avLst/>
          </a:prstGeom>
          <a:ln cap="flat" w="38100">
            <a:solidFill>
              <a:srgbClr val="FFFFFF"/>
            </a:solidFill>
            <a:prstDash val="solid"/>
            <a:headEnd type="none" len="sm" w="sm"/>
            <a:tailEnd type="triangle" len="med" w="lg"/>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828675"/>
            <a:ext cx="11254062" cy="9458325"/>
          </a:xfrm>
          <a:custGeom>
            <a:avLst/>
            <a:gdLst/>
            <a:ahLst/>
            <a:cxnLst/>
            <a:rect r="r" b="b" t="t" l="l"/>
            <a:pathLst>
              <a:path h="9458325" w="11254062">
                <a:moveTo>
                  <a:pt x="0" y="0"/>
                </a:moveTo>
                <a:lnTo>
                  <a:pt x="11254062" y="0"/>
                </a:lnTo>
                <a:lnTo>
                  <a:pt x="11254062" y="9458325"/>
                </a:lnTo>
                <a:lnTo>
                  <a:pt x="0" y="9458325"/>
                </a:lnTo>
                <a:lnTo>
                  <a:pt x="0" y="0"/>
                </a:lnTo>
                <a:close/>
              </a:path>
            </a:pathLst>
          </a:custGeom>
          <a:blipFill>
            <a:blip r:embed="rId3"/>
            <a:stretch>
              <a:fillRect l="0" t="0" r="-500" b="0"/>
            </a:stretch>
          </a:blipFill>
        </p:spPr>
      </p:sp>
      <p:sp>
        <p:nvSpPr>
          <p:cNvPr name="TextBox 3" id="3"/>
          <p:cNvSpPr txBox="true"/>
          <p:nvPr/>
        </p:nvSpPr>
        <p:spPr>
          <a:xfrm rot="0">
            <a:off x="4646486" y="-9525"/>
            <a:ext cx="8503786" cy="838200"/>
          </a:xfrm>
          <a:prstGeom prst="rect">
            <a:avLst/>
          </a:prstGeom>
        </p:spPr>
        <p:txBody>
          <a:bodyPr anchor="t" rtlCol="false" tIns="0" lIns="0" bIns="0" rIns="0">
            <a:spAutoFit/>
          </a:bodyPr>
          <a:lstStyle/>
          <a:p>
            <a:pPr algn="ctr" marL="0" indent="0" lvl="0">
              <a:lnSpc>
                <a:spcPts val="6547"/>
              </a:lnSpc>
            </a:pPr>
            <a:r>
              <a:rPr lang="en-US" sz="5456" spc="-109">
                <a:solidFill>
                  <a:srgbClr val="662E20"/>
                </a:solidFill>
                <a:latin typeface="Tenor Sans"/>
                <a:ea typeface="Tenor Sans"/>
                <a:cs typeface="Tenor Sans"/>
                <a:sym typeface="Tenor Sans"/>
              </a:rPr>
              <a:t>Keylogger implementation</a:t>
            </a:r>
          </a:p>
        </p:txBody>
      </p:sp>
      <p:sp>
        <p:nvSpPr>
          <p:cNvPr name="AutoShape 4" id="4"/>
          <p:cNvSpPr/>
          <p:nvPr/>
        </p:nvSpPr>
        <p:spPr>
          <a:xfrm>
            <a:off x="7400986" y="1231472"/>
            <a:ext cx="5451693" cy="0"/>
          </a:xfrm>
          <a:prstGeom prst="line">
            <a:avLst/>
          </a:prstGeom>
          <a:ln cap="flat" w="38100">
            <a:solidFill>
              <a:srgbClr val="000000"/>
            </a:solidFill>
            <a:prstDash val="solid"/>
            <a:headEnd type="none" len="sm" w="sm"/>
            <a:tailEnd type="triangle" len="med" w="lg"/>
          </a:ln>
        </p:spPr>
      </p:sp>
      <p:sp>
        <p:nvSpPr>
          <p:cNvPr name="TextBox 5" id="5"/>
          <p:cNvSpPr txBox="true"/>
          <p:nvPr/>
        </p:nvSpPr>
        <p:spPr>
          <a:xfrm rot="0">
            <a:off x="12852679" y="981075"/>
            <a:ext cx="5435321" cy="405765"/>
          </a:xfrm>
          <a:prstGeom prst="rect">
            <a:avLst/>
          </a:prstGeom>
        </p:spPr>
        <p:txBody>
          <a:bodyPr anchor="t" rtlCol="false" tIns="0" lIns="0" bIns="0" rIns="0">
            <a:spAutoFit/>
          </a:bodyPr>
          <a:lstStyle/>
          <a:p>
            <a:pPr algn="l" marL="518160" indent="-259080" lvl="1">
              <a:lnSpc>
                <a:spcPts val="3359"/>
              </a:lnSpc>
              <a:spcBef>
                <a:spcPct val="0"/>
              </a:spcBef>
              <a:buAutoNum type="arabicPeriod" startAt="1"/>
            </a:pPr>
            <a:r>
              <a:rPr lang="en-US" b="true" sz="2400">
                <a:solidFill>
                  <a:srgbClr val="000000"/>
                </a:solidFill>
                <a:latin typeface="Clear Sans Medium"/>
                <a:ea typeface="Clear Sans Medium"/>
                <a:cs typeface="Clear Sans Medium"/>
                <a:sym typeface="Clear Sans Medium"/>
              </a:rPr>
              <a:t>RECEIVE ACCCESSIBILITY EVENTS</a:t>
            </a:r>
          </a:p>
        </p:txBody>
      </p:sp>
      <p:sp>
        <p:nvSpPr>
          <p:cNvPr name="AutoShape 6" id="6"/>
          <p:cNvSpPr/>
          <p:nvPr/>
        </p:nvSpPr>
        <p:spPr>
          <a:xfrm flipV="true">
            <a:off x="8898379" y="2992882"/>
            <a:ext cx="3743836" cy="0"/>
          </a:xfrm>
          <a:prstGeom prst="line">
            <a:avLst/>
          </a:prstGeom>
          <a:ln cap="flat" w="38100">
            <a:solidFill>
              <a:srgbClr val="000000"/>
            </a:solidFill>
            <a:prstDash val="solid"/>
            <a:headEnd type="none" len="sm" w="sm"/>
            <a:tailEnd type="triangle" len="med" w="lg"/>
          </a:ln>
        </p:spPr>
      </p:sp>
      <p:sp>
        <p:nvSpPr>
          <p:cNvPr name="TextBox 7" id="7"/>
          <p:cNvSpPr txBox="true"/>
          <p:nvPr/>
        </p:nvSpPr>
        <p:spPr>
          <a:xfrm rot="0">
            <a:off x="12642215" y="2766187"/>
            <a:ext cx="5435321" cy="405765"/>
          </a:xfrm>
          <a:prstGeom prst="rect">
            <a:avLst/>
          </a:prstGeom>
        </p:spPr>
        <p:txBody>
          <a:bodyPr anchor="t" rtlCol="false" tIns="0" lIns="0" bIns="0" rIns="0">
            <a:spAutoFit/>
          </a:bodyPr>
          <a:lstStyle/>
          <a:p>
            <a:pPr algn="l" marL="518160" indent="-259080" lvl="1">
              <a:lnSpc>
                <a:spcPts val="3359"/>
              </a:lnSpc>
              <a:spcBef>
                <a:spcPct val="0"/>
              </a:spcBef>
              <a:buAutoNum type="arabicPeriod" startAt="1"/>
            </a:pPr>
            <a:r>
              <a:rPr lang="en-US" b="true" sz="2400">
                <a:solidFill>
                  <a:srgbClr val="000000"/>
                </a:solidFill>
                <a:latin typeface="Clear Sans Medium"/>
                <a:ea typeface="Clear Sans Medium"/>
                <a:cs typeface="Clear Sans Medium"/>
                <a:sym typeface="Clear Sans Medium"/>
              </a:rPr>
              <a:t>EXTRACTS VISIBLE INPUT TEXTS</a:t>
            </a:r>
          </a:p>
        </p:txBody>
      </p:sp>
      <p:sp>
        <p:nvSpPr>
          <p:cNvPr name="AutoShape 8" id="8"/>
          <p:cNvSpPr/>
          <p:nvPr/>
        </p:nvSpPr>
        <p:spPr>
          <a:xfrm>
            <a:off x="10063859" y="5124450"/>
            <a:ext cx="2578356" cy="19050"/>
          </a:xfrm>
          <a:prstGeom prst="line">
            <a:avLst/>
          </a:prstGeom>
          <a:ln cap="flat" w="38100">
            <a:solidFill>
              <a:srgbClr val="000000"/>
            </a:solidFill>
            <a:prstDash val="solid"/>
            <a:headEnd type="none" len="sm" w="sm"/>
            <a:tailEnd type="triangle" len="med" w="lg"/>
          </a:ln>
        </p:spPr>
      </p:sp>
      <p:sp>
        <p:nvSpPr>
          <p:cNvPr name="TextBox 9" id="9"/>
          <p:cNvSpPr txBox="true"/>
          <p:nvPr/>
        </p:nvSpPr>
        <p:spPr>
          <a:xfrm rot="0">
            <a:off x="12642215" y="4897755"/>
            <a:ext cx="5435321" cy="405765"/>
          </a:xfrm>
          <a:prstGeom prst="rect">
            <a:avLst/>
          </a:prstGeom>
        </p:spPr>
        <p:txBody>
          <a:bodyPr anchor="t" rtlCol="false" tIns="0" lIns="0" bIns="0" rIns="0">
            <a:spAutoFit/>
          </a:bodyPr>
          <a:lstStyle/>
          <a:p>
            <a:pPr algn="l" marL="518160" indent="-259080" lvl="1">
              <a:lnSpc>
                <a:spcPts val="3359"/>
              </a:lnSpc>
              <a:spcBef>
                <a:spcPct val="0"/>
              </a:spcBef>
              <a:buAutoNum type="arabicPeriod" startAt="1"/>
            </a:pPr>
            <a:r>
              <a:rPr lang="en-US" b="true" sz="2400">
                <a:solidFill>
                  <a:srgbClr val="000000"/>
                </a:solidFill>
                <a:latin typeface="Clear Sans Medium"/>
                <a:ea typeface="Clear Sans Medium"/>
                <a:cs typeface="Clear Sans Medium"/>
                <a:sym typeface="Clear Sans Medium"/>
              </a:rPr>
              <a:t>CHECK EVENTS TYPE</a:t>
            </a:r>
          </a:p>
        </p:txBody>
      </p:sp>
      <p:sp>
        <p:nvSpPr>
          <p:cNvPr name="AutoShape 10" id="10"/>
          <p:cNvSpPr/>
          <p:nvPr/>
        </p:nvSpPr>
        <p:spPr>
          <a:xfrm>
            <a:off x="7854822" y="7879075"/>
            <a:ext cx="4787393" cy="0"/>
          </a:xfrm>
          <a:prstGeom prst="line">
            <a:avLst/>
          </a:prstGeom>
          <a:ln cap="flat" w="38100">
            <a:solidFill>
              <a:srgbClr val="000000"/>
            </a:solidFill>
            <a:prstDash val="solid"/>
            <a:headEnd type="none" len="sm" w="sm"/>
            <a:tailEnd type="triangle" len="med" w="lg"/>
          </a:ln>
        </p:spPr>
      </p:sp>
      <p:sp>
        <p:nvSpPr>
          <p:cNvPr name="TextBox 11" id="11"/>
          <p:cNvSpPr txBox="true"/>
          <p:nvPr/>
        </p:nvSpPr>
        <p:spPr>
          <a:xfrm rot="0">
            <a:off x="12642215" y="7652380"/>
            <a:ext cx="5435321" cy="405765"/>
          </a:xfrm>
          <a:prstGeom prst="rect">
            <a:avLst/>
          </a:prstGeom>
        </p:spPr>
        <p:txBody>
          <a:bodyPr anchor="t" rtlCol="false" tIns="0" lIns="0" bIns="0" rIns="0">
            <a:spAutoFit/>
          </a:bodyPr>
          <a:lstStyle/>
          <a:p>
            <a:pPr algn="l" marL="518160" indent="-259080" lvl="1">
              <a:lnSpc>
                <a:spcPts val="3359"/>
              </a:lnSpc>
              <a:spcBef>
                <a:spcPct val="0"/>
              </a:spcBef>
              <a:buAutoNum type="arabicPeriod" startAt="1"/>
            </a:pPr>
            <a:r>
              <a:rPr lang="en-US" b="true" sz="2400">
                <a:solidFill>
                  <a:srgbClr val="000000"/>
                </a:solidFill>
                <a:latin typeface="Clear Sans Medium"/>
                <a:ea typeface="Clear Sans Medium"/>
                <a:cs typeface="Clear Sans Medium"/>
                <a:sym typeface="Clear Sans Medium"/>
              </a:rPr>
              <a:t>HANDLES CLICK EVENTS</a:t>
            </a:r>
          </a:p>
        </p:txBody>
      </p:sp>
      <p:sp>
        <p:nvSpPr>
          <p:cNvPr name="TextBox 12" id="12"/>
          <p:cNvSpPr txBox="true"/>
          <p:nvPr/>
        </p:nvSpPr>
        <p:spPr>
          <a:xfrm rot="0">
            <a:off x="12642215" y="8586003"/>
            <a:ext cx="5435321" cy="824865"/>
          </a:xfrm>
          <a:prstGeom prst="rect">
            <a:avLst/>
          </a:prstGeom>
        </p:spPr>
        <p:txBody>
          <a:bodyPr anchor="t" rtlCol="false" tIns="0" lIns="0" bIns="0" rIns="0">
            <a:spAutoFit/>
          </a:bodyPr>
          <a:lstStyle/>
          <a:p>
            <a:pPr algn="l" marL="518160" indent="-259080" lvl="1">
              <a:lnSpc>
                <a:spcPts val="3359"/>
              </a:lnSpc>
              <a:spcBef>
                <a:spcPct val="0"/>
              </a:spcBef>
              <a:buAutoNum type="arabicPeriod" startAt="1"/>
            </a:pPr>
            <a:r>
              <a:rPr lang="en-US" b="true" sz="2400">
                <a:solidFill>
                  <a:srgbClr val="000000"/>
                </a:solidFill>
                <a:latin typeface="Clear Sans Medium"/>
                <a:ea typeface="Clear Sans Medium"/>
                <a:cs typeface="Clear Sans Medium"/>
                <a:sym typeface="Clear Sans Medium"/>
              </a:rPr>
              <a:t>MONITORS FOCUSED INPUT FIELDS</a:t>
            </a:r>
          </a:p>
        </p:txBody>
      </p:sp>
      <p:sp>
        <p:nvSpPr>
          <p:cNvPr name="AutoShape 13" id="13"/>
          <p:cNvSpPr/>
          <p:nvPr/>
        </p:nvSpPr>
        <p:spPr>
          <a:xfrm>
            <a:off x="8362879" y="8826048"/>
            <a:ext cx="4171599" cy="0"/>
          </a:xfrm>
          <a:prstGeom prst="line">
            <a:avLst/>
          </a:prstGeom>
          <a:ln cap="flat" w="38100">
            <a:solidFill>
              <a:srgbClr val="000000"/>
            </a:solidFill>
            <a:prstDash val="solid"/>
            <a:headEnd type="none" len="sm" w="sm"/>
            <a:tailEnd type="triangle" len="med" w="lg"/>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10087176">
            <a:off x="3189187" y="-10712043"/>
            <a:ext cx="14136818" cy="12003443"/>
          </a:xfrm>
          <a:custGeom>
            <a:avLst/>
            <a:gdLst/>
            <a:ahLst/>
            <a:cxnLst/>
            <a:rect r="r" b="b" t="t" l="l"/>
            <a:pathLst>
              <a:path h="12003443" w="14136818">
                <a:moveTo>
                  <a:pt x="0" y="0"/>
                </a:moveTo>
                <a:lnTo>
                  <a:pt x="14136818" y="0"/>
                </a:lnTo>
                <a:lnTo>
                  <a:pt x="14136818" y="12003443"/>
                </a:lnTo>
                <a:lnTo>
                  <a:pt x="0" y="120034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05025" y="1562100"/>
            <a:ext cx="14077950" cy="1055948"/>
          </a:xfrm>
          <a:prstGeom prst="rect">
            <a:avLst/>
          </a:prstGeom>
        </p:spPr>
        <p:txBody>
          <a:bodyPr anchor="t" rtlCol="false" tIns="0" lIns="0" bIns="0" rIns="0">
            <a:spAutoFit/>
          </a:bodyPr>
          <a:lstStyle/>
          <a:p>
            <a:pPr algn="ctr" marL="0" indent="0" lvl="0">
              <a:lnSpc>
                <a:spcPts val="8399"/>
              </a:lnSpc>
            </a:pPr>
            <a:r>
              <a:rPr lang="en-US" sz="6999" spc="-139">
                <a:solidFill>
                  <a:srgbClr val="662E20"/>
                </a:solidFill>
                <a:latin typeface="Tenor Sans"/>
                <a:ea typeface="Tenor Sans"/>
                <a:cs typeface="Tenor Sans"/>
                <a:sym typeface="Tenor Sans"/>
              </a:rPr>
              <a:t>Mitigation Recommendations</a:t>
            </a:r>
          </a:p>
        </p:txBody>
      </p:sp>
      <p:grpSp>
        <p:nvGrpSpPr>
          <p:cNvPr name="Group 4" id="4"/>
          <p:cNvGrpSpPr/>
          <p:nvPr/>
        </p:nvGrpSpPr>
        <p:grpSpPr>
          <a:xfrm rot="0">
            <a:off x="666750" y="5143500"/>
            <a:ext cx="5448300" cy="1944890"/>
            <a:chOff x="0" y="0"/>
            <a:chExt cx="7264400" cy="2593187"/>
          </a:xfrm>
        </p:grpSpPr>
        <p:sp>
          <p:nvSpPr>
            <p:cNvPr name="TextBox 5" id="5"/>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662E20"/>
                  </a:solidFill>
                  <a:latin typeface="Clear Sans Medium"/>
                  <a:ea typeface="Clear Sans Medium"/>
                  <a:cs typeface="Clear Sans Medium"/>
                  <a:sym typeface="Clear Sans Medium"/>
                </a:rPr>
                <a:t>OFFICIAL STORES</a:t>
              </a:r>
            </a:p>
          </p:txBody>
        </p:sp>
        <p:sp>
          <p:nvSpPr>
            <p:cNvPr name="TextBox 6" id="6"/>
            <p:cNvSpPr txBox="true"/>
            <p:nvPr/>
          </p:nvSpPr>
          <p:spPr>
            <a:xfrm rot="0">
              <a:off x="0" y="1146193"/>
              <a:ext cx="7264400" cy="1446994"/>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662E20"/>
                  </a:solidFill>
                  <a:latin typeface="Clear Sans"/>
                  <a:ea typeface="Clear Sans"/>
                  <a:cs typeface="Clear Sans"/>
                  <a:sym typeface="Clear Sans"/>
                </a:rPr>
                <a:t>Always download apps from </a:t>
              </a:r>
              <a:r>
                <a:rPr lang="en-US" b="true" sz="2099">
                  <a:solidFill>
                    <a:srgbClr val="662E20"/>
                  </a:solidFill>
                  <a:latin typeface="Clear Sans Bold"/>
                  <a:ea typeface="Clear Sans Bold"/>
                  <a:cs typeface="Clear Sans Bold"/>
                  <a:sym typeface="Clear Sans Bold"/>
                </a:rPr>
                <a:t>verified sources</a:t>
              </a:r>
              <a:r>
                <a:rPr lang="en-US" sz="2099">
                  <a:solidFill>
                    <a:srgbClr val="662E20"/>
                  </a:solidFill>
                  <a:latin typeface="Clear Sans"/>
                  <a:ea typeface="Clear Sans"/>
                  <a:cs typeface="Clear Sans"/>
                  <a:sym typeface="Clear Sans"/>
                </a:rPr>
                <a:t> to reduce the risk of installing malicious software that can compromise your security.</a:t>
              </a:r>
            </a:p>
          </p:txBody>
        </p:sp>
      </p:grpSp>
      <p:grpSp>
        <p:nvGrpSpPr>
          <p:cNvPr name="Group 7" id="7"/>
          <p:cNvGrpSpPr/>
          <p:nvPr/>
        </p:nvGrpSpPr>
        <p:grpSpPr>
          <a:xfrm rot="0">
            <a:off x="6419850" y="5143500"/>
            <a:ext cx="5448300" cy="2312513"/>
            <a:chOff x="0" y="0"/>
            <a:chExt cx="7264400" cy="3083350"/>
          </a:xfrm>
        </p:grpSpPr>
        <p:sp>
          <p:nvSpPr>
            <p:cNvPr name="TextBox 8" id="8"/>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662E20"/>
                  </a:solidFill>
                  <a:latin typeface="Clear Sans Medium"/>
                  <a:ea typeface="Clear Sans Medium"/>
                  <a:cs typeface="Clear Sans Medium"/>
                  <a:sym typeface="Clear Sans Medium"/>
                </a:rPr>
                <a:t>VERIFY URLS</a:t>
              </a:r>
            </a:p>
          </p:txBody>
        </p:sp>
        <p:sp>
          <p:nvSpPr>
            <p:cNvPr name="TextBox 9" id="9"/>
            <p:cNvSpPr txBox="true"/>
            <p:nvPr/>
          </p:nvSpPr>
          <p:spPr>
            <a:xfrm rot="0">
              <a:off x="0" y="1146193"/>
              <a:ext cx="7264400" cy="1937157"/>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662E20"/>
                  </a:solidFill>
                  <a:latin typeface="Clear Sans"/>
                  <a:ea typeface="Clear Sans"/>
                  <a:cs typeface="Clear Sans"/>
                  <a:sym typeface="Clear Sans"/>
                </a:rPr>
                <a:t>Before entering personal information, ensure that the website URL is </a:t>
              </a:r>
              <a:r>
                <a:rPr lang="en-US" b="true" sz="2099">
                  <a:solidFill>
                    <a:srgbClr val="662E20"/>
                  </a:solidFill>
                  <a:latin typeface="Clear Sans Bold"/>
                  <a:ea typeface="Clear Sans Bold"/>
                  <a:cs typeface="Clear Sans Bold"/>
                  <a:sym typeface="Clear Sans Bold"/>
                </a:rPr>
                <a:t>correct and secure</a:t>
              </a:r>
              <a:r>
                <a:rPr lang="en-US" sz="2099">
                  <a:solidFill>
                    <a:srgbClr val="662E20"/>
                  </a:solidFill>
                  <a:latin typeface="Clear Sans"/>
                  <a:ea typeface="Clear Sans"/>
                  <a:cs typeface="Clear Sans"/>
                  <a:sym typeface="Clear Sans"/>
                </a:rPr>
                <a:t>, avoiding potential phishing scams aimed at stealing your data.</a:t>
              </a:r>
            </a:p>
          </p:txBody>
        </p:sp>
      </p:grpSp>
      <p:grpSp>
        <p:nvGrpSpPr>
          <p:cNvPr name="Group 10" id="10"/>
          <p:cNvGrpSpPr/>
          <p:nvPr/>
        </p:nvGrpSpPr>
        <p:grpSpPr>
          <a:xfrm rot="0">
            <a:off x="12172950" y="5143500"/>
            <a:ext cx="5448300" cy="2312513"/>
            <a:chOff x="0" y="0"/>
            <a:chExt cx="7264400" cy="3083350"/>
          </a:xfrm>
        </p:grpSpPr>
        <p:sp>
          <p:nvSpPr>
            <p:cNvPr name="TextBox 11" id="11"/>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662E20"/>
                  </a:solidFill>
                  <a:latin typeface="Clear Sans Medium"/>
                  <a:ea typeface="Clear Sans Medium"/>
                  <a:cs typeface="Clear Sans Medium"/>
                  <a:sym typeface="Clear Sans Medium"/>
                </a:rPr>
                <a:t>DEVICE UPDATES</a:t>
              </a:r>
            </a:p>
          </p:txBody>
        </p:sp>
        <p:sp>
          <p:nvSpPr>
            <p:cNvPr name="TextBox 12" id="12"/>
            <p:cNvSpPr txBox="true"/>
            <p:nvPr/>
          </p:nvSpPr>
          <p:spPr>
            <a:xfrm rot="0">
              <a:off x="0" y="1146193"/>
              <a:ext cx="7264400" cy="1937157"/>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662E20"/>
                  </a:solidFill>
                  <a:latin typeface="Clear Sans"/>
                  <a:ea typeface="Clear Sans"/>
                  <a:cs typeface="Clear Sans"/>
                  <a:sym typeface="Clear Sans"/>
                </a:rPr>
                <a:t>Regularly updating your devices with the latest security patches ensures you have the most </a:t>
              </a:r>
              <a:r>
                <a:rPr lang="en-US" b="true" sz="2099">
                  <a:solidFill>
                    <a:srgbClr val="662E20"/>
                  </a:solidFill>
                  <a:latin typeface="Clear Sans Bold"/>
                  <a:ea typeface="Clear Sans Bold"/>
                  <a:cs typeface="Clear Sans Bold"/>
                  <a:sym typeface="Clear Sans Bold"/>
                </a:rPr>
                <a:t>robust defenses</a:t>
              </a:r>
              <a:r>
                <a:rPr lang="en-US" sz="2099">
                  <a:solidFill>
                    <a:srgbClr val="662E20"/>
                  </a:solidFill>
                  <a:latin typeface="Clear Sans"/>
                  <a:ea typeface="Clear Sans"/>
                  <a:cs typeface="Clear Sans"/>
                  <a:sym typeface="Clear Sans"/>
                </a:rPr>
                <a:t> against emerging malware threats like Gigabud.</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10087176">
            <a:off x="3189187" y="-10712043"/>
            <a:ext cx="14136818" cy="12003443"/>
          </a:xfrm>
          <a:custGeom>
            <a:avLst/>
            <a:gdLst/>
            <a:ahLst/>
            <a:cxnLst/>
            <a:rect r="r" b="b" t="t" l="l"/>
            <a:pathLst>
              <a:path h="12003443" w="14136818">
                <a:moveTo>
                  <a:pt x="0" y="0"/>
                </a:moveTo>
                <a:lnTo>
                  <a:pt x="14136818" y="0"/>
                </a:lnTo>
                <a:lnTo>
                  <a:pt x="14136818" y="12003443"/>
                </a:lnTo>
                <a:lnTo>
                  <a:pt x="0" y="120034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105025" y="1562100"/>
            <a:ext cx="14077950" cy="1055948"/>
          </a:xfrm>
          <a:prstGeom prst="rect">
            <a:avLst/>
          </a:prstGeom>
        </p:spPr>
        <p:txBody>
          <a:bodyPr anchor="t" rtlCol="false" tIns="0" lIns="0" bIns="0" rIns="0">
            <a:spAutoFit/>
          </a:bodyPr>
          <a:lstStyle/>
          <a:p>
            <a:pPr algn="ctr" marL="0" indent="0" lvl="0">
              <a:lnSpc>
                <a:spcPts val="8399"/>
              </a:lnSpc>
            </a:pPr>
            <a:r>
              <a:rPr lang="en-US" sz="6999" spc="-139">
                <a:solidFill>
                  <a:srgbClr val="662E20"/>
                </a:solidFill>
                <a:latin typeface="Tenor Sans"/>
                <a:ea typeface="Tenor Sans"/>
                <a:cs typeface="Tenor Sans"/>
                <a:sym typeface="Tenor Sans"/>
              </a:rPr>
              <a:t>Lessons Learned</a:t>
            </a:r>
          </a:p>
        </p:txBody>
      </p:sp>
      <p:grpSp>
        <p:nvGrpSpPr>
          <p:cNvPr name="Group 4" id="4"/>
          <p:cNvGrpSpPr/>
          <p:nvPr/>
        </p:nvGrpSpPr>
        <p:grpSpPr>
          <a:xfrm rot="0">
            <a:off x="666750" y="5143500"/>
            <a:ext cx="5448300" cy="2312513"/>
            <a:chOff x="0" y="0"/>
            <a:chExt cx="7264400" cy="3083350"/>
          </a:xfrm>
        </p:grpSpPr>
        <p:sp>
          <p:nvSpPr>
            <p:cNvPr name="TextBox 5" id="5"/>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662E20"/>
                  </a:solidFill>
                  <a:latin typeface="Clear Sans Medium"/>
                  <a:ea typeface="Clear Sans Medium"/>
                  <a:cs typeface="Clear Sans Medium"/>
                  <a:sym typeface="Clear Sans Medium"/>
                </a:rPr>
                <a:t>PHISHING</a:t>
              </a:r>
            </a:p>
          </p:txBody>
        </p:sp>
        <p:sp>
          <p:nvSpPr>
            <p:cNvPr name="TextBox 6" id="6"/>
            <p:cNvSpPr txBox="true"/>
            <p:nvPr/>
          </p:nvSpPr>
          <p:spPr>
            <a:xfrm rot="0">
              <a:off x="0" y="1146193"/>
              <a:ext cx="7264400" cy="1937157"/>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662E20"/>
                  </a:solidFill>
                  <a:latin typeface="Clear Sans"/>
                  <a:ea typeface="Clear Sans"/>
                  <a:cs typeface="Clear Sans"/>
                  <a:sym typeface="Clear Sans"/>
                </a:rPr>
                <a:t>Phishing is a </a:t>
              </a:r>
              <a:r>
                <a:rPr lang="en-US" b="true" sz="2099">
                  <a:solidFill>
                    <a:srgbClr val="662E20"/>
                  </a:solidFill>
                  <a:latin typeface="Clear Sans Bold"/>
                  <a:ea typeface="Clear Sans Bold"/>
                  <a:cs typeface="Clear Sans Bold"/>
                  <a:sym typeface="Clear Sans Bold"/>
                </a:rPr>
                <a:t>common method</a:t>
              </a:r>
              <a:r>
                <a:rPr lang="en-US" sz="2099">
                  <a:solidFill>
                    <a:srgbClr val="662E20"/>
                  </a:solidFill>
                  <a:latin typeface="Clear Sans"/>
                  <a:ea typeface="Clear Sans"/>
                  <a:cs typeface="Clear Sans"/>
                  <a:sym typeface="Clear Sans"/>
                </a:rPr>
                <a:t> used to deceive users into providing personal information, often through fraudulent emails or messages.</a:t>
              </a:r>
            </a:p>
          </p:txBody>
        </p:sp>
      </p:grpSp>
      <p:grpSp>
        <p:nvGrpSpPr>
          <p:cNvPr name="Group 7" id="7"/>
          <p:cNvGrpSpPr/>
          <p:nvPr/>
        </p:nvGrpSpPr>
        <p:grpSpPr>
          <a:xfrm rot="0">
            <a:off x="6419850" y="5143500"/>
            <a:ext cx="5448300" cy="2312513"/>
            <a:chOff x="0" y="0"/>
            <a:chExt cx="7264400" cy="3083350"/>
          </a:xfrm>
        </p:grpSpPr>
        <p:sp>
          <p:nvSpPr>
            <p:cNvPr name="TextBox 8" id="8"/>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662E20"/>
                  </a:solidFill>
                  <a:latin typeface="Clear Sans Medium"/>
                  <a:ea typeface="Clear Sans Medium"/>
                  <a:cs typeface="Clear Sans Medium"/>
                  <a:sym typeface="Clear Sans Medium"/>
                </a:rPr>
                <a:t>FAKE APPS</a:t>
              </a:r>
            </a:p>
          </p:txBody>
        </p:sp>
        <p:sp>
          <p:nvSpPr>
            <p:cNvPr name="TextBox 9" id="9"/>
            <p:cNvSpPr txBox="true"/>
            <p:nvPr/>
          </p:nvSpPr>
          <p:spPr>
            <a:xfrm rot="0">
              <a:off x="0" y="1146193"/>
              <a:ext cx="7264400" cy="1937157"/>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662E20"/>
                  </a:solidFill>
                  <a:latin typeface="Clear Sans"/>
                  <a:ea typeface="Clear Sans"/>
                  <a:cs typeface="Clear Sans"/>
                  <a:sym typeface="Clear Sans"/>
                </a:rPr>
                <a:t>Cybercriminals create </a:t>
              </a:r>
              <a:r>
                <a:rPr lang="en-US" b="true" sz="2099">
                  <a:solidFill>
                    <a:srgbClr val="662E20"/>
                  </a:solidFill>
                  <a:latin typeface="Clear Sans Bold"/>
                  <a:ea typeface="Clear Sans Bold"/>
                  <a:cs typeface="Clear Sans Bold"/>
                  <a:sym typeface="Clear Sans Bold"/>
                </a:rPr>
                <a:t>counterfeit applications</a:t>
              </a:r>
              <a:r>
                <a:rPr lang="en-US" sz="2099">
                  <a:solidFill>
                    <a:srgbClr val="662E20"/>
                  </a:solidFill>
                  <a:latin typeface="Clear Sans"/>
                  <a:ea typeface="Clear Sans"/>
                  <a:cs typeface="Clear Sans"/>
                  <a:sym typeface="Clear Sans"/>
                </a:rPr>
                <a:t> that mimic legitimate ones to lure users into downloading malware disguised as useful tools.</a:t>
              </a:r>
            </a:p>
          </p:txBody>
        </p:sp>
      </p:grpSp>
      <p:grpSp>
        <p:nvGrpSpPr>
          <p:cNvPr name="Group 10" id="10"/>
          <p:cNvGrpSpPr/>
          <p:nvPr/>
        </p:nvGrpSpPr>
        <p:grpSpPr>
          <a:xfrm rot="0">
            <a:off x="12172950" y="5143500"/>
            <a:ext cx="5448300" cy="2312513"/>
            <a:chOff x="0" y="0"/>
            <a:chExt cx="7264400" cy="3083350"/>
          </a:xfrm>
        </p:grpSpPr>
        <p:sp>
          <p:nvSpPr>
            <p:cNvPr name="TextBox 11" id="11"/>
            <p:cNvSpPr txBox="true"/>
            <p:nvPr/>
          </p:nvSpPr>
          <p:spPr>
            <a:xfrm rot="0">
              <a:off x="0" y="-47625"/>
              <a:ext cx="7264400" cy="525145"/>
            </a:xfrm>
            <a:prstGeom prst="rect">
              <a:avLst/>
            </a:prstGeom>
          </p:spPr>
          <p:txBody>
            <a:bodyPr anchor="t" rtlCol="false" tIns="0" lIns="0" bIns="0" rIns="0">
              <a:spAutoFit/>
            </a:bodyPr>
            <a:lstStyle/>
            <a:p>
              <a:pPr algn="ctr" marL="0" indent="0" lvl="0">
                <a:lnSpc>
                  <a:spcPts val="3359"/>
                </a:lnSpc>
                <a:spcBef>
                  <a:spcPct val="0"/>
                </a:spcBef>
              </a:pPr>
              <a:r>
                <a:rPr lang="en-US" b="true" sz="2400">
                  <a:solidFill>
                    <a:srgbClr val="662E20"/>
                  </a:solidFill>
                  <a:latin typeface="Clear Sans Medium"/>
                  <a:ea typeface="Clear Sans Medium"/>
                  <a:cs typeface="Clear Sans Medium"/>
                  <a:sym typeface="Clear Sans Medium"/>
                </a:rPr>
                <a:t>SOCIAL ENGINEERING</a:t>
              </a:r>
            </a:p>
          </p:txBody>
        </p:sp>
        <p:sp>
          <p:nvSpPr>
            <p:cNvPr name="TextBox 12" id="12"/>
            <p:cNvSpPr txBox="true"/>
            <p:nvPr/>
          </p:nvSpPr>
          <p:spPr>
            <a:xfrm rot="0">
              <a:off x="0" y="1146193"/>
              <a:ext cx="7264400" cy="1937157"/>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662E20"/>
                  </a:solidFill>
                  <a:latin typeface="Clear Sans"/>
                  <a:ea typeface="Clear Sans"/>
                  <a:cs typeface="Clear Sans"/>
                  <a:sym typeface="Clear Sans"/>
                </a:rPr>
                <a:t>Attackers exploit </a:t>
              </a:r>
              <a:r>
                <a:rPr lang="en-US" b="true" sz="2099">
                  <a:solidFill>
                    <a:srgbClr val="662E20"/>
                  </a:solidFill>
                  <a:latin typeface="Clear Sans Bold"/>
                  <a:ea typeface="Clear Sans Bold"/>
                  <a:cs typeface="Clear Sans Bold"/>
                  <a:sym typeface="Clear Sans Bold"/>
                </a:rPr>
                <a:t>human psychology</a:t>
              </a:r>
              <a:r>
                <a:rPr lang="en-US" sz="2099">
                  <a:solidFill>
                    <a:srgbClr val="662E20"/>
                  </a:solidFill>
                  <a:latin typeface="Clear Sans"/>
                  <a:ea typeface="Clear Sans"/>
                  <a:cs typeface="Clear Sans"/>
                  <a:sym typeface="Clear Sans"/>
                </a:rPr>
                <a:t> to manipulate users into clicking malicious links or providing sensitive information, increasing the success of their campaigns.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F6245"/>
        </a:solidFill>
      </p:bgPr>
    </p:bg>
    <p:spTree>
      <p:nvGrpSpPr>
        <p:cNvPr id="1" name=""/>
        <p:cNvGrpSpPr/>
        <p:nvPr/>
      </p:nvGrpSpPr>
      <p:grpSpPr>
        <a:xfrm>
          <a:off x="0" y="0"/>
          <a:ext cx="0" cy="0"/>
          <a:chOff x="0" y="0"/>
          <a:chExt cx="0" cy="0"/>
        </a:xfrm>
      </p:grpSpPr>
      <p:grpSp>
        <p:nvGrpSpPr>
          <p:cNvPr name="Group 2" id="2"/>
          <p:cNvGrpSpPr/>
          <p:nvPr/>
        </p:nvGrpSpPr>
        <p:grpSpPr>
          <a:xfrm rot="0">
            <a:off x="782336" y="2663656"/>
            <a:ext cx="9763125" cy="4959687"/>
            <a:chOff x="0" y="0"/>
            <a:chExt cx="13017500" cy="6612916"/>
          </a:xfrm>
        </p:grpSpPr>
        <p:sp>
          <p:nvSpPr>
            <p:cNvPr name="TextBox 3" id="3"/>
            <p:cNvSpPr txBox="true"/>
            <p:nvPr/>
          </p:nvSpPr>
          <p:spPr>
            <a:xfrm rot="0">
              <a:off x="0" y="190500"/>
              <a:ext cx="13017500" cy="3721100"/>
            </a:xfrm>
            <a:prstGeom prst="rect">
              <a:avLst/>
            </a:prstGeom>
          </p:spPr>
          <p:txBody>
            <a:bodyPr anchor="t" rtlCol="false" tIns="0" lIns="0" bIns="0" rIns="0">
              <a:spAutoFit/>
            </a:bodyPr>
            <a:lstStyle/>
            <a:p>
              <a:pPr algn="l">
                <a:lnSpc>
                  <a:spcPts val="10500"/>
                </a:lnSpc>
              </a:pPr>
              <a:r>
                <a:rPr lang="en-US" sz="10500" spc="-210">
                  <a:solidFill>
                    <a:srgbClr val="F4F4F4"/>
                  </a:solidFill>
                  <a:latin typeface="Tenor Sans"/>
                  <a:ea typeface="Tenor Sans"/>
                  <a:cs typeface="Tenor Sans"/>
                  <a:sym typeface="Tenor Sans"/>
                </a:rPr>
                <a:t>Eternal Blue</a:t>
              </a:r>
            </a:p>
            <a:p>
              <a:pPr algn="l" marL="0" indent="0" lvl="0">
                <a:lnSpc>
                  <a:spcPts val="10500"/>
                </a:lnSpc>
              </a:pPr>
              <a:r>
                <a:rPr lang="en-US" sz="10500" spc="-210">
                  <a:solidFill>
                    <a:srgbClr val="F4F4F4"/>
                  </a:solidFill>
                  <a:latin typeface="Tenor Sans"/>
                  <a:ea typeface="Tenor Sans"/>
                  <a:cs typeface="Tenor Sans"/>
                  <a:sym typeface="Tenor Sans"/>
                </a:rPr>
                <a:t>CVE-2017-0144 </a:t>
              </a:r>
            </a:p>
          </p:txBody>
        </p:sp>
        <p:sp>
          <p:nvSpPr>
            <p:cNvPr name="TextBox 4" id="4"/>
            <p:cNvSpPr txBox="true"/>
            <p:nvPr/>
          </p:nvSpPr>
          <p:spPr>
            <a:xfrm rot="0">
              <a:off x="0" y="4421644"/>
              <a:ext cx="13017500" cy="2191273"/>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F4F4F4"/>
                  </a:solidFill>
                  <a:latin typeface="Clear Sans"/>
                  <a:ea typeface="Clear Sans"/>
                  <a:cs typeface="Clear Sans"/>
                  <a:sym typeface="Clear Sans"/>
                </a:rPr>
                <a:t>PRESENTED BY MEI TING &amp; DASHINI NAIDU</a:t>
              </a:r>
            </a:p>
            <a:p>
              <a:pPr algn="l" marL="0" indent="0" lvl="0">
                <a:lnSpc>
                  <a:spcPts val="4480"/>
                </a:lnSpc>
                <a:spcBef>
                  <a:spcPct val="0"/>
                </a:spcBef>
              </a:pPr>
            </a:p>
            <a:p>
              <a:pPr algn="l" marL="0" indent="0" lvl="0">
                <a:lnSpc>
                  <a:spcPts val="4480"/>
                </a:lnSpc>
                <a:spcBef>
                  <a:spcPct val="0"/>
                </a:spcBef>
              </a:pPr>
              <a:r>
                <a:rPr lang="en-US" sz="3200">
                  <a:solidFill>
                    <a:srgbClr val="F4F4F4"/>
                  </a:solidFill>
                  <a:latin typeface="Clear Sans"/>
                  <a:ea typeface="Clear Sans"/>
                  <a:cs typeface="Clear Sans"/>
                  <a:sym typeface="Clear Sans"/>
                </a:rPr>
                <a:t>PRESENTATION DATE: 2026-04-17</a:t>
              </a:r>
            </a:p>
          </p:txBody>
        </p:sp>
      </p:grpSp>
      <p:grpSp>
        <p:nvGrpSpPr>
          <p:cNvPr name="Group 5" id="5"/>
          <p:cNvGrpSpPr/>
          <p:nvPr/>
        </p:nvGrpSpPr>
        <p:grpSpPr>
          <a:xfrm rot="0">
            <a:off x="12172950" y="0"/>
            <a:ext cx="6115050" cy="10287000"/>
            <a:chOff x="0" y="0"/>
            <a:chExt cx="947381" cy="1593725"/>
          </a:xfrm>
        </p:grpSpPr>
        <p:sp>
          <p:nvSpPr>
            <p:cNvPr name="Freeform 6" id="6"/>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3"/>
              <a:stretch>
                <a:fillRect l="0" t="-58" r="0" b="-58"/>
              </a:stretch>
            </a:blipFill>
          </p:spPr>
        </p:sp>
      </p:grpSp>
      <p:sp>
        <p:nvSpPr>
          <p:cNvPr name="Freeform 7" id="7"/>
          <p:cNvSpPr/>
          <p:nvPr/>
        </p:nvSpPr>
        <p:spPr>
          <a:xfrm flipH="false" flipV="false" rot="0">
            <a:off x="8774635" y="7396104"/>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F6245"/>
        </a:solidFill>
      </p:bgPr>
    </p:bg>
    <p:spTree>
      <p:nvGrpSpPr>
        <p:cNvPr id="1" name=""/>
        <p:cNvGrpSpPr/>
        <p:nvPr/>
      </p:nvGrpSpPr>
      <p:grpSpPr>
        <a:xfrm>
          <a:off x="0" y="0"/>
          <a:ext cx="0" cy="0"/>
          <a:chOff x="0" y="0"/>
          <a:chExt cx="0" cy="0"/>
        </a:xfrm>
      </p:grpSpPr>
      <p:grpSp>
        <p:nvGrpSpPr>
          <p:cNvPr name="Group 2" id="2"/>
          <p:cNvGrpSpPr/>
          <p:nvPr/>
        </p:nvGrpSpPr>
        <p:grpSpPr>
          <a:xfrm rot="0">
            <a:off x="12172950" y="9525"/>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3"/>
              <a:stretch>
                <a:fillRect l="-97565" t="0" r="-97565" b="0"/>
              </a:stretch>
            </a:blipFill>
          </p:spPr>
        </p:sp>
      </p:grpSp>
      <p:grpSp>
        <p:nvGrpSpPr>
          <p:cNvPr name="Group 4" id="4"/>
          <p:cNvGrpSpPr/>
          <p:nvPr/>
        </p:nvGrpSpPr>
        <p:grpSpPr>
          <a:xfrm rot="0">
            <a:off x="666750" y="1562100"/>
            <a:ext cx="9763125" cy="7114094"/>
            <a:chOff x="0" y="0"/>
            <a:chExt cx="13017500" cy="9485458"/>
          </a:xfrm>
        </p:grpSpPr>
        <p:sp>
          <p:nvSpPr>
            <p:cNvPr name="TextBox 5" id="5"/>
            <p:cNvSpPr txBox="true"/>
            <p:nvPr/>
          </p:nvSpPr>
          <p:spPr>
            <a:xfrm rot="0">
              <a:off x="0" y="3291224"/>
              <a:ext cx="13017500" cy="880535"/>
            </a:xfrm>
            <a:prstGeom prst="rect">
              <a:avLst/>
            </a:prstGeom>
          </p:spPr>
          <p:txBody>
            <a:bodyPr anchor="t" rtlCol="false" tIns="0" lIns="0" bIns="0" rIns="0">
              <a:spAutoFit/>
            </a:bodyPr>
            <a:lstStyle/>
            <a:p>
              <a:pPr algn="l" marL="0" indent="0" lvl="0">
                <a:lnSpc>
                  <a:spcPts val="5599"/>
                </a:lnSpc>
                <a:spcBef>
                  <a:spcPct val="0"/>
                </a:spcBef>
              </a:pPr>
              <a:r>
                <a:rPr lang="en-US" b="true" sz="3999">
                  <a:solidFill>
                    <a:srgbClr val="F4F4F4"/>
                  </a:solidFill>
                  <a:latin typeface="Clear Sans Bold"/>
                  <a:ea typeface="Clear Sans Bold"/>
                  <a:cs typeface="Clear Sans Bold"/>
                  <a:sym typeface="Clear Sans Bold"/>
                </a:rPr>
                <a:t>OVERVIEW</a:t>
              </a:r>
            </a:p>
          </p:txBody>
        </p:sp>
        <p:sp>
          <p:nvSpPr>
            <p:cNvPr name="TextBox 6" id="6"/>
            <p:cNvSpPr txBox="true"/>
            <p:nvPr/>
          </p:nvSpPr>
          <p:spPr>
            <a:xfrm rot="0">
              <a:off x="0" y="4783282"/>
              <a:ext cx="13017500" cy="4702177"/>
            </a:xfrm>
            <a:prstGeom prst="rect">
              <a:avLst/>
            </a:prstGeom>
          </p:spPr>
          <p:txBody>
            <a:bodyPr anchor="t" rtlCol="false" tIns="0" lIns="0" bIns="0" rIns="0">
              <a:spAutoFit/>
            </a:bodyPr>
            <a:lstStyle/>
            <a:p>
              <a:pPr algn="l" marL="647695" indent="-323848" lvl="1">
                <a:lnSpc>
                  <a:spcPts val="4799"/>
                </a:lnSpc>
                <a:buFont typeface="Arial"/>
                <a:buChar char="•"/>
              </a:pPr>
              <a:r>
                <a:rPr lang="en-US" sz="2999">
                  <a:solidFill>
                    <a:srgbClr val="F4F4F4"/>
                  </a:solidFill>
                  <a:latin typeface="Clear Sans"/>
                  <a:ea typeface="Clear Sans"/>
                  <a:cs typeface="Clear Sans"/>
                  <a:sym typeface="Clear Sans"/>
                </a:rPr>
                <a:t>Exploits vulnerability in Microsoft’s </a:t>
              </a:r>
              <a:r>
                <a:rPr lang="en-US" b="true" sz="2999">
                  <a:solidFill>
                    <a:srgbClr val="F4F4F4"/>
                  </a:solidFill>
                  <a:latin typeface="Clear Sans Bold"/>
                  <a:ea typeface="Clear Sans Bold"/>
                  <a:cs typeface="Clear Sans Bold"/>
                  <a:sym typeface="Clear Sans Bold"/>
                </a:rPr>
                <a:t>SMBv1 protocol</a:t>
              </a:r>
              <a:r>
                <a:rPr lang="en-US" sz="2999">
                  <a:solidFill>
                    <a:srgbClr val="F4F4F4"/>
                  </a:solidFill>
                  <a:latin typeface="Clear Sans"/>
                  <a:ea typeface="Clear Sans"/>
                  <a:cs typeface="Clear Sans"/>
                  <a:sym typeface="Clear Sans"/>
                </a:rPr>
                <a:t> </a:t>
              </a:r>
            </a:p>
            <a:p>
              <a:pPr algn="l" marL="647695" indent="-323848" lvl="1">
                <a:lnSpc>
                  <a:spcPts val="4799"/>
                </a:lnSpc>
                <a:buFont typeface="Arial"/>
                <a:buChar char="•"/>
              </a:pPr>
              <a:r>
                <a:rPr lang="en-US" sz="2999">
                  <a:solidFill>
                    <a:srgbClr val="F4F4F4"/>
                  </a:solidFill>
                  <a:latin typeface="Clear Sans"/>
                  <a:ea typeface="Clear Sans"/>
                  <a:cs typeface="Clear Sans"/>
                  <a:sym typeface="Clear Sans"/>
                </a:rPr>
                <a:t>Remotely execute malicious code on vulnerable systems </a:t>
              </a:r>
            </a:p>
            <a:p>
              <a:pPr algn="l" marL="647695" indent="-323848" lvl="1">
                <a:lnSpc>
                  <a:spcPts val="4799"/>
                </a:lnSpc>
                <a:buFont typeface="Arial"/>
                <a:buChar char="•"/>
              </a:pPr>
              <a:r>
                <a:rPr lang="en-US" sz="2999">
                  <a:solidFill>
                    <a:srgbClr val="F4F4F4"/>
                  </a:solidFill>
                  <a:latin typeface="Clear Sans"/>
                  <a:ea typeface="Clear Sans"/>
                  <a:cs typeface="Clear Sans"/>
                  <a:sym typeface="Clear Sans"/>
                </a:rPr>
                <a:t>Don’t need user interactions</a:t>
              </a:r>
            </a:p>
            <a:p>
              <a:pPr algn="l" marL="647695" indent="-323848" lvl="1">
                <a:lnSpc>
                  <a:spcPts val="4799"/>
                </a:lnSpc>
                <a:buFont typeface="Arial"/>
                <a:buChar char="•"/>
              </a:pPr>
              <a:r>
                <a:rPr lang="en-US" sz="2999">
                  <a:solidFill>
                    <a:srgbClr val="F4F4F4"/>
                  </a:solidFill>
                  <a:latin typeface="Clear Sans"/>
                  <a:ea typeface="Clear Sans"/>
                  <a:cs typeface="Clear Sans"/>
                  <a:sym typeface="Clear Sans"/>
                </a:rPr>
                <a:t>Used in major global cyberattacks (Eg. WannaCry, NotPetya)</a:t>
              </a:r>
            </a:p>
          </p:txBody>
        </p:sp>
        <p:sp>
          <p:nvSpPr>
            <p:cNvPr name="TextBox 7" id="7"/>
            <p:cNvSpPr txBox="true"/>
            <p:nvPr/>
          </p:nvSpPr>
          <p:spPr>
            <a:xfrm rot="0">
              <a:off x="0" y="0"/>
              <a:ext cx="13017500" cy="2815860"/>
            </a:xfrm>
            <a:prstGeom prst="rect">
              <a:avLst/>
            </a:prstGeom>
          </p:spPr>
          <p:txBody>
            <a:bodyPr anchor="t" rtlCol="false" tIns="0" lIns="0" bIns="0" rIns="0">
              <a:spAutoFit/>
            </a:bodyPr>
            <a:lstStyle/>
            <a:p>
              <a:pPr algn="l" marL="0" indent="0" lvl="0">
                <a:lnSpc>
                  <a:spcPts val="8399"/>
                </a:lnSpc>
              </a:pPr>
              <a:r>
                <a:rPr lang="en-US" sz="6999" spc="-139">
                  <a:solidFill>
                    <a:srgbClr val="F4F4F4"/>
                  </a:solidFill>
                  <a:latin typeface="Tenor Sans"/>
                  <a:ea typeface="Tenor Sans"/>
                  <a:cs typeface="Tenor Sans"/>
                  <a:sym typeface="Tenor Sans"/>
                </a:rPr>
                <a:t>E</a:t>
              </a:r>
              <a:r>
                <a:rPr lang="en-US" sz="6999" spc="-139">
                  <a:solidFill>
                    <a:srgbClr val="F4F4F4"/>
                  </a:solidFill>
                  <a:latin typeface="Tenor Sans"/>
                  <a:ea typeface="Tenor Sans"/>
                  <a:cs typeface="Tenor Sans"/>
                  <a:sym typeface="Tenor Sans"/>
                </a:rPr>
                <a:t>ternalBlue Vulnerability </a:t>
              </a:r>
            </a:p>
          </p:txBody>
        </p:sp>
      </p:grpSp>
      <p:grpSp>
        <p:nvGrpSpPr>
          <p:cNvPr name="Group 8" id="8"/>
          <p:cNvGrpSpPr/>
          <p:nvPr/>
        </p:nvGrpSpPr>
        <p:grpSpPr>
          <a:xfrm rot="0">
            <a:off x="12848392" y="4042066"/>
            <a:ext cx="5439608" cy="6254459"/>
            <a:chOff x="0" y="0"/>
            <a:chExt cx="1432654" cy="1647265"/>
          </a:xfrm>
        </p:grpSpPr>
        <p:sp>
          <p:nvSpPr>
            <p:cNvPr name="Freeform 9" id="9"/>
            <p:cNvSpPr/>
            <p:nvPr/>
          </p:nvSpPr>
          <p:spPr>
            <a:xfrm flipH="false" flipV="false" rot="0">
              <a:off x="0" y="0"/>
              <a:ext cx="1432654" cy="1647265"/>
            </a:xfrm>
            <a:custGeom>
              <a:avLst/>
              <a:gdLst/>
              <a:ahLst/>
              <a:cxnLst/>
              <a:rect r="r" b="b" t="t" l="l"/>
              <a:pathLst>
                <a:path h="1647265" w="1432654">
                  <a:moveTo>
                    <a:pt x="716327" y="0"/>
                  </a:moveTo>
                  <a:cubicBezTo>
                    <a:pt x="320710" y="0"/>
                    <a:pt x="0" y="368753"/>
                    <a:pt x="0" y="823632"/>
                  </a:cubicBezTo>
                  <a:cubicBezTo>
                    <a:pt x="0" y="1278512"/>
                    <a:pt x="320710" y="1647265"/>
                    <a:pt x="716327" y="1647265"/>
                  </a:cubicBezTo>
                  <a:cubicBezTo>
                    <a:pt x="1111943" y="1647265"/>
                    <a:pt x="1432654" y="1278512"/>
                    <a:pt x="1432654" y="823632"/>
                  </a:cubicBezTo>
                  <a:cubicBezTo>
                    <a:pt x="1432654" y="368753"/>
                    <a:pt x="1111943" y="0"/>
                    <a:pt x="716327" y="0"/>
                  </a:cubicBezTo>
                  <a:close/>
                </a:path>
              </a:pathLst>
            </a:custGeom>
            <a:ln w="85725" cap="sq">
              <a:solidFill>
                <a:srgbClr val="FF3131"/>
              </a:solidFill>
              <a:prstDash val="solid"/>
              <a:miter/>
            </a:ln>
          </p:spPr>
        </p:sp>
        <p:sp>
          <p:nvSpPr>
            <p:cNvPr name="TextBox 10" id="10"/>
            <p:cNvSpPr txBox="true"/>
            <p:nvPr/>
          </p:nvSpPr>
          <p:spPr>
            <a:xfrm>
              <a:off x="134311" y="106806"/>
              <a:ext cx="1164031" cy="1386028"/>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CF6245"/>
        </a:solidFill>
      </p:bgPr>
    </p:bg>
    <p:spTree>
      <p:nvGrpSpPr>
        <p:cNvPr id="1" name=""/>
        <p:cNvGrpSpPr/>
        <p:nvPr/>
      </p:nvGrpSpPr>
      <p:grpSpPr>
        <a:xfrm>
          <a:off x="0" y="0"/>
          <a:ext cx="0" cy="0"/>
          <a:chOff x="0" y="0"/>
          <a:chExt cx="0" cy="0"/>
        </a:xfrm>
      </p:grpSpPr>
      <p:sp>
        <p:nvSpPr>
          <p:cNvPr name="TextBox 2" id="2"/>
          <p:cNvSpPr txBox="true"/>
          <p:nvPr/>
        </p:nvSpPr>
        <p:spPr>
          <a:xfrm rot="0">
            <a:off x="750081" y="3533748"/>
            <a:ext cx="4007657" cy="1076325"/>
          </a:xfrm>
          <a:prstGeom prst="rect">
            <a:avLst/>
          </a:prstGeom>
        </p:spPr>
        <p:txBody>
          <a:bodyPr anchor="t" rtlCol="false" tIns="0" lIns="0" bIns="0" rIns="0">
            <a:spAutoFit/>
          </a:bodyPr>
          <a:lstStyle/>
          <a:p>
            <a:pPr algn="l" marL="0" indent="0" lvl="0">
              <a:lnSpc>
                <a:spcPts val="4200"/>
              </a:lnSpc>
              <a:spcBef>
                <a:spcPct val="0"/>
              </a:spcBef>
            </a:pPr>
            <a:r>
              <a:rPr lang="en-US" b="true" sz="3500">
                <a:solidFill>
                  <a:srgbClr val="F4F4F4"/>
                </a:solidFill>
                <a:latin typeface="Clear Sans Bold"/>
                <a:ea typeface="Clear Sans Bold"/>
                <a:cs typeface="Clear Sans Bold"/>
                <a:sym typeface="Clear Sans Bold"/>
              </a:rPr>
              <a:t>STEP 1: INITIAL CONNECTION</a:t>
            </a:r>
          </a:p>
        </p:txBody>
      </p:sp>
      <p:sp>
        <p:nvSpPr>
          <p:cNvPr name="TextBox 3" id="3"/>
          <p:cNvSpPr txBox="true"/>
          <p:nvPr/>
        </p:nvSpPr>
        <p:spPr>
          <a:xfrm rot="0">
            <a:off x="6503181" y="3533748"/>
            <a:ext cx="4007657" cy="1076325"/>
          </a:xfrm>
          <a:prstGeom prst="rect">
            <a:avLst/>
          </a:prstGeom>
        </p:spPr>
        <p:txBody>
          <a:bodyPr anchor="t" rtlCol="false" tIns="0" lIns="0" bIns="0" rIns="0">
            <a:spAutoFit/>
          </a:bodyPr>
          <a:lstStyle/>
          <a:p>
            <a:pPr algn="l" marL="0" indent="0" lvl="0">
              <a:lnSpc>
                <a:spcPts val="4200"/>
              </a:lnSpc>
              <a:spcBef>
                <a:spcPct val="0"/>
              </a:spcBef>
            </a:pPr>
            <a:r>
              <a:rPr lang="en-US" b="true" sz="3500">
                <a:solidFill>
                  <a:srgbClr val="F4F4F4"/>
                </a:solidFill>
                <a:latin typeface="Clear Sans Bold"/>
                <a:ea typeface="Clear Sans Bold"/>
                <a:cs typeface="Clear Sans Bold"/>
                <a:sym typeface="Clear Sans Bold"/>
              </a:rPr>
              <a:t>STEP 2:  FEA DATA &amp; SETUP</a:t>
            </a:r>
          </a:p>
        </p:txBody>
      </p:sp>
      <p:sp>
        <p:nvSpPr>
          <p:cNvPr name="Freeform 4" id="4"/>
          <p:cNvSpPr/>
          <p:nvPr/>
        </p:nvSpPr>
        <p:spPr>
          <a:xfrm flipH="false" flipV="false" rot="-6723923">
            <a:off x="13666568" y="-2297777"/>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5" id="5"/>
          <p:cNvSpPr txBox="true"/>
          <p:nvPr/>
        </p:nvSpPr>
        <p:spPr>
          <a:xfrm rot="0">
            <a:off x="327621" y="5991225"/>
            <a:ext cx="5147422" cy="2590801"/>
          </a:xfrm>
          <a:prstGeom prst="rect">
            <a:avLst/>
          </a:prstGeom>
        </p:spPr>
        <p:txBody>
          <a:bodyPr anchor="t" rtlCol="false" tIns="0" lIns="0" bIns="0" rIns="0">
            <a:spAutoFit/>
          </a:bodyPr>
          <a:lstStyle/>
          <a:p>
            <a:pPr algn="l" marL="647695" indent="-323848" lvl="1">
              <a:lnSpc>
                <a:spcPts val="4199"/>
              </a:lnSpc>
              <a:spcBef>
                <a:spcPct val="0"/>
              </a:spcBef>
              <a:buFont typeface="Arial"/>
              <a:buChar char="•"/>
            </a:pPr>
            <a:r>
              <a:rPr lang="en-US" sz="2999">
                <a:solidFill>
                  <a:srgbClr val="F4F4F4"/>
                </a:solidFill>
                <a:latin typeface="Clear Sans"/>
                <a:ea typeface="Clear Sans"/>
                <a:cs typeface="Clear Sans"/>
                <a:sym typeface="Clear Sans"/>
              </a:rPr>
              <a:t>SMB h</a:t>
            </a:r>
            <a:r>
              <a:rPr lang="en-US" sz="2999" strike="noStrike" u="none">
                <a:solidFill>
                  <a:srgbClr val="F4F4F4"/>
                </a:solidFill>
                <a:latin typeface="Clear Sans"/>
                <a:ea typeface="Clear Sans"/>
                <a:cs typeface="Clear Sans"/>
                <a:sym typeface="Clear Sans"/>
              </a:rPr>
              <a:t>andshake between attac</a:t>
            </a:r>
            <a:r>
              <a:rPr lang="en-US" sz="2999" strike="noStrike" u="none">
                <a:solidFill>
                  <a:srgbClr val="F4F4F4"/>
                </a:solidFill>
                <a:latin typeface="Clear Sans"/>
                <a:ea typeface="Clear Sans"/>
                <a:cs typeface="Clear Sans"/>
                <a:sym typeface="Clear Sans"/>
              </a:rPr>
              <a:t>k</a:t>
            </a:r>
            <a:r>
              <a:rPr lang="en-US" sz="2999" strike="noStrike" u="none">
                <a:solidFill>
                  <a:srgbClr val="F4F4F4"/>
                </a:solidFill>
                <a:latin typeface="Clear Sans"/>
                <a:ea typeface="Clear Sans"/>
                <a:cs typeface="Clear Sans"/>
                <a:sym typeface="Clear Sans"/>
              </a:rPr>
              <a:t>er and victim</a:t>
            </a:r>
          </a:p>
          <a:p>
            <a:pPr algn="l" marL="647695" indent="-323848" lvl="1">
              <a:lnSpc>
                <a:spcPts val="4199"/>
              </a:lnSpc>
              <a:spcBef>
                <a:spcPct val="0"/>
              </a:spcBef>
              <a:buFont typeface="Arial"/>
              <a:buChar char="•"/>
            </a:pPr>
            <a:r>
              <a:rPr lang="en-US" sz="2999" strike="noStrike" u="none">
                <a:solidFill>
                  <a:srgbClr val="F4F4F4"/>
                </a:solidFill>
                <a:latin typeface="Clear Sans"/>
                <a:ea typeface="Clear Sans"/>
                <a:cs typeface="Clear Sans"/>
                <a:sym typeface="Clear Sans"/>
              </a:rPr>
              <a:t>Establishes commun</a:t>
            </a:r>
            <a:r>
              <a:rPr lang="en-US" sz="2999" strike="noStrike" u="none">
                <a:solidFill>
                  <a:srgbClr val="F4F4F4"/>
                </a:solidFill>
                <a:latin typeface="Clear Sans"/>
                <a:ea typeface="Clear Sans"/>
                <a:cs typeface="Clear Sans"/>
                <a:sym typeface="Clear Sans"/>
              </a:rPr>
              <a:t>i</a:t>
            </a:r>
            <a:r>
              <a:rPr lang="en-US" sz="2999" strike="noStrike" u="none">
                <a:solidFill>
                  <a:srgbClr val="F4F4F4"/>
                </a:solidFill>
                <a:latin typeface="Clear Sans"/>
                <a:ea typeface="Clear Sans"/>
                <a:cs typeface="Clear Sans"/>
                <a:sym typeface="Clear Sans"/>
              </a:rPr>
              <a:t>c</a:t>
            </a:r>
            <a:r>
              <a:rPr lang="en-US" sz="2999" strike="noStrike" u="none">
                <a:solidFill>
                  <a:srgbClr val="F4F4F4"/>
                </a:solidFill>
                <a:latin typeface="Clear Sans"/>
                <a:ea typeface="Clear Sans"/>
                <a:cs typeface="Clear Sans"/>
                <a:sym typeface="Clear Sans"/>
              </a:rPr>
              <a:t>a</a:t>
            </a:r>
            <a:r>
              <a:rPr lang="en-US" sz="2999" strike="noStrike" u="none">
                <a:solidFill>
                  <a:srgbClr val="F4F4F4"/>
                </a:solidFill>
                <a:latin typeface="Clear Sans"/>
                <a:ea typeface="Clear Sans"/>
                <a:cs typeface="Clear Sans"/>
                <a:sym typeface="Clear Sans"/>
              </a:rPr>
              <a:t>tion channel</a:t>
            </a:r>
          </a:p>
          <a:p>
            <a:pPr algn="l" marL="0" indent="0" lvl="0">
              <a:lnSpc>
                <a:spcPts val="4199"/>
              </a:lnSpc>
              <a:spcBef>
                <a:spcPct val="0"/>
              </a:spcBef>
            </a:pPr>
          </a:p>
        </p:txBody>
      </p:sp>
      <p:sp>
        <p:nvSpPr>
          <p:cNvPr name="TextBox 6" id="6"/>
          <p:cNvSpPr txBox="true"/>
          <p:nvPr/>
        </p:nvSpPr>
        <p:spPr>
          <a:xfrm rot="0">
            <a:off x="6086475" y="5991225"/>
            <a:ext cx="5753100" cy="2590801"/>
          </a:xfrm>
          <a:prstGeom prst="rect">
            <a:avLst/>
          </a:prstGeom>
        </p:spPr>
        <p:txBody>
          <a:bodyPr anchor="t" rtlCol="false" tIns="0" lIns="0" bIns="0" rIns="0">
            <a:spAutoFit/>
          </a:bodyPr>
          <a:lstStyle/>
          <a:p>
            <a:pPr algn="l" marL="647695" indent="-323848" lvl="1">
              <a:lnSpc>
                <a:spcPts val="4199"/>
              </a:lnSpc>
              <a:spcBef>
                <a:spcPct val="0"/>
              </a:spcBef>
              <a:buFont typeface="Arial"/>
              <a:buChar char="•"/>
            </a:pPr>
            <a:r>
              <a:rPr lang="en-US" sz="2999">
                <a:solidFill>
                  <a:srgbClr val="F4F4F4"/>
                </a:solidFill>
                <a:latin typeface="Clear Sans"/>
                <a:ea typeface="Clear Sans"/>
                <a:cs typeface="Clear Sans"/>
                <a:sym typeface="Clear Sans"/>
              </a:rPr>
              <a:t>Sends large FEA</a:t>
            </a:r>
            <a:r>
              <a:rPr lang="en-US" sz="2999" strike="noStrike" u="none">
                <a:solidFill>
                  <a:srgbClr val="F4F4F4"/>
                </a:solidFill>
                <a:latin typeface="Clear Sans"/>
                <a:ea typeface="Clear Sans"/>
                <a:cs typeface="Clear Sans"/>
                <a:sym typeface="Clear Sans"/>
              </a:rPr>
              <a:t> </a:t>
            </a:r>
            <a:r>
              <a:rPr lang="en-US" sz="2999" strike="noStrike" u="none">
                <a:solidFill>
                  <a:srgbClr val="F4F4F4"/>
                </a:solidFill>
                <a:latin typeface="Clear Sans"/>
                <a:ea typeface="Clear Sans"/>
                <a:cs typeface="Clear Sans"/>
                <a:sym typeface="Clear Sans"/>
              </a:rPr>
              <a:t>(File</a:t>
            </a:r>
            <a:r>
              <a:rPr lang="en-US" sz="2999" strike="noStrike" u="none">
                <a:solidFill>
                  <a:srgbClr val="F4F4F4"/>
                </a:solidFill>
                <a:latin typeface="Clear Sans"/>
                <a:ea typeface="Clear Sans"/>
                <a:cs typeface="Clear Sans"/>
                <a:sym typeface="Clear Sans"/>
              </a:rPr>
              <a:t> </a:t>
            </a:r>
            <a:r>
              <a:rPr lang="en-US" sz="2999" strike="noStrike" u="none">
                <a:solidFill>
                  <a:srgbClr val="F4F4F4"/>
                </a:solidFill>
                <a:latin typeface="Clear Sans"/>
                <a:ea typeface="Clear Sans"/>
                <a:cs typeface="Clear Sans"/>
                <a:sym typeface="Clear Sans"/>
              </a:rPr>
              <a:t>Ex</a:t>
            </a:r>
            <a:r>
              <a:rPr lang="en-US" sz="2999" strike="noStrike" u="none">
                <a:solidFill>
                  <a:srgbClr val="F4F4F4"/>
                </a:solidFill>
                <a:latin typeface="Clear Sans"/>
                <a:ea typeface="Clear Sans"/>
                <a:cs typeface="Clear Sans"/>
                <a:sym typeface="Clear Sans"/>
              </a:rPr>
              <a:t>tended Attri</a:t>
            </a:r>
            <a:r>
              <a:rPr lang="en-US" sz="2999" strike="noStrike" u="none">
                <a:solidFill>
                  <a:srgbClr val="F4F4F4"/>
                </a:solidFill>
                <a:latin typeface="Clear Sans"/>
                <a:ea typeface="Clear Sans"/>
                <a:cs typeface="Clear Sans"/>
                <a:sym typeface="Clear Sans"/>
              </a:rPr>
              <a:t>bute</a:t>
            </a:r>
            <a:r>
              <a:rPr lang="en-US" sz="2999" strike="noStrike" u="none">
                <a:solidFill>
                  <a:srgbClr val="F4F4F4"/>
                </a:solidFill>
                <a:latin typeface="Clear Sans"/>
                <a:ea typeface="Clear Sans"/>
                <a:cs typeface="Clear Sans"/>
                <a:sym typeface="Clear Sans"/>
              </a:rPr>
              <a:t>s</a:t>
            </a:r>
            <a:r>
              <a:rPr lang="en-US" sz="2999" strike="noStrike" u="none">
                <a:solidFill>
                  <a:srgbClr val="F4F4F4"/>
                </a:solidFill>
                <a:latin typeface="Clear Sans"/>
                <a:ea typeface="Clear Sans"/>
                <a:cs typeface="Clear Sans"/>
                <a:sym typeface="Clear Sans"/>
              </a:rPr>
              <a:t>)</a:t>
            </a:r>
            <a:r>
              <a:rPr lang="en-US" sz="2999" strike="noStrike" u="none">
                <a:solidFill>
                  <a:srgbClr val="F4F4F4"/>
                </a:solidFill>
                <a:latin typeface="Clear Sans"/>
                <a:ea typeface="Clear Sans"/>
                <a:cs typeface="Clear Sans"/>
                <a:sym typeface="Clear Sans"/>
              </a:rPr>
              <a:t> </a:t>
            </a:r>
            <a:r>
              <a:rPr lang="en-US" sz="2999" strike="noStrike" u="none">
                <a:solidFill>
                  <a:srgbClr val="F4F4F4"/>
                </a:solidFill>
                <a:latin typeface="Clear Sans"/>
                <a:ea typeface="Clear Sans"/>
                <a:cs typeface="Clear Sans"/>
                <a:sym typeface="Clear Sans"/>
              </a:rPr>
              <a:t>d</a:t>
            </a:r>
            <a:r>
              <a:rPr lang="en-US" sz="2999" strike="noStrike" u="none">
                <a:solidFill>
                  <a:srgbClr val="F4F4F4"/>
                </a:solidFill>
                <a:latin typeface="Clear Sans"/>
                <a:ea typeface="Clear Sans"/>
                <a:cs typeface="Clear Sans"/>
                <a:sym typeface="Clear Sans"/>
              </a:rPr>
              <a:t>at</a:t>
            </a:r>
            <a:r>
              <a:rPr lang="en-US" sz="2999" strike="noStrike" u="none">
                <a:solidFill>
                  <a:srgbClr val="F4F4F4"/>
                </a:solidFill>
                <a:latin typeface="Clear Sans"/>
                <a:ea typeface="Clear Sans"/>
                <a:cs typeface="Clear Sans"/>
                <a:sym typeface="Clear Sans"/>
              </a:rPr>
              <a:t>a</a:t>
            </a:r>
          </a:p>
          <a:p>
            <a:pPr algn="l" marL="647695" indent="-323848" lvl="1">
              <a:lnSpc>
                <a:spcPts val="4199"/>
              </a:lnSpc>
              <a:spcBef>
                <a:spcPct val="0"/>
              </a:spcBef>
              <a:buFont typeface="Arial"/>
              <a:buChar char="•"/>
            </a:pPr>
            <a:r>
              <a:rPr lang="en-US" sz="2999" strike="noStrike" u="none">
                <a:solidFill>
                  <a:srgbClr val="F4F4F4"/>
                </a:solidFill>
                <a:latin typeface="Clear Sans"/>
                <a:ea typeface="Clear Sans"/>
                <a:cs typeface="Clear Sans"/>
                <a:sym typeface="Clear Sans"/>
              </a:rPr>
              <a:t>F</a:t>
            </a:r>
            <a:r>
              <a:rPr lang="en-US" sz="2999" strike="noStrike" u="none">
                <a:solidFill>
                  <a:srgbClr val="F4F4F4"/>
                </a:solidFill>
                <a:latin typeface="Clear Sans"/>
                <a:ea typeface="Clear Sans"/>
                <a:cs typeface="Clear Sans"/>
                <a:sym typeface="Clear Sans"/>
              </a:rPr>
              <a:t>ill</a:t>
            </a:r>
            <a:r>
              <a:rPr lang="en-US" sz="2999" strike="noStrike" u="none">
                <a:solidFill>
                  <a:srgbClr val="F4F4F4"/>
                </a:solidFill>
                <a:latin typeface="Clear Sans"/>
                <a:ea typeface="Clear Sans"/>
                <a:cs typeface="Clear Sans"/>
                <a:sym typeface="Clear Sans"/>
              </a:rPr>
              <a:t>s</a:t>
            </a:r>
            <a:r>
              <a:rPr lang="en-US" sz="2999" strike="noStrike" u="none">
                <a:solidFill>
                  <a:srgbClr val="F4F4F4"/>
                </a:solidFill>
                <a:latin typeface="Clear Sans"/>
                <a:ea typeface="Clear Sans"/>
                <a:cs typeface="Clear Sans"/>
                <a:sym typeface="Clear Sans"/>
              </a:rPr>
              <a:t> heap m</a:t>
            </a:r>
            <a:r>
              <a:rPr lang="en-US" sz="2999" strike="noStrike" u="none">
                <a:solidFill>
                  <a:srgbClr val="F4F4F4"/>
                </a:solidFill>
                <a:latin typeface="Clear Sans"/>
                <a:ea typeface="Clear Sans"/>
                <a:cs typeface="Clear Sans"/>
                <a:sym typeface="Clear Sans"/>
              </a:rPr>
              <a:t>emory</a:t>
            </a:r>
          </a:p>
          <a:p>
            <a:pPr algn="l" marL="647695" indent="-323848" lvl="1">
              <a:lnSpc>
                <a:spcPts val="4199"/>
              </a:lnSpc>
              <a:spcBef>
                <a:spcPct val="0"/>
              </a:spcBef>
              <a:buFont typeface="Arial"/>
              <a:buChar char="•"/>
            </a:pPr>
            <a:r>
              <a:rPr lang="en-US" sz="2999" strike="noStrike" u="none">
                <a:solidFill>
                  <a:srgbClr val="F4F4F4"/>
                </a:solidFill>
                <a:latin typeface="Clear Sans"/>
                <a:ea typeface="Clear Sans"/>
                <a:cs typeface="Clear Sans"/>
                <a:sym typeface="Clear Sans"/>
              </a:rPr>
              <a:t>Prep</a:t>
            </a:r>
            <a:r>
              <a:rPr lang="en-US" sz="2999" strike="noStrike" u="none">
                <a:solidFill>
                  <a:srgbClr val="F4F4F4"/>
                </a:solidFill>
                <a:latin typeface="Clear Sans"/>
                <a:ea typeface="Clear Sans"/>
                <a:cs typeface="Clear Sans"/>
                <a:sym typeface="Clear Sans"/>
              </a:rPr>
              <a:t>a</a:t>
            </a:r>
            <a:r>
              <a:rPr lang="en-US" sz="2999" strike="noStrike" u="none">
                <a:solidFill>
                  <a:srgbClr val="F4F4F4"/>
                </a:solidFill>
                <a:latin typeface="Clear Sans"/>
                <a:ea typeface="Clear Sans"/>
                <a:cs typeface="Clear Sans"/>
                <a:sym typeface="Clear Sans"/>
              </a:rPr>
              <a:t>r</a:t>
            </a:r>
            <a:r>
              <a:rPr lang="en-US" sz="2999" strike="noStrike" u="none">
                <a:solidFill>
                  <a:srgbClr val="F4F4F4"/>
                </a:solidFill>
                <a:latin typeface="Clear Sans"/>
                <a:ea typeface="Clear Sans"/>
                <a:cs typeface="Clear Sans"/>
                <a:sym typeface="Clear Sans"/>
              </a:rPr>
              <a:t>es for overflow</a:t>
            </a:r>
          </a:p>
          <a:p>
            <a:pPr algn="l" marL="0" indent="0" lvl="0">
              <a:lnSpc>
                <a:spcPts val="4199"/>
              </a:lnSpc>
              <a:spcBef>
                <a:spcPct val="0"/>
              </a:spcBef>
            </a:pPr>
          </a:p>
        </p:txBody>
      </p:sp>
      <p:sp>
        <p:nvSpPr>
          <p:cNvPr name="TextBox 7" id="7"/>
          <p:cNvSpPr txBox="true"/>
          <p:nvPr/>
        </p:nvSpPr>
        <p:spPr>
          <a:xfrm rot="0">
            <a:off x="666750" y="1562100"/>
            <a:ext cx="15516225" cy="1057275"/>
          </a:xfrm>
          <a:prstGeom prst="rect">
            <a:avLst/>
          </a:prstGeom>
        </p:spPr>
        <p:txBody>
          <a:bodyPr anchor="t" rtlCol="false" tIns="0" lIns="0" bIns="0" rIns="0">
            <a:spAutoFit/>
          </a:bodyPr>
          <a:lstStyle/>
          <a:p>
            <a:pPr algn="l" marL="0" indent="0" lvl="0">
              <a:lnSpc>
                <a:spcPts val="8399"/>
              </a:lnSpc>
              <a:spcBef>
                <a:spcPct val="0"/>
              </a:spcBef>
            </a:pPr>
            <a:r>
              <a:rPr lang="en-US" sz="6999" spc="-139">
                <a:solidFill>
                  <a:srgbClr val="F4F4F4"/>
                </a:solidFill>
                <a:latin typeface="Tenor Sans"/>
                <a:ea typeface="Tenor Sans"/>
                <a:cs typeface="Tenor Sans"/>
                <a:sym typeface="Tenor Sans"/>
              </a:rPr>
              <a:t>Technical Steps </a:t>
            </a:r>
          </a:p>
        </p:txBody>
      </p:sp>
      <p:sp>
        <p:nvSpPr>
          <p:cNvPr name="AutoShape 8" id="8"/>
          <p:cNvSpPr/>
          <p:nvPr/>
        </p:nvSpPr>
        <p:spPr>
          <a:xfrm flipV="true">
            <a:off x="750081" y="5143500"/>
            <a:ext cx="17850263" cy="0"/>
          </a:xfrm>
          <a:prstGeom prst="line">
            <a:avLst/>
          </a:prstGeom>
          <a:ln cap="flat" w="19050">
            <a:solidFill>
              <a:srgbClr val="F4F4F4"/>
            </a:solidFill>
            <a:prstDash val="solid"/>
            <a:headEnd type="none" len="sm" w="sm"/>
            <a:tailEnd type="none" len="sm" w="sm"/>
          </a:ln>
        </p:spPr>
      </p:sp>
      <p:grpSp>
        <p:nvGrpSpPr>
          <p:cNvPr name="Group 9" id="9"/>
          <p:cNvGrpSpPr/>
          <p:nvPr/>
        </p:nvGrpSpPr>
        <p:grpSpPr>
          <a:xfrm rot="0">
            <a:off x="669118" y="5062538"/>
            <a:ext cx="161925" cy="161925"/>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grpSp>
        <p:nvGrpSpPr>
          <p:cNvPr name="Group 11" id="11"/>
          <p:cNvGrpSpPr/>
          <p:nvPr/>
        </p:nvGrpSpPr>
        <p:grpSpPr>
          <a:xfrm rot="0">
            <a:off x="6422218" y="5062538"/>
            <a:ext cx="161925" cy="161925"/>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grpSp>
        <p:nvGrpSpPr>
          <p:cNvPr name="Group 13" id="13"/>
          <p:cNvGrpSpPr/>
          <p:nvPr/>
        </p:nvGrpSpPr>
        <p:grpSpPr>
          <a:xfrm rot="0">
            <a:off x="12175318" y="5062538"/>
            <a:ext cx="161925" cy="161925"/>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sp>
        <p:nvSpPr>
          <p:cNvPr name="TextBox 15" id="15"/>
          <p:cNvSpPr txBox="true"/>
          <p:nvPr/>
        </p:nvSpPr>
        <p:spPr>
          <a:xfrm rot="0">
            <a:off x="12253912" y="3533748"/>
            <a:ext cx="4007657" cy="1076325"/>
          </a:xfrm>
          <a:prstGeom prst="rect">
            <a:avLst/>
          </a:prstGeom>
        </p:spPr>
        <p:txBody>
          <a:bodyPr anchor="t" rtlCol="false" tIns="0" lIns="0" bIns="0" rIns="0">
            <a:spAutoFit/>
          </a:bodyPr>
          <a:lstStyle/>
          <a:p>
            <a:pPr algn="l" marL="0" indent="0" lvl="0">
              <a:lnSpc>
                <a:spcPts val="4200"/>
              </a:lnSpc>
              <a:spcBef>
                <a:spcPct val="0"/>
              </a:spcBef>
            </a:pPr>
            <a:r>
              <a:rPr lang="en-US" b="true" sz="3500">
                <a:solidFill>
                  <a:srgbClr val="F4F4F4"/>
                </a:solidFill>
                <a:latin typeface="Clear Sans Bold"/>
                <a:ea typeface="Clear Sans Bold"/>
                <a:cs typeface="Clear Sans Bold"/>
                <a:sym typeface="Clear Sans Bold"/>
              </a:rPr>
              <a:t>STEP 3: TH</a:t>
            </a:r>
            <a:r>
              <a:rPr lang="en-US" b="true" sz="3500" strike="noStrike" u="none">
                <a:solidFill>
                  <a:srgbClr val="F4F4F4"/>
                </a:solidFill>
                <a:latin typeface="Clear Sans Bold"/>
                <a:ea typeface="Clear Sans Bold"/>
                <a:cs typeface="Clear Sans Bold"/>
                <a:sym typeface="Clear Sans Bold"/>
              </a:rPr>
              <a:t>E</a:t>
            </a:r>
            <a:r>
              <a:rPr lang="en-US" b="true" sz="3500" strike="noStrike" u="none">
                <a:solidFill>
                  <a:srgbClr val="F4F4F4"/>
                </a:solidFill>
                <a:latin typeface="Clear Sans Bold"/>
                <a:ea typeface="Clear Sans Bold"/>
                <a:cs typeface="Clear Sans Bold"/>
                <a:sym typeface="Clear Sans Bold"/>
              </a:rPr>
              <a:t> C</a:t>
            </a:r>
            <a:r>
              <a:rPr lang="en-US" b="true" sz="3500" strike="noStrike" u="none">
                <a:solidFill>
                  <a:srgbClr val="F4F4F4"/>
                </a:solidFill>
                <a:latin typeface="Clear Sans Bold"/>
                <a:ea typeface="Clear Sans Bold"/>
                <a:cs typeface="Clear Sans Bold"/>
                <a:sym typeface="Clear Sans Bold"/>
              </a:rPr>
              <a:t>OR</a:t>
            </a:r>
            <a:r>
              <a:rPr lang="en-US" b="true" sz="3500" strike="noStrike" u="none">
                <a:solidFill>
                  <a:srgbClr val="F4F4F4"/>
                </a:solidFill>
                <a:latin typeface="Clear Sans Bold"/>
                <a:ea typeface="Clear Sans Bold"/>
                <a:cs typeface="Clear Sans Bold"/>
                <a:sym typeface="Clear Sans Bold"/>
              </a:rPr>
              <a:t>E BU</a:t>
            </a:r>
            <a:r>
              <a:rPr lang="en-US" b="true" sz="3500" strike="noStrike" u="none">
                <a:solidFill>
                  <a:srgbClr val="F4F4F4"/>
                </a:solidFill>
                <a:latin typeface="Clear Sans Bold"/>
                <a:ea typeface="Clear Sans Bold"/>
                <a:cs typeface="Clear Sans Bold"/>
                <a:sym typeface="Clear Sans Bold"/>
              </a:rPr>
              <a:t>G</a:t>
            </a:r>
          </a:p>
        </p:txBody>
      </p:sp>
      <p:sp>
        <p:nvSpPr>
          <p:cNvPr name="TextBox 16" id="16"/>
          <p:cNvSpPr txBox="true"/>
          <p:nvPr/>
        </p:nvSpPr>
        <p:spPr>
          <a:xfrm rot="0">
            <a:off x="11849100" y="5991225"/>
            <a:ext cx="5083982" cy="3114676"/>
          </a:xfrm>
          <a:prstGeom prst="rect">
            <a:avLst/>
          </a:prstGeom>
        </p:spPr>
        <p:txBody>
          <a:bodyPr anchor="t" rtlCol="false" tIns="0" lIns="0" bIns="0" rIns="0">
            <a:spAutoFit/>
          </a:bodyPr>
          <a:lstStyle/>
          <a:p>
            <a:pPr algn="l" marL="647695" indent="-323848" lvl="1">
              <a:lnSpc>
                <a:spcPts val="4199"/>
              </a:lnSpc>
              <a:spcBef>
                <a:spcPct val="0"/>
              </a:spcBef>
              <a:buFont typeface="Arial"/>
              <a:buChar char="•"/>
            </a:pPr>
            <a:r>
              <a:rPr lang="en-US" sz="2999">
                <a:solidFill>
                  <a:srgbClr val="F4F4F4"/>
                </a:solidFill>
                <a:latin typeface="Clear Sans"/>
                <a:ea typeface="Clear Sans"/>
                <a:cs typeface="Clear Sans"/>
                <a:sym typeface="Clear Sans"/>
              </a:rPr>
              <a:t>OS/2</a:t>
            </a:r>
            <a:r>
              <a:rPr lang="en-US" sz="2999" strike="noStrike" u="none">
                <a:solidFill>
                  <a:srgbClr val="F4F4F4"/>
                </a:solidFill>
                <a:latin typeface="Clear Sans"/>
                <a:ea typeface="Clear Sans"/>
                <a:cs typeface="Clear Sans"/>
                <a:sym typeface="Clear Sans"/>
              </a:rPr>
              <a:t> </a:t>
            </a:r>
            <a:r>
              <a:rPr lang="en-US" sz="2999" strike="noStrike" u="none">
                <a:solidFill>
                  <a:srgbClr val="F4F4F4"/>
                </a:solidFill>
                <a:latin typeface="Clear Sans"/>
                <a:ea typeface="Clear Sans"/>
                <a:cs typeface="Clear Sans"/>
                <a:sym typeface="Clear Sans"/>
              </a:rPr>
              <a:t>FEA</a:t>
            </a:r>
            <a:r>
              <a:rPr lang="en-US" sz="2999" strike="noStrike" u="none">
                <a:solidFill>
                  <a:srgbClr val="F4F4F4"/>
                </a:solidFill>
                <a:latin typeface="Clear Sans"/>
                <a:ea typeface="Clear Sans"/>
                <a:cs typeface="Clear Sans"/>
                <a:sym typeface="Clear Sans"/>
              </a:rPr>
              <a:t> </a:t>
            </a:r>
            <a:r>
              <a:rPr lang="en-US" sz="2999" strike="noStrike" u="none">
                <a:solidFill>
                  <a:srgbClr val="F4F4F4"/>
                </a:solidFill>
                <a:latin typeface="Clear Sans"/>
                <a:ea typeface="Clear Sans"/>
                <a:cs typeface="Clear Sans"/>
                <a:sym typeface="Clear Sans"/>
              </a:rPr>
              <a:t>→</a:t>
            </a:r>
            <a:r>
              <a:rPr lang="en-US" sz="2999" strike="noStrike" u="none">
                <a:solidFill>
                  <a:srgbClr val="F4F4F4"/>
                </a:solidFill>
                <a:latin typeface="Clear Sans"/>
                <a:ea typeface="Clear Sans"/>
                <a:cs typeface="Clear Sans"/>
                <a:sym typeface="Clear Sans"/>
              </a:rPr>
              <a:t> </a:t>
            </a:r>
            <a:r>
              <a:rPr lang="en-US" sz="2999" strike="noStrike" u="none">
                <a:solidFill>
                  <a:srgbClr val="F4F4F4"/>
                </a:solidFill>
                <a:latin typeface="Clear Sans"/>
                <a:ea typeface="Clear Sans"/>
                <a:cs typeface="Clear Sans"/>
                <a:sym typeface="Clear Sans"/>
              </a:rPr>
              <a:t>NT</a:t>
            </a:r>
            <a:r>
              <a:rPr lang="en-US" sz="2999" strike="noStrike" u="none">
                <a:solidFill>
                  <a:srgbClr val="F4F4F4"/>
                </a:solidFill>
                <a:latin typeface="Clear Sans"/>
                <a:ea typeface="Clear Sans"/>
                <a:cs typeface="Clear Sans"/>
                <a:sym typeface="Clear Sans"/>
              </a:rPr>
              <a:t> </a:t>
            </a:r>
            <a:r>
              <a:rPr lang="en-US" sz="2999" strike="noStrike" u="none">
                <a:solidFill>
                  <a:srgbClr val="F4F4F4"/>
                </a:solidFill>
                <a:latin typeface="Clear Sans"/>
                <a:ea typeface="Clear Sans"/>
                <a:cs typeface="Clear Sans"/>
                <a:sym typeface="Clear Sans"/>
              </a:rPr>
              <a:t>FEA</a:t>
            </a:r>
            <a:r>
              <a:rPr lang="en-US" sz="2999" strike="noStrike" u="none">
                <a:solidFill>
                  <a:srgbClr val="F4F4F4"/>
                </a:solidFill>
                <a:latin typeface="Clear Sans"/>
                <a:ea typeface="Clear Sans"/>
                <a:cs typeface="Clear Sans"/>
                <a:sym typeface="Clear Sans"/>
              </a:rPr>
              <a:t> </a:t>
            </a:r>
            <a:r>
              <a:rPr lang="en-US" sz="2999" strike="noStrike" u="none">
                <a:solidFill>
                  <a:srgbClr val="F4F4F4"/>
                </a:solidFill>
                <a:latin typeface="Clear Sans"/>
                <a:ea typeface="Clear Sans"/>
                <a:cs typeface="Clear Sans"/>
                <a:sym typeface="Clear Sans"/>
              </a:rPr>
              <a:t>c</a:t>
            </a:r>
            <a:r>
              <a:rPr lang="en-US" sz="2999" strike="noStrike" u="none">
                <a:solidFill>
                  <a:srgbClr val="F4F4F4"/>
                </a:solidFill>
                <a:latin typeface="Clear Sans"/>
                <a:ea typeface="Clear Sans"/>
                <a:cs typeface="Clear Sans"/>
                <a:sym typeface="Clear Sans"/>
              </a:rPr>
              <a:t>on</a:t>
            </a:r>
            <a:r>
              <a:rPr lang="en-US" sz="2999" strike="noStrike" u="none">
                <a:solidFill>
                  <a:srgbClr val="F4F4F4"/>
                </a:solidFill>
                <a:latin typeface="Clear Sans"/>
                <a:ea typeface="Clear Sans"/>
                <a:cs typeface="Clear Sans"/>
                <a:sym typeface="Clear Sans"/>
              </a:rPr>
              <a:t>v</a:t>
            </a:r>
            <a:r>
              <a:rPr lang="en-US" sz="2999" strike="noStrike" u="none">
                <a:solidFill>
                  <a:srgbClr val="F4F4F4"/>
                </a:solidFill>
                <a:latin typeface="Clear Sans"/>
                <a:ea typeface="Clear Sans"/>
                <a:cs typeface="Clear Sans"/>
                <a:sym typeface="Clear Sans"/>
              </a:rPr>
              <a:t>er</a:t>
            </a:r>
            <a:r>
              <a:rPr lang="en-US" sz="2999" strike="noStrike" u="none">
                <a:solidFill>
                  <a:srgbClr val="F4F4F4"/>
                </a:solidFill>
                <a:latin typeface="Clear Sans"/>
                <a:ea typeface="Clear Sans"/>
                <a:cs typeface="Clear Sans"/>
                <a:sym typeface="Clear Sans"/>
              </a:rPr>
              <a:t>s</a:t>
            </a:r>
            <a:r>
              <a:rPr lang="en-US" sz="2999" strike="noStrike" u="none">
                <a:solidFill>
                  <a:srgbClr val="F4F4F4"/>
                </a:solidFill>
                <a:latin typeface="Clear Sans"/>
                <a:ea typeface="Clear Sans"/>
                <a:cs typeface="Clear Sans"/>
                <a:sym typeface="Clear Sans"/>
              </a:rPr>
              <a:t>i</a:t>
            </a:r>
            <a:r>
              <a:rPr lang="en-US" sz="2999" strike="noStrike" u="none">
                <a:solidFill>
                  <a:srgbClr val="F4F4F4"/>
                </a:solidFill>
                <a:latin typeface="Clear Sans"/>
                <a:ea typeface="Clear Sans"/>
                <a:cs typeface="Clear Sans"/>
                <a:sym typeface="Clear Sans"/>
              </a:rPr>
              <a:t>o</a:t>
            </a:r>
            <a:r>
              <a:rPr lang="en-US" sz="2999" strike="noStrike" u="none">
                <a:solidFill>
                  <a:srgbClr val="F4F4F4"/>
                </a:solidFill>
                <a:latin typeface="Clear Sans"/>
                <a:ea typeface="Clear Sans"/>
                <a:cs typeface="Clear Sans"/>
                <a:sym typeface="Clear Sans"/>
              </a:rPr>
              <a:t>n</a:t>
            </a:r>
          </a:p>
          <a:p>
            <a:pPr algn="l" marL="647695" indent="-323848" lvl="1">
              <a:lnSpc>
                <a:spcPts val="4199"/>
              </a:lnSpc>
              <a:spcBef>
                <a:spcPct val="0"/>
              </a:spcBef>
              <a:buFont typeface="Arial"/>
              <a:buChar char="•"/>
            </a:pPr>
            <a:r>
              <a:rPr lang="en-US" sz="2999" strike="noStrike" u="none">
                <a:solidFill>
                  <a:srgbClr val="F4F4F4"/>
                </a:solidFill>
                <a:latin typeface="Clear Sans"/>
                <a:ea typeface="Clear Sans"/>
                <a:cs typeface="Clear Sans"/>
                <a:sym typeface="Clear Sans"/>
              </a:rPr>
              <a:t>Siz</a:t>
            </a:r>
            <a:r>
              <a:rPr lang="en-US" sz="2999" strike="noStrike" u="none">
                <a:solidFill>
                  <a:srgbClr val="F4F4F4"/>
                </a:solidFill>
                <a:latin typeface="Clear Sans"/>
                <a:ea typeface="Clear Sans"/>
                <a:cs typeface="Clear Sans"/>
                <a:sym typeface="Clear Sans"/>
              </a:rPr>
              <a:t>e </a:t>
            </a:r>
            <a:r>
              <a:rPr lang="en-US" sz="2999" strike="noStrike" u="none">
                <a:solidFill>
                  <a:srgbClr val="F4F4F4"/>
                </a:solidFill>
                <a:latin typeface="Clear Sans"/>
                <a:ea typeface="Clear Sans"/>
                <a:cs typeface="Clear Sans"/>
                <a:sym typeface="Clear Sans"/>
              </a:rPr>
              <a:t>m</a:t>
            </a:r>
            <a:r>
              <a:rPr lang="en-US" sz="2999" strike="noStrike" u="none">
                <a:solidFill>
                  <a:srgbClr val="F4F4F4"/>
                </a:solidFill>
                <a:latin typeface="Clear Sans"/>
                <a:ea typeface="Clear Sans"/>
                <a:cs typeface="Clear Sans"/>
                <a:sym typeface="Clear Sans"/>
              </a:rPr>
              <a:t>i</a:t>
            </a:r>
            <a:r>
              <a:rPr lang="en-US" sz="2999" strike="noStrike" u="none">
                <a:solidFill>
                  <a:srgbClr val="F4F4F4"/>
                </a:solidFill>
                <a:latin typeface="Clear Sans"/>
                <a:ea typeface="Clear Sans"/>
                <a:cs typeface="Clear Sans"/>
                <a:sym typeface="Clear Sans"/>
              </a:rPr>
              <a:t>s</a:t>
            </a:r>
            <a:r>
              <a:rPr lang="en-US" sz="2999" strike="noStrike" u="none">
                <a:solidFill>
                  <a:srgbClr val="F4F4F4"/>
                </a:solidFill>
                <a:latin typeface="Clear Sans"/>
                <a:ea typeface="Clear Sans"/>
                <a:cs typeface="Clear Sans"/>
                <a:sym typeface="Clear Sans"/>
              </a:rPr>
              <a:t>calcu</a:t>
            </a:r>
            <a:r>
              <a:rPr lang="en-US" sz="2999" strike="noStrike" u="none">
                <a:solidFill>
                  <a:srgbClr val="F4F4F4"/>
                </a:solidFill>
                <a:latin typeface="Clear Sans"/>
                <a:ea typeface="Clear Sans"/>
                <a:cs typeface="Clear Sans"/>
                <a:sym typeface="Clear Sans"/>
              </a:rPr>
              <a:t>la</a:t>
            </a:r>
            <a:r>
              <a:rPr lang="en-US" sz="2999" strike="noStrike" u="none">
                <a:solidFill>
                  <a:srgbClr val="F4F4F4"/>
                </a:solidFill>
                <a:latin typeface="Clear Sans"/>
                <a:ea typeface="Clear Sans"/>
                <a:cs typeface="Clear Sans"/>
                <a:sym typeface="Clear Sans"/>
              </a:rPr>
              <a:t>tion</a:t>
            </a:r>
          </a:p>
          <a:p>
            <a:pPr algn="l" marL="647695" indent="-323848" lvl="1">
              <a:lnSpc>
                <a:spcPts val="4199"/>
              </a:lnSpc>
              <a:spcBef>
                <a:spcPct val="0"/>
              </a:spcBef>
              <a:buFont typeface="Arial"/>
              <a:buChar char="•"/>
            </a:pPr>
            <a:r>
              <a:rPr lang="en-US" sz="2999" strike="noStrike" u="none">
                <a:solidFill>
                  <a:srgbClr val="F4F4F4"/>
                </a:solidFill>
                <a:latin typeface="Clear Sans"/>
                <a:ea typeface="Clear Sans"/>
                <a:cs typeface="Clear Sans"/>
                <a:sym typeface="Clear Sans"/>
              </a:rPr>
              <a:t>Ca</a:t>
            </a:r>
            <a:r>
              <a:rPr lang="en-US" sz="2999" strike="noStrike" u="none">
                <a:solidFill>
                  <a:srgbClr val="F4F4F4"/>
                </a:solidFill>
                <a:latin typeface="Clear Sans"/>
                <a:ea typeface="Clear Sans"/>
                <a:cs typeface="Clear Sans"/>
                <a:sym typeface="Clear Sans"/>
              </a:rPr>
              <a:t>us</a:t>
            </a:r>
            <a:r>
              <a:rPr lang="en-US" sz="2999" strike="noStrike" u="none">
                <a:solidFill>
                  <a:srgbClr val="F4F4F4"/>
                </a:solidFill>
                <a:latin typeface="Clear Sans"/>
                <a:ea typeface="Clear Sans"/>
                <a:cs typeface="Clear Sans"/>
                <a:sym typeface="Clear Sans"/>
              </a:rPr>
              <a:t>e</a:t>
            </a:r>
            <a:r>
              <a:rPr lang="en-US" sz="2999" strike="noStrike" u="none">
                <a:solidFill>
                  <a:srgbClr val="F4F4F4"/>
                </a:solidFill>
                <a:latin typeface="Clear Sans"/>
                <a:ea typeface="Clear Sans"/>
                <a:cs typeface="Clear Sans"/>
                <a:sym typeface="Clear Sans"/>
              </a:rPr>
              <a:t>s</a:t>
            </a:r>
            <a:r>
              <a:rPr lang="en-US" sz="2999" strike="noStrike" u="none">
                <a:solidFill>
                  <a:srgbClr val="F4F4F4"/>
                </a:solidFill>
                <a:latin typeface="Clear Sans"/>
                <a:ea typeface="Clear Sans"/>
                <a:cs typeface="Clear Sans"/>
                <a:sym typeface="Clear Sans"/>
              </a:rPr>
              <a:t> </a:t>
            </a:r>
            <a:r>
              <a:rPr lang="en-US" sz="2999" strike="noStrike" u="none">
                <a:solidFill>
                  <a:srgbClr val="F4F4F4"/>
                </a:solidFill>
                <a:latin typeface="Clear Sans"/>
                <a:ea typeface="Clear Sans"/>
                <a:cs typeface="Clear Sans"/>
                <a:sym typeface="Clear Sans"/>
              </a:rPr>
              <a:t>incorr</a:t>
            </a:r>
            <a:r>
              <a:rPr lang="en-US" sz="2999" strike="noStrike" u="none">
                <a:solidFill>
                  <a:srgbClr val="F4F4F4"/>
                </a:solidFill>
                <a:latin typeface="Clear Sans"/>
                <a:ea typeface="Clear Sans"/>
                <a:cs typeface="Clear Sans"/>
                <a:sym typeface="Clear Sans"/>
              </a:rPr>
              <a:t>ect </a:t>
            </a:r>
            <a:r>
              <a:rPr lang="en-US" sz="2999" strike="noStrike" u="none">
                <a:solidFill>
                  <a:srgbClr val="F4F4F4"/>
                </a:solidFill>
                <a:latin typeface="Clear Sans"/>
                <a:ea typeface="Clear Sans"/>
                <a:cs typeface="Clear Sans"/>
                <a:sym typeface="Clear Sans"/>
              </a:rPr>
              <a:t>buff</a:t>
            </a:r>
            <a:r>
              <a:rPr lang="en-US" sz="2999" strike="noStrike" u="none">
                <a:solidFill>
                  <a:srgbClr val="F4F4F4"/>
                </a:solidFill>
                <a:latin typeface="Clear Sans"/>
                <a:ea typeface="Clear Sans"/>
                <a:cs typeface="Clear Sans"/>
                <a:sym typeface="Clear Sans"/>
              </a:rPr>
              <a:t>e</a:t>
            </a:r>
            <a:r>
              <a:rPr lang="en-US" sz="2999" strike="noStrike" u="none">
                <a:solidFill>
                  <a:srgbClr val="F4F4F4"/>
                </a:solidFill>
                <a:latin typeface="Clear Sans"/>
                <a:ea typeface="Clear Sans"/>
                <a:cs typeface="Clear Sans"/>
                <a:sym typeface="Clear Sans"/>
              </a:rPr>
              <a:t>r</a:t>
            </a:r>
            <a:r>
              <a:rPr lang="en-US" sz="2999" strike="noStrike" u="none">
                <a:solidFill>
                  <a:srgbClr val="F4F4F4"/>
                </a:solidFill>
                <a:latin typeface="Clear Sans"/>
                <a:ea typeface="Clear Sans"/>
                <a:cs typeface="Clear Sans"/>
                <a:sym typeface="Clear Sans"/>
              </a:rPr>
              <a:t> s</a:t>
            </a:r>
            <a:r>
              <a:rPr lang="en-US" sz="2999" strike="noStrike" u="none">
                <a:solidFill>
                  <a:srgbClr val="F4F4F4"/>
                </a:solidFill>
                <a:latin typeface="Clear Sans"/>
                <a:ea typeface="Clear Sans"/>
                <a:cs typeface="Clear Sans"/>
                <a:sym typeface="Clear Sans"/>
              </a:rPr>
              <a:t>iz</a:t>
            </a:r>
            <a:r>
              <a:rPr lang="en-US" sz="2999" strike="noStrike" u="none">
                <a:solidFill>
                  <a:srgbClr val="F4F4F4"/>
                </a:solidFill>
                <a:latin typeface="Clear Sans"/>
                <a:ea typeface="Clear Sans"/>
                <a:cs typeface="Clear Sans"/>
                <a:sym typeface="Clear Sans"/>
              </a:rPr>
              <a:t>e</a:t>
            </a:r>
          </a:p>
          <a:p>
            <a:pPr algn="l" marL="0" indent="0" lvl="0">
              <a:lnSpc>
                <a:spcPts val="4199"/>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CF6245"/>
        </a:solidFill>
      </p:bgPr>
    </p:bg>
    <p:spTree>
      <p:nvGrpSpPr>
        <p:cNvPr id="1" name=""/>
        <p:cNvGrpSpPr/>
        <p:nvPr/>
      </p:nvGrpSpPr>
      <p:grpSpPr>
        <a:xfrm>
          <a:off x="0" y="0"/>
          <a:ext cx="0" cy="0"/>
          <a:chOff x="0" y="0"/>
          <a:chExt cx="0" cy="0"/>
        </a:xfrm>
      </p:grpSpPr>
      <p:sp>
        <p:nvSpPr>
          <p:cNvPr name="TextBox 2" id="2"/>
          <p:cNvSpPr txBox="true"/>
          <p:nvPr/>
        </p:nvSpPr>
        <p:spPr>
          <a:xfrm rot="0">
            <a:off x="735793" y="3533748"/>
            <a:ext cx="4007657" cy="1076325"/>
          </a:xfrm>
          <a:prstGeom prst="rect">
            <a:avLst/>
          </a:prstGeom>
        </p:spPr>
        <p:txBody>
          <a:bodyPr anchor="t" rtlCol="false" tIns="0" lIns="0" bIns="0" rIns="0">
            <a:spAutoFit/>
          </a:bodyPr>
          <a:lstStyle/>
          <a:p>
            <a:pPr algn="l" marL="0" indent="0" lvl="0">
              <a:lnSpc>
                <a:spcPts val="4200"/>
              </a:lnSpc>
              <a:spcBef>
                <a:spcPct val="0"/>
              </a:spcBef>
            </a:pPr>
            <a:r>
              <a:rPr lang="en-US" b="true" sz="3500">
                <a:solidFill>
                  <a:srgbClr val="F4F4F4"/>
                </a:solidFill>
                <a:latin typeface="Clear Sans Bold"/>
                <a:ea typeface="Clear Sans Bold"/>
                <a:cs typeface="Clear Sans Bold"/>
                <a:sym typeface="Clear Sans Bold"/>
              </a:rPr>
              <a:t>STEP 4: HEAP SPRAYING</a:t>
            </a:r>
          </a:p>
        </p:txBody>
      </p:sp>
      <p:sp>
        <p:nvSpPr>
          <p:cNvPr name="TextBox 3" id="3"/>
          <p:cNvSpPr txBox="true"/>
          <p:nvPr/>
        </p:nvSpPr>
        <p:spPr>
          <a:xfrm rot="0">
            <a:off x="6488893" y="3533748"/>
            <a:ext cx="4007657" cy="1076325"/>
          </a:xfrm>
          <a:prstGeom prst="rect">
            <a:avLst/>
          </a:prstGeom>
        </p:spPr>
        <p:txBody>
          <a:bodyPr anchor="t" rtlCol="false" tIns="0" lIns="0" bIns="0" rIns="0">
            <a:spAutoFit/>
          </a:bodyPr>
          <a:lstStyle/>
          <a:p>
            <a:pPr algn="l" marL="0" indent="0" lvl="0">
              <a:lnSpc>
                <a:spcPts val="4200"/>
              </a:lnSpc>
              <a:spcBef>
                <a:spcPct val="0"/>
              </a:spcBef>
            </a:pPr>
            <a:r>
              <a:rPr lang="en-US" b="true" sz="3500">
                <a:solidFill>
                  <a:srgbClr val="F4F4F4"/>
                </a:solidFill>
                <a:latin typeface="Clear Sans Bold"/>
                <a:ea typeface="Clear Sans Bold"/>
                <a:cs typeface="Clear Sans Bold"/>
                <a:sym typeface="Clear Sans Bold"/>
              </a:rPr>
              <a:t>STEP 5:  MEMORY GROOMING</a:t>
            </a:r>
          </a:p>
        </p:txBody>
      </p:sp>
      <p:sp>
        <p:nvSpPr>
          <p:cNvPr name="Freeform 4" id="4"/>
          <p:cNvSpPr/>
          <p:nvPr/>
        </p:nvSpPr>
        <p:spPr>
          <a:xfrm flipH="false" flipV="false" rot="-6723923">
            <a:off x="13666568" y="-2297777"/>
            <a:ext cx="6274865" cy="4114800"/>
          </a:xfrm>
          <a:custGeom>
            <a:avLst/>
            <a:gdLst/>
            <a:ahLst/>
            <a:cxnLst/>
            <a:rect r="r" b="b" t="t" l="l"/>
            <a:pathLst>
              <a:path h="4114800" w="6274865">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5" id="5"/>
          <p:cNvSpPr txBox="true"/>
          <p:nvPr/>
        </p:nvSpPr>
        <p:spPr>
          <a:xfrm rot="0">
            <a:off x="337471" y="5981700"/>
            <a:ext cx="5753100" cy="4248150"/>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sz="3000">
                <a:solidFill>
                  <a:srgbClr val="F4F4F4"/>
                </a:solidFill>
                <a:latin typeface="Clear Sans"/>
                <a:ea typeface="Clear Sans"/>
                <a:cs typeface="Clear Sans"/>
                <a:sym typeface="Clear Sans"/>
              </a:rPr>
              <a:t>Fill heap with srvnet structures and doublepulsar shellcode</a:t>
            </a:r>
          </a:p>
          <a:p>
            <a:pPr algn="l" marL="647700" indent="-323850" lvl="1">
              <a:lnSpc>
                <a:spcPts val="4200"/>
              </a:lnSpc>
              <a:spcBef>
                <a:spcPct val="0"/>
              </a:spcBef>
              <a:buFont typeface="Arial"/>
              <a:buChar char="•"/>
            </a:pPr>
            <a:r>
              <a:rPr lang="en-US" sz="3000" strike="noStrike" u="none">
                <a:solidFill>
                  <a:srgbClr val="F4F4F4"/>
                </a:solidFill>
                <a:latin typeface="Clear Sans"/>
                <a:ea typeface="Clear Sans"/>
                <a:cs typeface="Clear Sans"/>
                <a:sym typeface="Clear Sans"/>
              </a:rPr>
              <a:t>S</a:t>
            </a:r>
            <a:r>
              <a:rPr lang="en-US" sz="3000" strike="noStrike" u="none">
                <a:solidFill>
                  <a:srgbClr val="F4F4F4"/>
                </a:solidFill>
                <a:latin typeface="Clear Sans"/>
                <a:ea typeface="Clear Sans"/>
                <a:cs typeface="Clear Sans"/>
                <a:sym typeface="Clear Sans"/>
              </a:rPr>
              <a:t>rvnet structure contains handler function triggering disconnection.</a:t>
            </a:r>
          </a:p>
          <a:p>
            <a:pPr algn="l">
              <a:lnSpc>
                <a:spcPts val="4200"/>
              </a:lnSpc>
              <a:spcBef>
                <a:spcPct val="0"/>
              </a:spcBef>
            </a:pPr>
          </a:p>
          <a:p>
            <a:pPr algn="l" marL="0" indent="0" lvl="0">
              <a:lnSpc>
                <a:spcPts val="4200"/>
              </a:lnSpc>
              <a:spcBef>
                <a:spcPct val="0"/>
              </a:spcBef>
            </a:pPr>
          </a:p>
        </p:txBody>
      </p:sp>
      <p:sp>
        <p:nvSpPr>
          <p:cNvPr name="TextBox 6" id="6"/>
          <p:cNvSpPr txBox="true"/>
          <p:nvPr/>
        </p:nvSpPr>
        <p:spPr>
          <a:xfrm rot="0">
            <a:off x="6090571" y="5981700"/>
            <a:ext cx="5753100" cy="4248150"/>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sz="3000">
                <a:solidFill>
                  <a:srgbClr val="F4F4F4"/>
                </a:solidFill>
                <a:latin typeface="Clear Sans"/>
                <a:ea typeface="Clear Sans"/>
                <a:cs typeface="Clear Sans"/>
                <a:sym typeface="Clear Sans"/>
              </a:rPr>
              <a:t>Non-paged pool allocation flaw to create a chunk</a:t>
            </a:r>
            <a:r>
              <a:rPr lang="en-US" sz="3000" strike="noStrike" u="none">
                <a:solidFill>
                  <a:srgbClr val="F4F4F4"/>
                </a:solidFill>
                <a:latin typeface="Clear Sans"/>
                <a:ea typeface="Clear Sans"/>
                <a:cs typeface="Clear Sans"/>
                <a:sym typeface="Clear Sans"/>
              </a:rPr>
              <a:t>.</a:t>
            </a:r>
          </a:p>
          <a:p>
            <a:pPr algn="l" marL="647700" indent="-323850" lvl="1">
              <a:lnSpc>
                <a:spcPts val="4200"/>
              </a:lnSpc>
              <a:spcBef>
                <a:spcPct val="0"/>
              </a:spcBef>
              <a:buFont typeface="Arial"/>
              <a:buChar char="•"/>
            </a:pPr>
            <a:r>
              <a:rPr lang="en-US" sz="3000" strike="noStrike" u="none">
                <a:solidFill>
                  <a:srgbClr val="F4F4F4"/>
                </a:solidFill>
                <a:latin typeface="Clear Sans"/>
                <a:ea typeface="Clear Sans"/>
                <a:cs typeface="Clear Sans"/>
                <a:sym typeface="Clear Sans"/>
              </a:rPr>
              <a:t>F</a:t>
            </a:r>
            <a:r>
              <a:rPr lang="en-US" sz="3000" strike="noStrike" u="none">
                <a:solidFill>
                  <a:srgbClr val="F4F4F4"/>
                </a:solidFill>
                <a:latin typeface="Clear Sans"/>
                <a:ea typeface="Clear Sans"/>
                <a:cs typeface="Clear Sans"/>
                <a:sym typeface="Clear Sans"/>
              </a:rPr>
              <a:t>ree it at a controlled time.</a:t>
            </a:r>
          </a:p>
          <a:p>
            <a:pPr algn="l" marL="647700" indent="-323850" lvl="1">
              <a:lnSpc>
                <a:spcPts val="4200"/>
              </a:lnSpc>
              <a:spcBef>
                <a:spcPct val="0"/>
              </a:spcBef>
              <a:buFont typeface="Arial"/>
              <a:buChar char="•"/>
            </a:pPr>
            <a:r>
              <a:rPr lang="en-US" sz="3000" strike="noStrike" u="none">
                <a:solidFill>
                  <a:srgbClr val="F4F4F4"/>
                </a:solidFill>
                <a:latin typeface="Clear Sans"/>
                <a:ea typeface="Clear Sans"/>
                <a:cs typeface="Clear Sans"/>
                <a:sym typeface="Clear Sans"/>
              </a:rPr>
              <a:t>Incoming FEA data reuses freed memory location.</a:t>
            </a:r>
          </a:p>
          <a:p>
            <a:pPr algn="l" marL="647700" indent="-323850" lvl="1">
              <a:lnSpc>
                <a:spcPts val="4200"/>
              </a:lnSpc>
              <a:spcBef>
                <a:spcPct val="0"/>
              </a:spcBef>
              <a:buFont typeface="Arial"/>
              <a:buChar char="•"/>
            </a:pPr>
            <a:r>
              <a:rPr lang="en-US" sz="3000" strike="noStrike" u="none">
                <a:solidFill>
                  <a:srgbClr val="F4F4F4"/>
                </a:solidFill>
                <a:latin typeface="Clear Sans"/>
                <a:ea typeface="Clear Sans"/>
                <a:cs typeface="Clear Sans"/>
                <a:sym typeface="Clear Sans"/>
              </a:rPr>
              <a:t>Increa</a:t>
            </a:r>
            <a:r>
              <a:rPr lang="en-US" sz="3000" strike="noStrike" u="none">
                <a:solidFill>
                  <a:srgbClr val="F4F4F4"/>
                </a:solidFill>
                <a:latin typeface="Clear Sans"/>
                <a:ea typeface="Clear Sans"/>
                <a:cs typeface="Clear Sans"/>
                <a:sym typeface="Clear Sans"/>
              </a:rPr>
              <a:t>se chance of adjacent srvnet for reliable overflow.</a:t>
            </a:r>
          </a:p>
          <a:p>
            <a:pPr algn="l" marL="0" indent="0" lvl="0">
              <a:lnSpc>
                <a:spcPts val="4200"/>
              </a:lnSpc>
              <a:spcBef>
                <a:spcPct val="0"/>
              </a:spcBef>
            </a:pPr>
          </a:p>
        </p:txBody>
      </p:sp>
      <p:sp>
        <p:nvSpPr>
          <p:cNvPr name="TextBox 7" id="7"/>
          <p:cNvSpPr txBox="true"/>
          <p:nvPr/>
        </p:nvSpPr>
        <p:spPr>
          <a:xfrm rot="0">
            <a:off x="666750" y="1562100"/>
            <a:ext cx="15516225" cy="1057275"/>
          </a:xfrm>
          <a:prstGeom prst="rect">
            <a:avLst/>
          </a:prstGeom>
        </p:spPr>
        <p:txBody>
          <a:bodyPr anchor="t" rtlCol="false" tIns="0" lIns="0" bIns="0" rIns="0">
            <a:spAutoFit/>
          </a:bodyPr>
          <a:lstStyle/>
          <a:p>
            <a:pPr algn="l" marL="0" indent="0" lvl="0">
              <a:lnSpc>
                <a:spcPts val="8399"/>
              </a:lnSpc>
              <a:spcBef>
                <a:spcPct val="0"/>
              </a:spcBef>
            </a:pPr>
            <a:r>
              <a:rPr lang="en-US" sz="6999" spc="-139">
                <a:solidFill>
                  <a:srgbClr val="F4F4F4"/>
                </a:solidFill>
                <a:latin typeface="Tenor Sans"/>
                <a:ea typeface="Tenor Sans"/>
                <a:cs typeface="Tenor Sans"/>
                <a:sym typeface="Tenor Sans"/>
              </a:rPr>
              <a:t>Technical Steps </a:t>
            </a:r>
          </a:p>
        </p:txBody>
      </p:sp>
      <p:sp>
        <p:nvSpPr>
          <p:cNvPr name="AutoShape 8" id="8"/>
          <p:cNvSpPr/>
          <p:nvPr/>
        </p:nvSpPr>
        <p:spPr>
          <a:xfrm flipV="true">
            <a:off x="750081" y="5143500"/>
            <a:ext cx="17850263" cy="0"/>
          </a:xfrm>
          <a:prstGeom prst="line">
            <a:avLst/>
          </a:prstGeom>
          <a:ln cap="flat" w="19050">
            <a:solidFill>
              <a:srgbClr val="F4F4F4"/>
            </a:solidFill>
            <a:prstDash val="solid"/>
            <a:headEnd type="none" len="sm" w="sm"/>
            <a:tailEnd type="none" len="sm" w="sm"/>
          </a:ln>
        </p:spPr>
      </p:sp>
      <p:grpSp>
        <p:nvGrpSpPr>
          <p:cNvPr name="Group 9" id="9"/>
          <p:cNvGrpSpPr/>
          <p:nvPr/>
        </p:nvGrpSpPr>
        <p:grpSpPr>
          <a:xfrm rot="0">
            <a:off x="669118" y="5062538"/>
            <a:ext cx="161925" cy="161925"/>
            <a:chOff x="0" y="0"/>
            <a:chExt cx="6350000" cy="6350000"/>
          </a:xfrm>
        </p:grpSpPr>
        <p:sp>
          <p:nvSpPr>
            <p:cNvPr name="Freeform 10" id="1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grpSp>
        <p:nvGrpSpPr>
          <p:cNvPr name="Group 11" id="11"/>
          <p:cNvGrpSpPr/>
          <p:nvPr/>
        </p:nvGrpSpPr>
        <p:grpSpPr>
          <a:xfrm rot="0">
            <a:off x="6422218" y="5062538"/>
            <a:ext cx="161925" cy="161925"/>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grpSp>
        <p:nvGrpSpPr>
          <p:cNvPr name="Group 13" id="13"/>
          <p:cNvGrpSpPr/>
          <p:nvPr/>
        </p:nvGrpSpPr>
        <p:grpSpPr>
          <a:xfrm rot="0">
            <a:off x="12175318" y="5062538"/>
            <a:ext cx="161925" cy="161925"/>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4F4F4"/>
            </a:solidFill>
          </p:spPr>
        </p:sp>
      </p:grpSp>
      <p:sp>
        <p:nvSpPr>
          <p:cNvPr name="TextBox 15" id="15"/>
          <p:cNvSpPr txBox="true"/>
          <p:nvPr/>
        </p:nvSpPr>
        <p:spPr>
          <a:xfrm rot="0">
            <a:off x="12241993" y="3000348"/>
            <a:ext cx="4007657" cy="1609725"/>
          </a:xfrm>
          <a:prstGeom prst="rect">
            <a:avLst/>
          </a:prstGeom>
        </p:spPr>
        <p:txBody>
          <a:bodyPr anchor="t" rtlCol="false" tIns="0" lIns="0" bIns="0" rIns="0">
            <a:spAutoFit/>
          </a:bodyPr>
          <a:lstStyle/>
          <a:p>
            <a:pPr algn="l" marL="0" indent="0" lvl="0">
              <a:lnSpc>
                <a:spcPts val="4200"/>
              </a:lnSpc>
              <a:spcBef>
                <a:spcPct val="0"/>
              </a:spcBef>
            </a:pPr>
            <a:r>
              <a:rPr lang="en-US" b="true" sz="3500">
                <a:solidFill>
                  <a:srgbClr val="F4F4F4"/>
                </a:solidFill>
                <a:latin typeface="Clear Sans Bold"/>
                <a:ea typeface="Clear Sans Bold"/>
                <a:cs typeface="Clear Sans Bold"/>
                <a:sym typeface="Clear Sans Bold"/>
              </a:rPr>
              <a:t>STEP 6: TRIGGERING TH</a:t>
            </a:r>
            <a:r>
              <a:rPr lang="en-US" b="true" sz="3500" strike="noStrike" u="none">
                <a:solidFill>
                  <a:srgbClr val="F4F4F4"/>
                </a:solidFill>
                <a:latin typeface="Clear Sans Bold"/>
                <a:ea typeface="Clear Sans Bold"/>
                <a:cs typeface="Clear Sans Bold"/>
                <a:sym typeface="Clear Sans Bold"/>
              </a:rPr>
              <a:t>E </a:t>
            </a:r>
            <a:r>
              <a:rPr lang="en-US" b="true" sz="3500" strike="noStrike" u="none">
                <a:solidFill>
                  <a:srgbClr val="F4F4F4"/>
                </a:solidFill>
                <a:latin typeface="Clear Sans Bold"/>
                <a:ea typeface="Clear Sans Bold"/>
                <a:cs typeface="Clear Sans Bold"/>
                <a:sym typeface="Clear Sans Bold"/>
              </a:rPr>
              <a:t>OV</a:t>
            </a:r>
            <a:r>
              <a:rPr lang="en-US" b="true" sz="3500" strike="noStrike" u="none">
                <a:solidFill>
                  <a:srgbClr val="F4F4F4"/>
                </a:solidFill>
                <a:latin typeface="Clear Sans Bold"/>
                <a:ea typeface="Clear Sans Bold"/>
                <a:cs typeface="Clear Sans Bold"/>
                <a:sym typeface="Clear Sans Bold"/>
              </a:rPr>
              <a:t>E</a:t>
            </a:r>
            <a:r>
              <a:rPr lang="en-US" b="true" sz="3500" strike="noStrike" u="none">
                <a:solidFill>
                  <a:srgbClr val="F4F4F4"/>
                </a:solidFill>
                <a:latin typeface="Clear Sans Bold"/>
                <a:ea typeface="Clear Sans Bold"/>
                <a:cs typeface="Clear Sans Bold"/>
                <a:sym typeface="Clear Sans Bold"/>
              </a:rPr>
              <a:t>RFLOW</a:t>
            </a:r>
          </a:p>
        </p:txBody>
      </p:sp>
      <p:sp>
        <p:nvSpPr>
          <p:cNvPr name="TextBox 16" id="16"/>
          <p:cNvSpPr txBox="true"/>
          <p:nvPr/>
        </p:nvSpPr>
        <p:spPr>
          <a:xfrm rot="0">
            <a:off x="11834146" y="5981700"/>
            <a:ext cx="5468894" cy="3714750"/>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sz="3000" strike="noStrike" u="none">
                <a:solidFill>
                  <a:srgbClr val="F4F4F4"/>
                </a:solidFill>
                <a:latin typeface="Clear Sans"/>
                <a:ea typeface="Clear Sans"/>
                <a:cs typeface="Clear Sans"/>
                <a:sym typeface="Clear Sans"/>
              </a:rPr>
              <a:t>F</a:t>
            </a:r>
            <a:r>
              <a:rPr lang="en-US" sz="3000" strike="noStrike" u="none">
                <a:solidFill>
                  <a:srgbClr val="F4F4F4"/>
                </a:solidFill>
                <a:latin typeface="Clear Sans"/>
                <a:ea typeface="Clear Sans"/>
                <a:cs typeface="Clear Sans"/>
                <a:sym typeface="Clear Sans"/>
              </a:rPr>
              <a:t>inal</a:t>
            </a:r>
            <a:r>
              <a:rPr lang="en-US" sz="3000" strike="noStrike" u="none">
                <a:solidFill>
                  <a:srgbClr val="F4F4F4"/>
                </a:solidFill>
                <a:latin typeface="Clear Sans"/>
                <a:ea typeface="Clear Sans"/>
                <a:cs typeface="Clear Sans"/>
                <a:sym typeface="Clear Sans"/>
              </a:rPr>
              <a:t> FEA pac</a:t>
            </a:r>
            <a:r>
              <a:rPr lang="en-US" sz="3000" strike="noStrike" u="none">
                <a:solidFill>
                  <a:srgbClr val="F4F4F4"/>
                </a:solidFill>
                <a:latin typeface="Clear Sans"/>
                <a:ea typeface="Clear Sans"/>
                <a:cs typeface="Clear Sans"/>
                <a:sym typeface="Clear Sans"/>
              </a:rPr>
              <a:t>k</a:t>
            </a:r>
            <a:r>
              <a:rPr lang="en-US" sz="3000" strike="noStrike" u="none">
                <a:solidFill>
                  <a:srgbClr val="F4F4F4"/>
                </a:solidFill>
                <a:latin typeface="Clear Sans"/>
                <a:ea typeface="Clear Sans"/>
                <a:cs typeface="Clear Sans"/>
                <a:sym typeface="Clear Sans"/>
              </a:rPr>
              <a:t>et s</a:t>
            </a:r>
            <a:r>
              <a:rPr lang="en-US" sz="3000" strike="noStrike" u="none">
                <a:solidFill>
                  <a:srgbClr val="F4F4F4"/>
                </a:solidFill>
                <a:latin typeface="Clear Sans"/>
                <a:ea typeface="Clear Sans"/>
                <a:cs typeface="Clear Sans"/>
                <a:sym typeface="Clear Sans"/>
              </a:rPr>
              <a:t>e</a:t>
            </a:r>
            <a:r>
              <a:rPr lang="en-US" sz="3000" strike="noStrike" u="none">
                <a:solidFill>
                  <a:srgbClr val="F4F4F4"/>
                </a:solidFill>
                <a:latin typeface="Clear Sans"/>
                <a:ea typeface="Clear Sans"/>
                <a:cs typeface="Clear Sans"/>
                <a:sym typeface="Clear Sans"/>
              </a:rPr>
              <a:t>nt</a:t>
            </a:r>
          </a:p>
          <a:p>
            <a:pPr algn="l" marL="647700" indent="-323850" lvl="1">
              <a:lnSpc>
                <a:spcPts val="4200"/>
              </a:lnSpc>
              <a:spcBef>
                <a:spcPct val="0"/>
              </a:spcBef>
              <a:buFont typeface="Arial"/>
              <a:buChar char="•"/>
            </a:pPr>
            <a:r>
              <a:rPr lang="en-US" sz="3000" strike="noStrike" u="none">
                <a:solidFill>
                  <a:srgbClr val="F4F4F4"/>
                </a:solidFill>
                <a:latin typeface="Clear Sans"/>
                <a:ea typeface="Clear Sans"/>
                <a:cs typeface="Clear Sans"/>
                <a:sym typeface="Clear Sans"/>
              </a:rPr>
              <a:t>Incorrect calculation the data size</a:t>
            </a:r>
          </a:p>
          <a:p>
            <a:pPr algn="l" marL="647700" indent="-323850" lvl="1">
              <a:lnSpc>
                <a:spcPts val="4200"/>
              </a:lnSpc>
              <a:spcBef>
                <a:spcPct val="0"/>
              </a:spcBef>
              <a:buFont typeface="Arial"/>
              <a:buChar char="•"/>
            </a:pPr>
            <a:r>
              <a:rPr lang="en-US" sz="3000" strike="noStrike" u="none">
                <a:solidFill>
                  <a:srgbClr val="F4F4F4"/>
                </a:solidFill>
                <a:latin typeface="Clear Sans"/>
                <a:ea typeface="Clear Sans"/>
                <a:cs typeface="Clear Sans"/>
                <a:sym typeface="Clear Sans"/>
              </a:rPr>
              <a:t>Ov</a:t>
            </a:r>
            <a:r>
              <a:rPr lang="en-US" sz="3000" strike="noStrike" u="none">
                <a:solidFill>
                  <a:srgbClr val="F4F4F4"/>
                </a:solidFill>
                <a:latin typeface="Clear Sans"/>
                <a:ea typeface="Clear Sans"/>
                <a:cs typeface="Clear Sans"/>
                <a:sym typeface="Clear Sans"/>
              </a:rPr>
              <a:t>erflow occurs</a:t>
            </a:r>
          </a:p>
          <a:p>
            <a:pPr algn="l" marL="647700" indent="-323850" lvl="1">
              <a:lnSpc>
                <a:spcPts val="4200"/>
              </a:lnSpc>
              <a:spcBef>
                <a:spcPct val="0"/>
              </a:spcBef>
              <a:buFont typeface="Arial"/>
              <a:buChar char="•"/>
            </a:pPr>
            <a:r>
              <a:rPr lang="en-US" sz="3000" strike="noStrike" u="none">
                <a:solidFill>
                  <a:srgbClr val="F4F4F4"/>
                </a:solidFill>
                <a:latin typeface="Clear Sans"/>
                <a:ea typeface="Clear Sans"/>
                <a:cs typeface="Clear Sans"/>
                <a:sym typeface="Clear Sans"/>
              </a:rPr>
              <a:t>Overwrite return address of the handler function of on the srvnet structs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666750" y="1562100"/>
            <a:ext cx="8324850" cy="1055948"/>
          </a:xfrm>
          <a:prstGeom prst="rect">
            <a:avLst/>
          </a:prstGeom>
        </p:spPr>
        <p:txBody>
          <a:bodyPr anchor="t" rtlCol="false" tIns="0" lIns="0" bIns="0" rIns="0">
            <a:spAutoFit/>
          </a:bodyPr>
          <a:lstStyle/>
          <a:p>
            <a:pPr algn="l" marL="0" indent="0" lvl="0">
              <a:lnSpc>
                <a:spcPts val="8399"/>
              </a:lnSpc>
            </a:pPr>
            <a:r>
              <a:rPr lang="en-US" sz="6999" spc="-139">
                <a:solidFill>
                  <a:srgbClr val="662E20"/>
                </a:solidFill>
                <a:latin typeface="Tenor Sans"/>
                <a:ea typeface="Tenor Sans"/>
                <a:cs typeface="Tenor Sans"/>
                <a:sym typeface="Tenor Sans"/>
              </a:rPr>
              <a:t>Technical Steps</a:t>
            </a:r>
            <a:r>
              <a:rPr lang="en-US" sz="6999" spc="-139">
                <a:solidFill>
                  <a:srgbClr val="662E20"/>
                </a:solidFill>
                <a:latin typeface="Tenor Sans"/>
                <a:ea typeface="Tenor Sans"/>
                <a:cs typeface="Tenor Sans"/>
                <a:sym typeface="Tenor Sans"/>
              </a:rPr>
              <a:t> </a:t>
            </a:r>
          </a:p>
        </p:txBody>
      </p:sp>
      <p:grpSp>
        <p:nvGrpSpPr>
          <p:cNvPr name="Group 3" id="3"/>
          <p:cNvGrpSpPr/>
          <p:nvPr/>
        </p:nvGrpSpPr>
        <p:grpSpPr>
          <a:xfrm rot="0">
            <a:off x="10372725" y="4230239"/>
            <a:ext cx="6886575" cy="3589786"/>
            <a:chOff x="0" y="0"/>
            <a:chExt cx="9182100" cy="4786382"/>
          </a:xfrm>
        </p:grpSpPr>
        <p:sp>
          <p:nvSpPr>
            <p:cNvPr name="TextBox 4" id="4"/>
            <p:cNvSpPr txBox="true"/>
            <p:nvPr/>
          </p:nvSpPr>
          <p:spPr>
            <a:xfrm rot="0">
              <a:off x="0" y="-76200"/>
              <a:ext cx="9182100" cy="1608667"/>
            </a:xfrm>
            <a:prstGeom prst="rect">
              <a:avLst/>
            </a:prstGeom>
          </p:spPr>
          <p:txBody>
            <a:bodyPr anchor="t" rtlCol="false" tIns="0" lIns="0" bIns="0" rIns="0">
              <a:spAutoFit/>
            </a:bodyPr>
            <a:lstStyle/>
            <a:p>
              <a:pPr algn="l" marL="0" indent="0" lvl="0">
                <a:lnSpc>
                  <a:spcPts val="4900"/>
                </a:lnSpc>
                <a:spcBef>
                  <a:spcPct val="0"/>
                </a:spcBef>
              </a:pPr>
              <a:r>
                <a:rPr lang="en-US" b="true" sz="3500">
                  <a:solidFill>
                    <a:srgbClr val="662E20"/>
                  </a:solidFill>
                  <a:latin typeface="Clear Sans Medium"/>
                  <a:ea typeface="Clear Sans Medium"/>
                  <a:cs typeface="Clear Sans Medium"/>
                  <a:sym typeface="Clear Sans Medium"/>
                </a:rPr>
                <a:t>S</a:t>
              </a:r>
              <a:r>
                <a:rPr lang="en-US" b="true" sz="3500">
                  <a:solidFill>
                    <a:srgbClr val="662E20"/>
                  </a:solidFill>
                  <a:latin typeface="Clear Sans Medium"/>
                  <a:ea typeface="Clear Sans Medium"/>
                  <a:cs typeface="Clear Sans Medium"/>
                  <a:sym typeface="Clear Sans Medium"/>
                </a:rPr>
                <a:t>TEP 7: EXECUTING OVERWRITTEN POINTER</a:t>
              </a:r>
            </a:p>
          </p:txBody>
        </p:sp>
        <p:sp>
          <p:nvSpPr>
            <p:cNvPr name="TextBox 5" id="5"/>
            <p:cNvSpPr txBox="true"/>
            <p:nvPr/>
          </p:nvSpPr>
          <p:spPr>
            <a:xfrm rot="0">
              <a:off x="0" y="2186692"/>
              <a:ext cx="9182100" cy="2599690"/>
            </a:xfrm>
            <a:prstGeom prst="rect">
              <a:avLst/>
            </a:prstGeom>
          </p:spPr>
          <p:txBody>
            <a:bodyPr anchor="t" rtlCol="false" tIns="0" lIns="0" bIns="0" rIns="0">
              <a:spAutoFit/>
            </a:bodyPr>
            <a:lstStyle/>
            <a:p>
              <a:pPr algn="l" marL="647700" indent="-323850" lvl="1">
                <a:lnSpc>
                  <a:spcPts val="4200"/>
                </a:lnSpc>
                <a:spcBef>
                  <a:spcPct val="0"/>
                </a:spcBef>
                <a:buFont typeface="Arial"/>
                <a:buChar char="•"/>
              </a:pPr>
              <a:r>
                <a:rPr lang="en-US" sz="3000">
                  <a:solidFill>
                    <a:srgbClr val="662E20"/>
                  </a:solidFill>
                  <a:latin typeface="Clear Sans"/>
                  <a:ea typeface="Clear Sans"/>
                  <a:cs typeface="Clear Sans"/>
                  <a:sym typeface="Clear Sans"/>
                </a:rPr>
                <a:t>All the co</a:t>
              </a:r>
              <a:r>
                <a:rPr lang="en-US" sz="3000">
                  <a:solidFill>
                    <a:srgbClr val="662E20"/>
                  </a:solidFill>
                  <a:latin typeface="Clear Sans"/>
                  <a:ea typeface="Clear Sans"/>
                  <a:cs typeface="Clear Sans"/>
                  <a:sym typeface="Clear Sans"/>
                </a:rPr>
                <a:t>nnections are closed</a:t>
              </a:r>
            </a:p>
            <a:p>
              <a:pPr algn="l" marL="647700" indent="-323850" lvl="1">
                <a:lnSpc>
                  <a:spcPts val="4200"/>
                </a:lnSpc>
                <a:spcBef>
                  <a:spcPct val="0"/>
                </a:spcBef>
                <a:buFont typeface="Arial"/>
                <a:buChar char="•"/>
              </a:pPr>
              <a:r>
                <a:rPr lang="en-US" sz="3000">
                  <a:solidFill>
                    <a:srgbClr val="662E20"/>
                  </a:solidFill>
                  <a:latin typeface="Clear Sans"/>
                  <a:ea typeface="Clear Sans"/>
                  <a:cs typeface="Clear Sans"/>
                  <a:sym typeface="Clear Sans"/>
                </a:rPr>
                <a:t>C</a:t>
              </a:r>
              <a:r>
                <a:rPr lang="en-US" sz="3000">
                  <a:solidFill>
                    <a:srgbClr val="662E20"/>
                  </a:solidFill>
                  <a:latin typeface="Clear Sans"/>
                  <a:ea typeface="Clear Sans"/>
                  <a:cs typeface="Clear Sans"/>
                  <a:sym typeface="Clear Sans"/>
                </a:rPr>
                <a:t>orrupted handler r</a:t>
              </a:r>
              <a:r>
                <a:rPr lang="en-US" sz="3000">
                  <a:solidFill>
                    <a:srgbClr val="662E20"/>
                  </a:solidFill>
                  <a:latin typeface="Clear Sans"/>
                  <a:ea typeface="Clear Sans"/>
                  <a:cs typeface="Clear Sans"/>
                  <a:sym typeface="Clear Sans"/>
                </a:rPr>
                <a:t>edirects execution to the s</a:t>
              </a:r>
              <a:r>
                <a:rPr lang="en-US" sz="3000">
                  <a:solidFill>
                    <a:srgbClr val="662E20"/>
                  </a:solidFill>
                  <a:latin typeface="Clear Sans"/>
                  <a:ea typeface="Clear Sans"/>
                  <a:cs typeface="Clear Sans"/>
                  <a:sym typeface="Clear Sans"/>
                </a:rPr>
                <a:t>h</a:t>
              </a:r>
              <a:r>
                <a:rPr lang="en-US" sz="3000">
                  <a:solidFill>
                    <a:srgbClr val="662E20"/>
                  </a:solidFill>
                  <a:latin typeface="Clear Sans"/>
                  <a:ea typeface="Clear Sans"/>
                  <a:cs typeface="Clear Sans"/>
                  <a:sym typeface="Clear Sans"/>
                </a:rPr>
                <a:t>e</a:t>
              </a:r>
              <a:r>
                <a:rPr lang="en-US" sz="3000">
                  <a:solidFill>
                    <a:srgbClr val="662E20"/>
                  </a:solidFill>
                  <a:latin typeface="Clear Sans"/>
                  <a:ea typeface="Clear Sans"/>
                  <a:cs typeface="Clear Sans"/>
                  <a:sym typeface="Clear Sans"/>
                </a:rPr>
                <a:t>llcode.</a:t>
              </a:r>
            </a:p>
            <a:p>
              <a:pPr algn="l" marL="0" indent="0" lvl="0">
                <a:lnSpc>
                  <a:spcPts val="2940"/>
                </a:lnSpc>
                <a:spcBef>
                  <a:spcPct val="0"/>
                </a:spcBef>
              </a:pPr>
            </a:p>
          </p:txBody>
        </p:sp>
      </p:grpSp>
      <p:sp>
        <p:nvSpPr>
          <p:cNvPr name="Freeform 6" id="6"/>
          <p:cNvSpPr/>
          <p:nvPr/>
        </p:nvSpPr>
        <p:spPr>
          <a:xfrm flipH="false" flipV="false" rot="0">
            <a:off x="-3137432" y="7200900"/>
            <a:ext cx="6274865" cy="4114800"/>
          </a:xfrm>
          <a:custGeom>
            <a:avLst/>
            <a:gdLst/>
            <a:ahLst/>
            <a:cxnLst/>
            <a:rect r="r" b="b" t="t" l="l"/>
            <a:pathLst>
              <a:path h="4114800" w="6274865">
                <a:moveTo>
                  <a:pt x="0" y="0"/>
                </a:moveTo>
                <a:lnTo>
                  <a:pt x="6274864" y="0"/>
                </a:lnTo>
                <a:lnTo>
                  <a:pt x="627486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CF6245"/>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3"/>
              <a:stretch>
                <a:fillRect l="0" t="-58" r="0" b="-58"/>
              </a:stretch>
            </a:blipFill>
          </p:spPr>
        </p:sp>
      </p:grpSp>
      <p:pic>
        <p:nvPicPr>
          <p:cNvPr name="Picture 4" id="4">
            <a:hlinkClick action="ppaction://media"/>
          </p:cNvPr>
          <p:cNvPicPr>
            <a:picLocks noChangeAspect="true"/>
          </p:cNvPicPr>
          <p:nvPr>
            <a:videoFile r:link="rId5"/>
            <p:extLst>
              <p:ext uri="{DAA4B4D4-6D71-4841-9C94-3DE7FCFB9230}">
                <p14:media xmlns:p14="http://schemas.microsoft.com/office/powerpoint/2010/main" r:embed="rId6">
                  <p14:trim st="17000.0000" end="11026.6670"/>
                </p14:media>
              </p:ext>
            </p:extLst>
          </p:nvPr>
        </p:nvPicPr>
        <p:blipFill>
          <a:blip r:embed="rId4"/>
          <a:srcRect l="0" t="0" r="0" b="0"/>
          <a:stretch>
            <a:fillRect/>
          </a:stretch>
        </p:blipFill>
        <p:spPr>
          <a:xfrm flipH="false" flipV="false" rot="0">
            <a:off x="295257" y="1837109"/>
            <a:ext cx="11756057" cy="6612782"/>
          </a:xfrm>
          <a:prstGeom prst="rect">
            <a:avLst/>
          </a:prstGeom>
        </p:spPr>
      </p:pic>
      <p:grpSp>
        <p:nvGrpSpPr>
          <p:cNvPr name="Group 5" id="5"/>
          <p:cNvGrpSpPr/>
          <p:nvPr/>
        </p:nvGrpSpPr>
        <p:grpSpPr>
          <a:xfrm rot="0">
            <a:off x="1028700" y="393110"/>
            <a:ext cx="10289171" cy="1926820"/>
            <a:chOff x="0" y="0"/>
            <a:chExt cx="13718894" cy="2569094"/>
          </a:xfrm>
        </p:grpSpPr>
        <p:sp>
          <p:nvSpPr>
            <p:cNvPr name="TextBox 6" id="6"/>
            <p:cNvSpPr txBox="true"/>
            <p:nvPr/>
          </p:nvSpPr>
          <p:spPr>
            <a:xfrm rot="0">
              <a:off x="0" y="1902344"/>
              <a:ext cx="13718894" cy="666750"/>
            </a:xfrm>
            <a:prstGeom prst="rect">
              <a:avLst/>
            </a:prstGeom>
          </p:spPr>
          <p:txBody>
            <a:bodyPr anchor="t" rtlCol="false" tIns="0" lIns="0" bIns="0" rIns="0">
              <a:spAutoFit/>
            </a:bodyPr>
            <a:lstStyle/>
            <a:p>
              <a:pPr algn="l" marL="0" indent="0" lvl="0">
                <a:lnSpc>
                  <a:spcPts val="4200"/>
                </a:lnSpc>
                <a:spcBef>
                  <a:spcPct val="0"/>
                </a:spcBef>
              </a:pPr>
            </a:p>
          </p:txBody>
        </p:sp>
        <p:sp>
          <p:nvSpPr>
            <p:cNvPr name="TextBox 7" id="7"/>
            <p:cNvSpPr txBox="true"/>
            <p:nvPr/>
          </p:nvSpPr>
          <p:spPr>
            <a:xfrm rot="0">
              <a:off x="0" y="0"/>
              <a:ext cx="13017500" cy="1407930"/>
            </a:xfrm>
            <a:prstGeom prst="rect">
              <a:avLst/>
            </a:prstGeom>
          </p:spPr>
          <p:txBody>
            <a:bodyPr anchor="t" rtlCol="false" tIns="0" lIns="0" bIns="0" rIns="0">
              <a:spAutoFit/>
            </a:bodyPr>
            <a:lstStyle/>
            <a:p>
              <a:pPr algn="l" marL="0" indent="0" lvl="0">
                <a:lnSpc>
                  <a:spcPts val="8399"/>
                </a:lnSpc>
              </a:pPr>
              <a:r>
                <a:rPr lang="en-US" sz="6999" spc="-139">
                  <a:solidFill>
                    <a:srgbClr val="F4F4F4"/>
                  </a:solidFill>
                  <a:latin typeface="Tenor Sans"/>
                  <a:ea typeface="Tenor Sans"/>
                  <a:cs typeface="Tenor Sans"/>
                  <a:sym typeface="Tenor Sans"/>
                </a:rPr>
                <a:t>Demo</a:t>
              </a:r>
            </a:p>
          </p:txBody>
        </p:sp>
      </p:grpSp>
    </p:spTree>
  </p:cSld>
  <p:clrMapOvr>
    <a:masterClrMapping/>
  </p:clrMapOvr>
  <p:timing>
    <p:tnLst>
      <p:par>
        <p:cTn dur="indefinite" restart="never" nodeType="tmRoot">
          <p:childTnLst>
            <p:video>
              <p:cMediaNode vol="100000">
                <p:cTn fill="hold" display="false">
                  <p:stCondLst>
                    <p:cond delay="indefinite"/>
                  </p:stCondLst>
                </p:cTn>
                <p:tgtEl>
                  <p:spTgt spid="4"/>
                </p:tgtEl>
              </p:cMediaNode>
            </p:video>
          </p:childTnLst>
        </p:cTn>
      </p:par>
    </p:tnLst>
  </p:timing>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CF6245"/>
        </a:solidFill>
      </p:bgPr>
    </p:bg>
    <p:spTree>
      <p:nvGrpSpPr>
        <p:cNvPr id="1" name=""/>
        <p:cNvGrpSpPr/>
        <p:nvPr/>
      </p:nvGrpSpPr>
      <p:grpSpPr>
        <a:xfrm>
          <a:off x="0" y="0"/>
          <a:ext cx="0" cy="0"/>
          <a:chOff x="0" y="0"/>
          <a:chExt cx="0" cy="0"/>
        </a:xfrm>
      </p:grpSpPr>
      <p:grpSp>
        <p:nvGrpSpPr>
          <p:cNvPr name="Group 2" id="2"/>
          <p:cNvGrpSpPr/>
          <p:nvPr/>
        </p:nvGrpSpPr>
        <p:grpSpPr>
          <a:xfrm rot="0">
            <a:off x="12172950" y="0"/>
            <a:ext cx="6115050" cy="10287000"/>
            <a:chOff x="0" y="0"/>
            <a:chExt cx="947381" cy="1593725"/>
          </a:xfrm>
        </p:grpSpPr>
        <p:sp>
          <p:nvSpPr>
            <p:cNvPr name="Freeform 3" id="3"/>
            <p:cNvSpPr/>
            <p:nvPr/>
          </p:nvSpPr>
          <p:spPr>
            <a:xfrm flipH="false" flipV="false" rot="0">
              <a:off x="0" y="0"/>
              <a:ext cx="947381" cy="1593725"/>
            </a:xfrm>
            <a:custGeom>
              <a:avLst/>
              <a:gdLst/>
              <a:ahLst/>
              <a:cxnLst/>
              <a:rect r="r" b="b" t="t" l="l"/>
              <a:pathLst>
                <a:path h="1593725" w="947381">
                  <a:moveTo>
                    <a:pt x="0" y="0"/>
                  </a:moveTo>
                  <a:lnTo>
                    <a:pt x="947381" y="0"/>
                  </a:lnTo>
                  <a:lnTo>
                    <a:pt x="947381" y="1593725"/>
                  </a:lnTo>
                  <a:lnTo>
                    <a:pt x="0" y="1593725"/>
                  </a:lnTo>
                  <a:close/>
                </a:path>
              </a:pathLst>
            </a:custGeom>
            <a:blipFill>
              <a:blip r:embed="rId3"/>
              <a:stretch>
                <a:fillRect l="0" t="-58" r="0" b="-58"/>
              </a:stretch>
            </a:blipFill>
          </p:spPr>
        </p:sp>
      </p:grpSp>
      <p:grpSp>
        <p:nvGrpSpPr>
          <p:cNvPr name="Group 4" id="4"/>
          <p:cNvGrpSpPr/>
          <p:nvPr/>
        </p:nvGrpSpPr>
        <p:grpSpPr>
          <a:xfrm rot="0">
            <a:off x="682484" y="2059369"/>
            <a:ext cx="11107464" cy="6168262"/>
            <a:chOff x="0" y="0"/>
            <a:chExt cx="14809952" cy="8224350"/>
          </a:xfrm>
        </p:grpSpPr>
        <p:sp>
          <p:nvSpPr>
            <p:cNvPr name="TextBox 5" id="5"/>
            <p:cNvSpPr txBox="true"/>
            <p:nvPr/>
          </p:nvSpPr>
          <p:spPr>
            <a:xfrm rot="0">
              <a:off x="0" y="1883294"/>
              <a:ext cx="14809952" cy="880533"/>
            </a:xfrm>
            <a:prstGeom prst="rect">
              <a:avLst/>
            </a:prstGeom>
          </p:spPr>
          <p:txBody>
            <a:bodyPr anchor="t" rtlCol="false" tIns="0" lIns="0" bIns="0" rIns="0">
              <a:spAutoFit/>
            </a:bodyPr>
            <a:lstStyle/>
            <a:p>
              <a:pPr algn="l" marL="0" indent="0" lvl="0">
                <a:lnSpc>
                  <a:spcPts val="5599"/>
                </a:lnSpc>
                <a:spcBef>
                  <a:spcPct val="0"/>
                </a:spcBef>
              </a:pPr>
              <a:r>
                <a:rPr lang="en-US" b="true" sz="3999">
                  <a:solidFill>
                    <a:srgbClr val="F4F4F4"/>
                  </a:solidFill>
                  <a:latin typeface="Clear Sans Bold"/>
                  <a:ea typeface="Clear Sans Bold"/>
                  <a:cs typeface="Clear Sans Bold"/>
                  <a:sym typeface="Clear Sans Bold"/>
                </a:rPr>
                <a:t>MITIG</a:t>
              </a:r>
              <a:r>
                <a:rPr lang="en-US" b="true" sz="3999">
                  <a:solidFill>
                    <a:srgbClr val="F4F4F4"/>
                  </a:solidFill>
                  <a:latin typeface="Clear Sans Bold"/>
                  <a:ea typeface="Clear Sans Bold"/>
                  <a:cs typeface="Clear Sans Bold"/>
                  <a:sym typeface="Clear Sans Bold"/>
                </a:rPr>
                <a:t>ATION STRATEGIES FOR ETERNALBLUE</a:t>
              </a:r>
            </a:p>
          </p:txBody>
        </p:sp>
        <p:sp>
          <p:nvSpPr>
            <p:cNvPr name="TextBox 6" id="6"/>
            <p:cNvSpPr txBox="true"/>
            <p:nvPr/>
          </p:nvSpPr>
          <p:spPr>
            <a:xfrm rot="0">
              <a:off x="0" y="0"/>
              <a:ext cx="13017500" cy="1407930"/>
            </a:xfrm>
            <a:prstGeom prst="rect">
              <a:avLst/>
            </a:prstGeom>
          </p:spPr>
          <p:txBody>
            <a:bodyPr anchor="t" rtlCol="false" tIns="0" lIns="0" bIns="0" rIns="0">
              <a:spAutoFit/>
            </a:bodyPr>
            <a:lstStyle/>
            <a:p>
              <a:pPr algn="l" marL="0" indent="0" lvl="0">
                <a:lnSpc>
                  <a:spcPts val="8399"/>
                </a:lnSpc>
              </a:pPr>
              <a:r>
                <a:rPr lang="en-US" sz="6999" spc="-139">
                  <a:solidFill>
                    <a:srgbClr val="F4F4F4"/>
                  </a:solidFill>
                  <a:latin typeface="Tenor Sans"/>
                  <a:ea typeface="Tenor Sans"/>
                  <a:cs typeface="Tenor Sans"/>
                  <a:sym typeface="Tenor Sans"/>
                </a:rPr>
                <a:t>M</a:t>
              </a:r>
              <a:r>
                <a:rPr lang="en-US" sz="6999" spc="-139">
                  <a:solidFill>
                    <a:srgbClr val="F4F4F4"/>
                  </a:solidFill>
                  <a:latin typeface="Tenor Sans"/>
                  <a:ea typeface="Tenor Sans"/>
                  <a:cs typeface="Tenor Sans"/>
                  <a:sym typeface="Tenor Sans"/>
                </a:rPr>
                <a:t>itigation</a:t>
              </a:r>
            </a:p>
          </p:txBody>
        </p:sp>
        <p:sp>
          <p:nvSpPr>
            <p:cNvPr name="TextBox 7" id="7"/>
            <p:cNvSpPr txBox="true"/>
            <p:nvPr/>
          </p:nvSpPr>
          <p:spPr>
            <a:xfrm rot="0">
              <a:off x="0" y="2782570"/>
              <a:ext cx="14809952" cy="5441780"/>
            </a:xfrm>
            <a:prstGeom prst="rect">
              <a:avLst/>
            </a:prstGeom>
          </p:spPr>
          <p:txBody>
            <a:bodyPr anchor="t" rtlCol="false" tIns="0" lIns="0" bIns="0" rIns="0">
              <a:spAutoFit/>
            </a:bodyPr>
            <a:lstStyle/>
            <a:p>
              <a:pPr algn="l" marL="0" indent="0" lvl="0">
                <a:lnSpc>
                  <a:spcPts val="4200"/>
                </a:lnSpc>
                <a:spcBef>
                  <a:spcPct val="0"/>
                </a:spcBef>
              </a:pPr>
            </a:p>
            <a:p>
              <a:pPr algn="l" marL="647700" indent="-323850" lvl="1">
                <a:lnSpc>
                  <a:spcPts val="4800"/>
                </a:lnSpc>
                <a:buFont typeface="Arial"/>
                <a:buChar char="•"/>
              </a:pPr>
              <a:r>
                <a:rPr lang="en-US" sz="3000">
                  <a:solidFill>
                    <a:srgbClr val="F4F4F4"/>
                  </a:solidFill>
                  <a:latin typeface="Clear Sans"/>
                  <a:ea typeface="Clear Sans"/>
                  <a:cs typeface="Clear Sans"/>
                  <a:sym typeface="Clear Sans"/>
                </a:rPr>
                <a:t>Update all systems with latest Microsoft security patches that fix CVE‑2017‑0144</a:t>
              </a:r>
            </a:p>
            <a:p>
              <a:pPr algn="l" marL="647700" indent="-323850" lvl="1">
                <a:lnSpc>
                  <a:spcPts val="4800"/>
                </a:lnSpc>
                <a:buFont typeface="Arial"/>
                <a:buChar char="•"/>
              </a:pPr>
              <a:r>
                <a:rPr lang="en-US" sz="3000">
                  <a:solidFill>
                    <a:srgbClr val="F4F4F4"/>
                  </a:solidFill>
                  <a:latin typeface="Clear Sans"/>
                  <a:ea typeface="Clear Sans"/>
                  <a:cs typeface="Clear Sans"/>
                  <a:sym typeface="Clear Sans"/>
                </a:rPr>
                <a:t>Disable SMBv1 on all machines</a:t>
              </a:r>
            </a:p>
            <a:p>
              <a:pPr algn="l" marL="647700" indent="-323850" lvl="1">
                <a:lnSpc>
                  <a:spcPts val="4800"/>
                </a:lnSpc>
                <a:buFont typeface="Arial"/>
                <a:buChar char="•"/>
              </a:pPr>
              <a:r>
                <a:rPr lang="en-US" sz="3000">
                  <a:solidFill>
                    <a:srgbClr val="F4F4F4"/>
                  </a:solidFill>
                  <a:latin typeface="Clear Sans"/>
                  <a:ea typeface="Clear Sans"/>
                  <a:cs typeface="Clear Sans"/>
                  <a:sym typeface="Clear Sans"/>
                </a:rPr>
                <a:t>Conduct regular security audits to check for open ports and other vulnerabilities</a:t>
              </a:r>
            </a:p>
            <a:p>
              <a:pPr algn="l" marL="0" indent="0" lvl="0">
                <a:lnSpc>
                  <a:spcPts val="4200"/>
                </a:lnSpc>
                <a:spcBef>
                  <a:spcPct val="0"/>
                </a:spcBef>
              </a:pP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D5C9"/>
        </a:solidFill>
      </p:bgPr>
    </p:bg>
    <p:spTree>
      <p:nvGrpSpPr>
        <p:cNvPr id="1" name=""/>
        <p:cNvGrpSpPr/>
        <p:nvPr/>
      </p:nvGrpSpPr>
      <p:grpSpPr>
        <a:xfrm>
          <a:off x="0" y="0"/>
          <a:ext cx="0" cy="0"/>
          <a:chOff x="0" y="0"/>
          <a:chExt cx="0" cy="0"/>
        </a:xfrm>
      </p:grpSpPr>
      <p:sp>
        <p:nvSpPr>
          <p:cNvPr name="Freeform 2" id="2"/>
          <p:cNvSpPr/>
          <p:nvPr/>
        </p:nvSpPr>
        <p:spPr>
          <a:xfrm flipH="false" flipV="false" rot="-2926989">
            <a:off x="-12431368" y="-8975965"/>
            <a:ext cx="27274407" cy="25058977"/>
          </a:xfrm>
          <a:custGeom>
            <a:avLst/>
            <a:gdLst/>
            <a:ahLst/>
            <a:cxnLst/>
            <a:rect r="r" b="b" t="t" l="l"/>
            <a:pathLst>
              <a:path h="25058977" w="27274407">
                <a:moveTo>
                  <a:pt x="0" y="0"/>
                </a:moveTo>
                <a:lnTo>
                  <a:pt x="27274407" y="0"/>
                </a:lnTo>
                <a:lnTo>
                  <a:pt x="27274407" y="25058977"/>
                </a:lnTo>
                <a:lnTo>
                  <a:pt x="0" y="2505897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111384">
            <a:off x="13680135" y="1098024"/>
            <a:ext cx="12122938" cy="11672351"/>
          </a:xfrm>
          <a:custGeom>
            <a:avLst/>
            <a:gdLst/>
            <a:ahLst/>
            <a:cxnLst/>
            <a:rect r="r" b="b" t="t" l="l"/>
            <a:pathLst>
              <a:path h="11672351" w="12122938">
                <a:moveTo>
                  <a:pt x="0" y="0"/>
                </a:moveTo>
                <a:lnTo>
                  <a:pt x="12122939" y="0"/>
                </a:lnTo>
                <a:lnTo>
                  <a:pt x="12122939" y="11672352"/>
                </a:lnTo>
                <a:lnTo>
                  <a:pt x="0" y="116723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842099" y="4614863"/>
            <a:ext cx="11201400" cy="1057275"/>
          </a:xfrm>
          <a:prstGeom prst="rect">
            <a:avLst/>
          </a:prstGeom>
        </p:spPr>
        <p:txBody>
          <a:bodyPr anchor="t" rtlCol="false" tIns="0" lIns="0" bIns="0" rIns="0">
            <a:spAutoFit/>
          </a:bodyPr>
          <a:lstStyle/>
          <a:p>
            <a:pPr algn="l" marL="0" indent="0" lvl="0">
              <a:lnSpc>
                <a:spcPts val="8399"/>
              </a:lnSpc>
            </a:pPr>
            <a:r>
              <a:rPr lang="en-US" sz="6999" spc="-139">
                <a:solidFill>
                  <a:srgbClr val="F4F4F4"/>
                </a:solidFill>
                <a:latin typeface="Tenor Sans"/>
                <a:ea typeface="Tenor Sans"/>
                <a:cs typeface="Tenor Sans"/>
                <a:sym typeface="Tenor Sans"/>
              </a:rPr>
              <a:t>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Gigabud Banking Malware Campaign</dc:description>
  <dc:identifier>DAHDtvd3Mtw</dc:identifier>
  <dcterms:modified xsi:type="dcterms:W3CDTF">2011-08-01T06:04:30Z</dcterms:modified>
  <cp:revision>1</cp:revision>
  <dc:title>Presentation for SC3010</dc:title>
</cp:coreProperties>
</file>